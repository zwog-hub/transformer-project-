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1" r:id="rId8"/>
    <p:sldId id="262" r:id="rId9"/>
    <p:sldId id="263" r:id="rId10"/>
    <p:sldId id="264" r:id="rId11"/>
    <p:sldId id="265" r:id="rId12"/>
    <p:sldId id="266"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1" d="100"/>
          <a:sy n="121" d="100"/>
        </p:scale>
        <p:origin x="34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0700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891B2"/>
          </a:solidFill>
          <a:ln/>
        </p:spPr>
        <p:txBody>
          <a:bodyPr/>
          <a:lstStyle/>
          <a:p>
            <a:endParaRPr lang="fr-TN"/>
          </a:p>
        </p:txBody>
      </p:sp>
      <p:sp>
        <p:nvSpPr>
          <p:cNvPr id="4" name="Shape 2"/>
          <p:cNvSpPr/>
          <p:nvPr/>
        </p:nvSpPr>
        <p:spPr>
          <a:xfrm>
            <a:off x="5943600" y="0"/>
            <a:ext cx="3200400" cy="5143500"/>
          </a:xfrm>
          <a:prstGeom prst="rect">
            <a:avLst/>
          </a:prstGeom>
          <a:solidFill>
            <a:srgbClr val="101D2A"/>
          </a:solidFill>
          <a:ln/>
        </p:spPr>
        <p:txBody>
          <a:bodyPr/>
          <a:lstStyle/>
          <a:p>
            <a:endParaRPr lang="fr-TN"/>
          </a:p>
        </p:txBody>
      </p:sp>
      <p:sp>
        <p:nvSpPr>
          <p:cNvPr id="5" name="Text 3"/>
          <p:cNvSpPr/>
          <p:nvPr/>
        </p:nvSpPr>
        <p:spPr>
          <a:xfrm>
            <a:off x="640080" y="640080"/>
            <a:ext cx="7315200" cy="640080"/>
          </a:xfrm>
          <a:prstGeom prst="rect">
            <a:avLst/>
          </a:prstGeom>
          <a:noFill/>
          <a:ln/>
        </p:spPr>
        <p:txBody>
          <a:bodyPr wrap="square" rtlCol="0" anchor="ctr"/>
          <a:lstStyle/>
          <a:p>
            <a:pPr marL="0" indent="0">
              <a:buNone/>
            </a:pPr>
            <a:r>
              <a:rPr lang="en-US" sz="3200" b="1" dirty="0">
                <a:solidFill>
                  <a:srgbClr val="22D3EE"/>
                </a:solidFill>
                <a:latin typeface="Calibri" pitchFamily="34" charset="0"/>
                <a:ea typeface="Calibri" pitchFamily="34" charset="-122"/>
                <a:cs typeface="Calibri" pitchFamily="34" charset="-120"/>
              </a:rPr>
              <a:t>From RNN to Transformer</a:t>
            </a:r>
            <a:endParaRPr lang="en-US" sz="3200" dirty="0"/>
          </a:p>
        </p:txBody>
      </p:sp>
      <p:sp>
        <p:nvSpPr>
          <p:cNvPr id="6" name="Text 4"/>
          <p:cNvSpPr/>
          <p:nvPr/>
        </p:nvSpPr>
        <p:spPr>
          <a:xfrm>
            <a:off x="640080" y="1325880"/>
            <a:ext cx="6858000" cy="100584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Deep Dive into Attention Mechanisms</a:t>
            </a:r>
            <a:endParaRPr lang="en-US" sz="1800" dirty="0"/>
          </a:p>
          <a:p>
            <a:pPr marL="0" indent="0">
              <a:buNone/>
            </a:pPr>
            <a:r>
              <a:rPr lang="en-US" sz="1800" dirty="0">
                <a:solidFill>
                  <a:srgbClr val="FFFFFF"/>
                </a:solidFill>
                <a:latin typeface="Calibri" pitchFamily="34" charset="0"/>
                <a:ea typeface="Calibri" pitchFamily="34" charset="-122"/>
                <a:cs typeface="Calibri" pitchFamily="34" charset="-120"/>
              </a:rPr>
              <a:t>&amp; Sequential Data Mining</a:t>
            </a:r>
            <a:endParaRPr lang="en-US" sz="1800" dirty="0"/>
          </a:p>
        </p:txBody>
      </p:sp>
      <p:sp>
        <p:nvSpPr>
          <p:cNvPr id="7" name="Shape 5"/>
          <p:cNvSpPr/>
          <p:nvPr/>
        </p:nvSpPr>
        <p:spPr>
          <a:xfrm>
            <a:off x="640080" y="2560320"/>
            <a:ext cx="5029200" cy="36576"/>
          </a:xfrm>
          <a:prstGeom prst="rect">
            <a:avLst/>
          </a:prstGeom>
          <a:solidFill>
            <a:srgbClr val="0891B2"/>
          </a:solidFill>
          <a:ln/>
        </p:spPr>
        <p:txBody>
          <a:bodyPr/>
          <a:lstStyle/>
          <a:p>
            <a:endParaRPr lang="fr-TN"/>
          </a:p>
        </p:txBody>
      </p:sp>
      <p:sp>
        <p:nvSpPr>
          <p:cNvPr id="8" name="Text 6"/>
          <p:cNvSpPr/>
          <p:nvPr/>
        </p:nvSpPr>
        <p:spPr>
          <a:xfrm>
            <a:off x="640080" y="2743200"/>
            <a:ext cx="7772400" cy="320040"/>
          </a:xfrm>
          <a:prstGeom prst="rect">
            <a:avLst/>
          </a:prstGeom>
          <a:noFill/>
          <a:ln/>
        </p:spPr>
        <p:txBody>
          <a:bodyPr wrap="square" rtlCol="0" anchor="ctr"/>
          <a:lstStyle/>
          <a:p>
            <a:pPr marL="0" indent="0">
              <a:buNone/>
            </a:pPr>
            <a:endParaRPr lang="en-US" sz="1200" dirty="0"/>
          </a:p>
        </p:txBody>
      </p:sp>
      <p:sp>
        <p:nvSpPr>
          <p:cNvPr id="10" name="Text 8"/>
          <p:cNvSpPr/>
          <p:nvPr/>
        </p:nvSpPr>
        <p:spPr>
          <a:xfrm>
            <a:off x="640080" y="2914650"/>
            <a:ext cx="7772400" cy="320040"/>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Dataset: </a:t>
            </a:r>
            <a:r>
              <a:rPr lang="en-US" sz="1200" dirty="0">
                <a:solidFill>
                  <a:srgbClr val="FFFFFF"/>
                </a:solidFill>
                <a:latin typeface="Calibri" pitchFamily="34" charset="0"/>
                <a:ea typeface="Calibri" pitchFamily="34" charset="-122"/>
                <a:cs typeface="Calibri" pitchFamily="34" charset="-120"/>
              </a:rPr>
              <a:t>Online Retail Transactions (UCI ML Repository)</a:t>
            </a:r>
            <a:endParaRPr lang="en-US" sz="1200" dirty="0"/>
          </a:p>
        </p:txBody>
      </p:sp>
      <p:sp>
        <p:nvSpPr>
          <p:cNvPr id="11" name="Text 9"/>
          <p:cNvSpPr/>
          <p:nvPr/>
        </p:nvSpPr>
        <p:spPr>
          <a:xfrm>
            <a:off x="640080" y="3378005"/>
            <a:ext cx="7772400" cy="320040"/>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Task: </a:t>
            </a:r>
            <a:r>
              <a:rPr lang="en-US" sz="1200" dirty="0">
                <a:solidFill>
                  <a:srgbClr val="FFFFFF"/>
                </a:solidFill>
                <a:latin typeface="Calibri" pitchFamily="34" charset="0"/>
                <a:ea typeface="Calibri" pitchFamily="34" charset="-122"/>
                <a:cs typeface="Calibri" pitchFamily="34" charset="-120"/>
              </a:rPr>
              <a:t>Customer Purchase Sequence Classification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Presentation Outline</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Overview</a:t>
            </a:r>
            <a:endParaRPr lang="en-US" sz="900" dirty="0"/>
          </a:p>
        </p:txBody>
      </p:sp>
      <p:sp>
        <p:nvSpPr>
          <p:cNvPr id="7" name="Shape 5"/>
          <p:cNvSpPr/>
          <p:nvPr/>
        </p:nvSpPr>
        <p:spPr>
          <a:xfrm>
            <a:off x="228600" y="868680"/>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68680"/>
            <a:ext cx="502920" cy="804672"/>
          </a:xfrm>
          <a:prstGeom prst="rect">
            <a:avLst/>
          </a:prstGeom>
          <a:solidFill>
            <a:srgbClr val="0891B2"/>
          </a:solidFill>
          <a:ln/>
        </p:spPr>
        <p:txBody>
          <a:bodyPr/>
          <a:lstStyle/>
          <a:p>
            <a:endParaRPr lang="fr-TN"/>
          </a:p>
        </p:txBody>
      </p:sp>
      <p:sp>
        <p:nvSpPr>
          <p:cNvPr id="9" name="Text 7"/>
          <p:cNvSpPr/>
          <p:nvPr/>
        </p:nvSpPr>
        <p:spPr>
          <a:xfrm>
            <a:off x="228600" y="868680"/>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10" name="Text 8"/>
          <p:cNvSpPr/>
          <p:nvPr/>
        </p:nvSpPr>
        <p:spPr>
          <a:xfrm>
            <a:off x="822960" y="1033272"/>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From RNN to Transformer – Evolution</a:t>
            </a:r>
            <a:endParaRPr lang="en-US" sz="1200" dirty="0"/>
          </a:p>
        </p:txBody>
      </p:sp>
      <p:sp>
        <p:nvSpPr>
          <p:cNvPr id="11" name="Shape 9"/>
          <p:cNvSpPr/>
          <p:nvPr/>
        </p:nvSpPr>
        <p:spPr>
          <a:xfrm>
            <a:off x="228600" y="1892808"/>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2" name="Shape 10"/>
          <p:cNvSpPr/>
          <p:nvPr/>
        </p:nvSpPr>
        <p:spPr>
          <a:xfrm>
            <a:off x="228600" y="1892808"/>
            <a:ext cx="502920" cy="804672"/>
          </a:xfrm>
          <a:prstGeom prst="rect">
            <a:avLst/>
          </a:prstGeom>
          <a:solidFill>
            <a:srgbClr val="0891B2"/>
          </a:solidFill>
          <a:ln/>
        </p:spPr>
        <p:txBody>
          <a:bodyPr/>
          <a:lstStyle/>
          <a:p>
            <a:endParaRPr lang="fr-TN"/>
          </a:p>
        </p:txBody>
      </p:sp>
      <p:sp>
        <p:nvSpPr>
          <p:cNvPr id="13" name="Text 11"/>
          <p:cNvSpPr/>
          <p:nvPr/>
        </p:nvSpPr>
        <p:spPr>
          <a:xfrm>
            <a:off x="228600" y="1892808"/>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4" name="Text 12"/>
          <p:cNvSpPr/>
          <p:nvPr/>
        </p:nvSpPr>
        <p:spPr>
          <a:xfrm>
            <a:off x="822960" y="2057400"/>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Attention Mechanism in Depth</a:t>
            </a:r>
            <a:endParaRPr lang="en-US" sz="1200" dirty="0"/>
          </a:p>
        </p:txBody>
      </p:sp>
      <p:sp>
        <p:nvSpPr>
          <p:cNvPr id="15" name="Shape 13"/>
          <p:cNvSpPr/>
          <p:nvPr/>
        </p:nvSpPr>
        <p:spPr>
          <a:xfrm>
            <a:off x="228600" y="2916936"/>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6" name="Shape 14"/>
          <p:cNvSpPr/>
          <p:nvPr/>
        </p:nvSpPr>
        <p:spPr>
          <a:xfrm>
            <a:off x="228600" y="2916936"/>
            <a:ext cx="502920" cy="804672"/>
          </a:xfrm>
          <a:prstGeom prst="rect">
            <a:avLst/>
          </a:prstGeom>
          <a:solidFill>
            <a:srgbClr val="0891B2"/>
          </a:solidFill>
          <a:ln/>
        </p:spPr>
        <p:txBody>
          <a:bodyPr/>
          <a:lstStyle/>
          <a:p>
            <a:endParaRPr lang="fr-TN"/>
          </a:p>
        </p:txBody>
      </p:sp>
      <p:sp>
        <p:nvSpPr>
          <p:cNvPr id="17" name="Text 15"/>
          <p:cNvSpPr/>
          <p:nvPr/>
        </p:nvSpPr>
        <p:spPr>
          <a:xfrm>
            <a:off x="228600" y="2916936"/>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18" name="Text 16"/>
          <p:cNvSpPr/>
          <p:nvPr/>
        </p:nvSpPr>
        <p:spPr>
          <a:xfrm>
            <a:off x="822960" y="3081528"/>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Complete Transformer Architecture</a:t>
            </a:r>
            <a:endParaRPr lang="en-US" sz="1200" dirty="0"/>
          </a:p>
        </p:txBody>
      </p:sp>
      <p:sp>
        <p:nvSpPr>
          <p:cNvPr id="19" name="Shape 17"/>
          <p:cNvSpPr/>
          <p:nvPr/>
        </p:nvSpPr>
        <p:spPr>
          <a:xfrm>
            <a:off x="228600" y="3941064"/>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0" name="Shape 18"/>
          <p:cNvSpPr/>
          <p:nvPr/>
        </p:nvSpPr>
        <p:spPr>
          <a:xfrm>
            <a:off x="228600" y="3941064"/>
            <a:ext cx="502920" cy="804672"/>
          </a:xfrm>
          <a:prstGeom prst="rect">
            <a:avLst/>
          </a:prstGeom>
          <a:solidFill>
            <a:srgbClr val="0891B2"/>
          </a:solidFill>
          <a:ln/>
        </p:spPr>
        <p:txBody>
          <a:bodyPr/>
          <a:lstStyle/>
          <a:p>
            <a:endParaRPr lang="fr-TN"/>
          </a:p>
        </p:txBody>
      </p:sp>
      <p:sp>
        <p:nvSpPr>
          <p:cNvPr id="21" name="Text 19"/>
          <p:cNvSpPr/>
          <p:nvPr/>
        </p:nvSpPr>
        <p:spPr>
          <a:xfrm>
            <a:off x="228600" y="3941064"/>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2" name="Text 20"/>
          <p:cNvSpPr/>
          <p:nvPr/>
        </p:nvSpPr>
        <p:spPr>
          <a:xfrm>
            <a:off x="822960" y="4105656"/>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When to Use a Transformer?</a:t>
            </a:r>
            <a:endParaRPr lang="en-US" sz="1200" dirty="0"/>
          </a:p>
        </p:txBody>
      </p:sp>
      <p:sp>
        <p:nvSpPr>
          <p:cNvPr id="23" name="Shape 21"/>
          <p:cNvSpPr/>
          <p:nvPr/>
        </p:nvSpPr>
        <p:spPr>
          <a:xfrm>
            <a:off x="4709160" y="868680"/>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4" name="Shape 22"/>
          <p:cNvSpPr/>
          <p:nvPr/>
        </p:nvSpPr>
        <p:spPr>
          <a:xfrm>
            <a:off x="4709160" y="868680"/>
            <a:ext cx="502920" cy="804672"/>
          </a:xfrm>
          <a:prstGeom prst="rect">
            <a:avLst/>
          </a:prstGeom>
          <a:solidFill>
            <a:srgbClr val="0891B2"/>
          </a:solidFill>
          <a:ln/>
        </p:spPr>
        <p:txBody>
          <a:bodyPr/>
          <a:lstStyle/>
          <a:p>
            <a:endParaRPr lang="fr-TN"/>
          </a:p>
        </p:txBody>
      </p:sp>
      <p:sp>
        <p:nvSpPr>
          <p:cNvPr id="25" name="Text 23"/>
          <p:cNvSpPr/>
          <p:nvPr/>
        </p:nvSpPr>
        <p:spPr>
          <a:xfrm>
            <a:off x="4709160" y="868680"/>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26" name="Text 24"/>
          <p:cNvSpPr/>
          <p:nvPr/>
        </p:nvSpPr>
        <p:spPr>
          <a:xfrm>
            <a:off x="5303520" y="1033272"/>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Real-World Applications</a:t>
            </a:r>
            <a:endParaRPr lang="en-US" sz="1200" dirty="0"/>
          </a:p>
        </p:txBody>
      </p:sp>
      <p:sp>
        <p:nvSpPr>
          <p:cNvPr id="27" name="Shape 25"/>
          <p:cNvSpPr/>
          <p:nvPr/>
        </p:nvSpPr>
        <p:spPr>
          <a:xfrm>
            <a:off x="4709160" y="1892808"/>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8" name="Shape 26"/>
          <p:cNvSpPr/>
          <p:nvPr/>
        </p:nvSpPr>
        <p:spPr>
          <a:xfrm>
            <a:off x="4709160" y="1892808"/>
            <a:ext cx="502920" cy="804672"/>
          </a:xfrm>
          <a:prstGeom prst="rect">
            <a:avLst/>
          </a:prstGeom>
          <a:solidFill>
            <a:srgbClr val="0891B2"/>
          </a:solidFill>
          <a:ln/>
        </p:spPr>
        <p:txBody>
          <a:bodyPr/>
          <a:lstStyle/>
          <a:p>
            <a:endParaRPr lang="fr-TN"/>
          </a:p>
        </p:txBody>
      </p:sp>
      <p:sp>
        <p:nvSpPr>
          <p:cNvPr id="29" name="Text 27"/>
          <p:cNvSpPr/>
          <p:nvPr/>
        </p:nvSpPr>
        <p:spPr>
          <a:xfrm>
            <a:off x="4709160" y="1892808"/>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06</a:t>
            </a:r>
            <a:endParaRPr lang="en-US" sz="1400" dirty="0"/>
          </a:p>
        </p:txBody>
      </p:sp>
      <p:sp>
        <p:nvSpPr>
          <p:cNvPr id="30" name="Text 28"/>
          <p:cNvSpPr/>
          <p:nvPr/>
        </p:nvSpPr>
        <p:spPr>
          <a:xfrm>
            <a:off x="5303520" y="2057400"/>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Our Application – Dataset &amp; Task</a:t>
            </a:r>
            <a:endParaRPr lang="en-US" sz="1200" dirty="0"/>
          </a:p>
        </p:txBody>
      </p:sp>
      <p:sp>
        <p:nvSpPr>
          <p:cNvPr id="31" name="Shape 29"/>
          <p:cNvSpPr/>
          <p:nvPr/>
        </p:nvSpPr>
        <p:spPr>
          <a:xfrm>
            <a:off x="4709160" y="2916936"/>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32" name="Shape 30"/>
          <p:cNvSpPr/>
          <p:nvPr/>
        </p:nvSpPr>
        <p:spPr>
          <a:xfrm>
            <a:off x="4709160" y="2916936"/>
            <a:ext cx="502920" cy="804672"/>
          </a:xfrm>
          <a:prstGeom prst="rect">
            <a:avLst/>
          </a:prstGeom>
          <a:solidFill>
            <a:srgbClr val="0891B2"/>
          </a:solidFill>
          <a:ln/>
        </p:spPr>
        <p:txBody>
          <a:bodyPr/>
          <a:lstStyle/>
          <a:p>
            <a:endParaRPr lang="fr-TN"/>
          </a:p>
        </p:txBody>
      </p:sp>
      <p:sp>
        <p:nvSpPr>
          <p:cNvPr id="33" name="Text 31"/>
          <p:cNvSpPr/>
          <p:nvPr/>
        </p:nvSpPr>
        <p:spPr>
          <a:xfrm>
            <a:off x="4709160" y="2916936"/>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07</a:t>
            </a:r>
            <a:endParaRPr lang="en-US" sz="1400" dirty="0"/>
          </a:p>
        </p:txBody>
      </p:sp>
      <p:sp>
        <p:nvSpPr>
          <p:cNvPr id="34" name="Text 32"/>
          <p:cNvSpPr/>
          <p:nvPr/>
        </p:nvSpPr>
        <p:spPr>
          <a:xfrm>
            <a:off x="5303520" y="3081528"/>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Attention Heatmap Visualization</a:t>
            </a:r>
            <a:endParaRPr lang="en-US" sz="1200" dirty="0"/>
          </a:p>
        </p:txBody>
      </p:sp>
      <p:sp>
        <p:nvSpPr>
          <p:cNvPr id="35" name="Shape 33"/>
          <p:cNvSpPr/>
          <p:nvPr/>
        </p:nvSpPr>
        <p:spPr>
          <a:xfrm>
            <a:off x="4709160" y="3941064"/>
            <a:ext cx="429768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36" name="Shape 34"/>
          <p:cNvSpPr/>
          <p:nvPr/>
        </p:nvSpPr>
        <p:spPr>
          <a:xfrm>
            <a:off x="4709160" y="3941064"/>
            <a:ext cx="502920" cy="804672"/>
          </a:xfrm>
          <a:prstGeom prst="rect">
            <a:avLst/>
          </a:prstGeom>
          <a:solidFill>
            <a:srgbClr val="0891B2"/>
          </a:solidFill>
          <a:ln/>
        </p:spPr>
        <p:txBody>
          <a:bodyPr/>
          <a:lstStyle/>
          <a:p>
            <a:endParaRPr lang="fr-TN"/>
          </a:p>
        </p:txBody>
      </p:sp>
      <p:sp>
        <p:nvSpPr>
          <p:cNvPr id="37" name="Text 35"/>
          <p:cNvSpPr/>
          <p:nvPr/>
        </p:nvSpPr>
        <p:spPr>
          <a:xfrm>
            <a:off x="4709160" y="3941064"/>
            <a:ext cx="502920" cy="804672"/>
          </a:xfrm>
          <a:prstGeom prst="rect">
            <a:avLst/>
          </a:prstGeom>
          <a:noFill/>
          <a:ln/>
        </p:spPr>
        <p:txBody>
          <a:bodyPr wrap="square" lIns="0" tIns="0" rIns="0" bIns="0" rtlCol="0" anchor="ctr"/>
          <a:lstStyle/>
          <a:p>
            <a:pPr marL="0" indent="0" algn="ctr">
              <a:buNone/>
            </a:pPr>
            <a:r>
              <a:rPr lang="en-US" sz="1400" b="1" dirty="0">
                <a:solidFill>
                  <a:srgbClr val="FFFFFF"/>
                </a:solidFill>
              </a:rPr>
              <a:t>08</a:t>
            </a:r>
            <a:endParaRPr lang="en-US" sz="1400" dirty="0"/>
          </a:p>
        </p:txBody>
      </p:sp>
      <p:sp>
        <p:nvSpPr>
          <p:cNvPr id="38" name="Text 36"/>
          <p:cNvSpPr/>
          <p:nvPr/>
        </p:nvSpPr>
        <p:spPr>
          <a:xfrm>
            <a:off x="5303520" y="4105656"/>
            <a:ext cx="3611880" cy="47548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Conclusion &amp; Recommendations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From RNN to Transformer – Limitations of RNNs</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1</a:t>
            </a:r>
            <a:endParaRPr lang="en-US" sz="900" dirty="0"/>
          </a:p>
        </p:txBody>
      </p:sp>
      <p:sp>
        <p:nvSpPr>
          <p:cNvPr id="7" name="Shape 5"/>
          <p:cNvSpPr/>
          <p:nvPr/>
        </p:nvSpPr>
        <p:spPr>
          <a:xfrm>
            <a:off x="228600" y="822960"/>
            <a:ext cx="4160520" cy="4023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22960"/>
            <a:ext cx="4160520" cy="384048"/>
          </a:xfrm>
          <a:prstGeom prst="rect">
            <a:avLst/>
          </a:prstGeom>
          <a:solidFill>
            <a:srgbClr val="EF4444"/>
          </a:solidFill>
          <a:ln/>
        </p:spPr>
        <p:txBody>
          <a:bodyPr/>
          <a:lstStyle/>
          <a:p>
            <a:endParaRPr lang="fr-TN"/>
          </a:p>
        </p:txBody>
      </p:sp>
      <p:sp>
        <p:nvSpPr>
          <p:cNvPr id="9" name="Text 7"/>
          <p:cNvSpPr/>
          <p:nvPr/>
        </p:nvSpPr>
        <p:spPr>
          <a:xfrm>
            <a:off x="320040" y="822960"/>
            <a:ext cx="3977640" cy="384048"/>
          </a:xfrm>
          <a:prstGeom prst="rect">
            <a:avLst/>
          </a:prstGeom>
          <a:noFill/>
          <a:ln/>
        </p:spPr>
        <p:txBody>
          <a:bodyPr wrap="square" lIns="0" tIns="0" rIns="0" bIns="0" rtlCol="0" anchor="ctr"/>
          <a:lstStyle/>
          <a:p>
            <a:pPr marL="0" indent="0">
              <a:buNone/>
            </a:pPr>
            <a:r>
              <a:rPr lang="en-US" sz="1300" b="1" dirty="0">
                <a:solidFill>
                  <a:srgbClr val="FFFFFF"/>
                </a:solidFill>
              </a:rPr>
              <a:t>Problems with RNN / LSTM / GRU</a:t>
            </a:r>
            <a:endParaRPr lang="en-US" sz="1300" dirty="0"/>
          </a:p>
        </p:txBody>
      </p:sp>
      <p:sp>
        <p:nvSpPr>
          <p:cNvPr id="10" name="Shape 8"/>
          <p:cNvSpPr/>
          <p:nvPr/>
        </p:nvSpPr>
        <p:spPr>
          <a:xfrm>
            <a:off x="320040" y="1325880"/>
            <a:ext cx="54864" cy="502920"/>
          </a:xfrm>
          <a:prstGeom prst="rect">
            <a:avLst/>
          </a:prstGeom>
          <a:solidFill>
            <a:srgbClr val="EF4444"/>
          </a:solidFill>
          <a:ln/>
        </p:spPr>
        <p:txBody>
          <a:bodyPr/>
          <a:lstStyle/>
          <a:p>
            <a:endParaRPr lang="fr-TN"/>
          </a:p>
        </p:txBody>
      </p:sp>
      <p:sp>
        <p:nvSpPr>
          <p:cNvPr id="11" name="Text 9"/>
          <p:cNvSpPr/>
          <p:nvPr/>
        </p:nvSpPr>
        <p:spPr>
          <a:xfrm>
            <a:off x="457200" y="1325880"/>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Vanishing Gradient</a:t>
            </a:r>
            <a:endParaRPr lang="en-US" sz="1100" dirty="0"/>
          </a:p>
        </p:txBody>
      </p:sp>
      <p:sp>
        <p:nvSpPr>
          <p:cNvPr id="12" name="Text 10"/>
          <p:cNvSpPr/>
          <p:nvPr/>
        </p:nvSpPr>
        <p:spPr>
          <a:xfrm>
            <a:off x="457200" y="1581912"/>
            <a:ext cx="3749040" cy="256032"/>
          </a:xfrm>
          <a:prstGeom prst="rect">
            <a:avLst/>
          </a:prstGeom>
          <a:noFill/>
          <a:ln/>
        </p:spPr>
        <p:txBody>
          <a:bodyPr wrap="square" lIns="0" tIns="0" rIns="0" bIns="0" rtlCol="0" anchor="ctr"/>
          <a:lstStyle/>
          <a:p>
            <a:pPr marL="0" indent="0">
              <a:buNone/>
            </a:pPr>
            <a:r>
              <a:rPr lang="en-US" sz="950" dirty="0">
                <a:solidFill>
                  <a:srgbClr val="64748B"/>
                </a:solidFill>
              </a:rPr>
              <a:t>Long sequences cause gradient signal to fade — early tokens are forgotten during backpropagation.</a:t>
            </a:r>
            <a:endParaRPr lang="en-US" sz="950" dirty="0"/>
          </a:p>
        </p:txBody>
      </p:sp>
      <p:sp>
        <p:nvSpPr>
          <p:cNvPr id="13" name="Shape 11"/>
          <p:cNvSpPr/>
          <p:nvPr/>
        </p:nvSpPr>
        <p:spPr>
          <a:xfrm>
            <a:off x="320040" y="2039112"/>
            <a:ext cx="54864" cy="502920"/>
          </a:xfrm>
          <a:prstGeom prst="rect">
            <a:avLst/>
          </a:prstGeom>
          <a:solidFill>
            <a:srgbClr val="EF4444"/>
          </a:solidFill>
          <a:ln/>
        </p:spPr>
        <p:txBody>
          <a:bodyPr/>
          <a:lstStyle/>
          <a:p>
            <a:endParaRPr lang="fr-TN"/>
          </a:p>
        </p:txBody>
      </p:sp>
      <p:sp>
        <p:nvSpPr>
          <p:cNvPr id="14" name="Text 12"/>
          <p:cNvSpPr/>
          <p:nvPr/>
        </p:nvSpPr>
        <p:spPr>
          <a:xfrm>
            <a:off x="457200" y="2039112"/>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Sequential Processing</a:t>
            </a:r>
            <a:endParaRPr lang="en-US" sz="1100" dirty="0"/>
          </a:p>
        </p:txBody>
      </p:sp>
      <p:sp>
        <p:nvSpPr>
          <p:cNvPr id="15" name="Text 13"/>
          <p:cNvSpPr/>
          <p:nvPr/>
        </p:nvSpPr>
        <p:spPr>
          <a:xfrm>
            <a:off x="457200" y="2295144"/>
            <a:ext cx="3749040" cy="256032"/>
          </a:xfrm>
          <a:prstGeom prst="rect">
            <a:avLst/>
          </a:prstGeom>
          <a:noFill/>
          <a:ln/>
        </p:spPr>
        <p:txBody>
          <a:bodyPr wrap="square" lIns="0" tIns="0" rIns="0" bIns="0" rtlCol="0" anchor="ctr"/>
          <a:lstStyle/>
          <a:p>
            <a:pPr marL="0" indent="0">
              <a:buNone/>
            </a:pPr>
            <a:r>
              <a:rPr lang="en-US" sz="950" dirty="0">
                <a:solidFill>
                  <a:srgbClr val="64748B"/>
                </a:solidFill>
              </a:rPr>
              <a:t>Tokens must be processed one-by-one; no parallelism → very slow training on long inputs.</a:t>
            </a:r>
            <a:endParaRPr lang="en-US" sz="950" dirty="0"/>
          </a:p>
        </p:txBody>
      </p:sp>
      <p:sp>
        <p:nvSpPr>
          <p:cNvPr id="16" name="Shape 14"/>
          <p:cNvSpPr/>
          <p:nvPr/>
        </p:nvSpPr>
        <p:spPr>
          <a:xfrm>
            <a:off x="320040" y="2752344"/>
            <a:ext cx="54864" cy="502920"/>
          </a:xfrm>
          <a:prstGeom prst="rect">
            <a:avLst/>
          </a:prstGeom>
          <a:solidFill>
            <a:srgbClr val="EF4444"/>
          </a:solidFill>
          <a:ln/>
        </p:spPr>
        <p:txBody>
          <a:bodyPr/>
          <a:lstStyle/>
          <a:p>
            <a:endParaRPr lang="fr-TN"/>
          </a:p>
        </p:txBody>
      </p:sp>
      <p:sp>
        <p:nvSpPr>
          <p:cNvPr id="17" name="Text 15"/>
          <p:cNvSpPr/>
          <p:nvPr/>
        </p:nvSpPr>
        <p:spPr>
          <a:xfrm>
            <a:off x="457200" y="275234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Bottleneck Memory</a:t>
            </a:r>
            <a:endParaRPr lang="en-US" sz="1100" dirty="0"/>
          </a:p>
        </p:txBody>
      </p:sp>
      <p:sp>
        <p:nvSpPr>
          <p:cNvPr id="18" name="Text 16"/>
          <p:cNvSpPr/>
          <p:nvPr/>
        </p:nvSpPr>
        <p:spPr>
          <a:xfrm>
            <a:off x="457200" y="3008376"/>
            <a:ext cx="3749040" cy="256032"/>
          </a:xfrm>
          <a:prstGeom prst="rect">
            <a:avLst/>
          </a:prstGeom>
          <a:noFill/>
          <a:ln/>
        </p:spPr>
        <p:txBody>
          <a:bodyPr wrap="square" lIns="0" tIns="0" rIns="0" bIns="0" rtlCol="0" anchor="ctr"/>
          <a:lstStyle/>
          <a:p>
            <a:pPr marL="0" indent="0">
              <a:buNone/>
            </a:pPr>
            <a:r>
              <a:rPr lang="en-US" sz="950" dirty="0">
                <a:solidFill>
                  <a:srgbClr val="64748B"/>
                </a:solidFill>
              </a:rPr>
              <a:t>LSTM/GRU compress entire history into a fixed hidden state — information loss is inevitable.</a:t>
            </a:r>
            <a:endParaRPr lang="en-US" sz="950" dirty="0"/>
          </a:p>
        </p:txBody>
      </p:sp>
      <p:sp>
        <p:nvSpPr>
          <p:cNvPr id="19" name="Shape 17"/>
          <p:cNvSpPr/>
          <p:nvPr/>
        </p:nvSpPr>
        <p:spPr>
          <a:xfrm>
            <a:off x="320040" y="3465576"/>
            <a:ext cx="54864" cy="502920"/>
          </a:xfrm>
          <a:prstGeom prst="rect">
            <a:avLst/>
          </a:prstGeom>
          <a:solidFill>
            <a:srgbClr val="EF4444"/>
          </a:solidFill>
          <a:ln/>
        </p:spPr>
        <p:txBody>
          <a:bodyPr/>
          <a:lstStyle/>
          <a:p>
            <a:endParaRPr lang="fr-TN"/>
          </a:p>
        </p:txBody>
      </p:sp>
      <p:sp>
        <p:nvSpPr>
          <p:cNvPr id="20" name="Text 18"/>
          <p:cNvSpPr/>
          <p:nvPr/>
        </p:nvSpPr>
        <p:spPr>
          <a:xfrm>
            <a:off x="457200" y="3465576"/>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Slow on Long Sequences</a:t>
            </a:r>
            <a:endParaRPr lang="en-US" sz="1100" dirty="0"/>
          </a:p>
        </p:txBody>
      </p:sp>
      <p:sp>
        <p:nvSpPr>
          <p:cNvPr id="21" name="Text 19"/>
          <p:cNvSpPr/>
          <p:nvPr/>
        </p:nvSpPr>
        <p:spPr>
          <a:xfrm>
            <a:off x="457200" y="3721608"/>
            <a:ext cx="3749040" cy="256032"/>
          </a:xfrm>
          <a:prstGeom prst="rect">
            <a:avLst/>
          </a:prstGeom>
          <a:noFill/>
          <a:ln/>
        </p:spPr>
        <p:txBody>
          <a:bodyPr wrap="square" lIns="0" tIns="0" rIns="0" bIns="0" rtlCol="0" anchor="ctr"/>
          <a:lstStyle/>
          <a:p>
            <a:pPr marL="0" indent="0">
              <a:buNone/>
            </a:pPr>
            <a:r>
              <a:rPr lang="en-US" sz="950" dirty="0">
                <a:solidFill>
                  <a:srgbClr val="64748B"/>
                </a:solidFill>
              </a:rPr>
              <a:t>Quadratic time complexity on very long texts makes RNNs impractical for large datasets.</a:t>
            </a:r>
            <a:endParaRPr lang="en-US" sz="950" dirty="0"/>
          </a:p>
        </p:txBody>
      </p:sp>
      <p:sp>
        <p:nvSpPr>
          <p:cNvPr id="22" name="Shape 20"/>
          <p:cNvSpPr/>
          <p:nvPr/>
        </p:nvSpPr>
        <p:spPr>
          <a:xfrm>
            <a:off x="4663440" y="822960"/>
            <a:ext cx="4160520" cy="4023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3" name="Shape 21"/>
          <p:cNvSpPr/>
          <p:nvPr/>
        </p:nvSpPr>
        <p:spPr>
          <a:xfrm>
            <a:off x="4663440" y="822960"/>
            <a:ext cx="4160520" cy="384048"/>
          </a:xfrm>
          <a:prstGeom prst="rect">
            <a:avLst/>
          </a:prstGeom>
          <a:solidFill>
            <a:srgbClr val="10B981"/>
          </a:solidFill>
          <a:ln/>
        </p:spPr>
        <p:txBody>
          <a:bodyPr/>
          <a:lstStyle/>
          <a:p>
            <a:endParaRPr lang="fr-TN"/>
          </a:p>
        </p:txBody>
      </p:sp>
      <p:sp>
        <p:nvSpPr>
          <p:cNvPr id="24" name="Text 22"/>
          <p:cNvSpPr/>
          <p:nvPr/>
        </p:nvSpPr>
        <p:spPr>
          <a:xfrm>
            <a:off x="4754880" y="822960"/>
            <a:ext cx="3977640" cy="384048"/>
          </a:xfrm>
          <a:prstGeom prst="rect">
            <a:avLst/>
          </a:prstGeom>
          <a:noFill/>
          <a:ln/>
        </p:spPr>
        <p:txBody>
          <a:bodyPr wrap="square" lIns="0" tIns="0" rIns="0" bIns="0" rtlCol="0" anchor="ctr"/>
          <a:lstStyle/>
          <a:p>
            <a:pPr marL="0" indent="0">
              <a:buNone/>
            </a:pPr>
            <a:r>
              <a:rPr lang="en-US" sz="1300" b="1" dirty="0">
                <a:solidFill>
                  <a:srgbClr val="FFFFFF"/>
                </a:solidFill>
              </a:rPr>
              <a:t>How Transformer Solves These</a:t>
            </a:r>
            <a:endParaRPr lang="en-US" sz="1300" dirty="0"/>
          </a:p>
        </p:txBody>
      </p:sp>
      <p:sp>
        <p:nvSpPr>
          <p:cNvPr id="25" name="Shape 23"/>
          <p:cNvSpPr/>
          <p:nvPr/>
        </p:nvSpPr>
        <p:spPr>
          <a:xfrm>
            <a:off x="4754880" y="1325880"/>
            <a:ext cx="54864" cy="502920"/>
          </a:xfrm>
          <a:prstGeom prst="rect">
            <a:avLst/>
          </a:prstGeom>
          <a:solidFill>
            <a:srgbClr val="10B981"/>
          </a:solidFill>
          <a:ln/>
        </p:spPr>
        <p:txBody>
          <a:bodyPr/>
          <a:lstStyle/>
          <a:p>
            <a:endParaRPr lang="fr-TN"/>
          </a:p>
        </p:txBody>
      </p:sp>
      <p:sp>
        <p:nvSpPr>
          <p:cNvPr id="26" name="Text 24"/>
          <p:cNvSpPr/>
          <p:nvPr/>
        </p:nvSpPr>
        <p:spPr>
          <a:xfrm>
            <a:off x="4892040" y="1325880"/>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Self-Attention</a:t>
            </a:r>
            <a:endParaRPr lang="en-US" sz="1100" dirty="0"/>
          </a:p>
        </p:txBody>
      </p:sp>
      <p:sp>
        <p:nvSpPr>
          <p:cNvPr id="27" name="Text 25"/>
          <p:cNvSpPr/>
          <p:nvPr/>
        </p:nvSpPr>
        <p:spPr>
          <a:xfrm>
            <a:off x="4892040" y="1581912"/>
            <a:ext cx="3749040" cy="256032"/>
          </a:xfrm>
          <a:prstGeom prst="rect">
            <a:avLst/>
          </a:prstGeom>
          <a:noFill/>
          <a:ln/>
        </p:spPr>
        <p:txBody>
          <a:bodyPr wrap="square" lIns="0" tIns="0" rIns="0" bIns="0" rtlCol="0" anchor="ctr"/>
          <a:lstStyle/>
          <a:p>
            <a:pPr marL="0" indent="0">
              <a:buNone/>
            </a:pPr>
            <a:r>
              <a:rPr lang="en-US" sz="950" dirty="0">
                <a:solidFill>
                  <a:srgbClr val="64748B"/>
                </a:solidFill>
              </a:rPr>
              <a:t>Every token attends to every other token simultaneously — no gradient bottleneck.</a:t>
            </a:r>
            <a:endParaRPr lang="en-US" sz="950" dirty="0"/>
          </a:p>
        </p:txBody>
      </p:sp>
      <p:sp>
        <p:nvSpPr>
          <p:cNvPr id="28" name="Shape 26"/>
          <p:cNvSpPr/>
          <p:nvPr/>
        </p:nvSpPr>
        <p:spPr>
          <a:xfrm>
            <a:off x="4754880" y="2039112"/>
            <a:ext cx="54864" cy="502920"/>
          </a:xfrm>
          <a:prstGeom prst="rect">
            <a:avLst/>
          </a:prstGeom>
          <a:solidFill>
            <a:srgbClr val="10B981"/>
          </a:solidFill>
          <a:ln/>
        </p:spPr>
        <p:txBody>
          <a:bodyPr/>
          <a:lstStyle/>
          <a:p>
            <a:endParaRPr lang="fr-TN"/>
          </a:p>
        </p:txBody>
      </p:sp>
      <p:sp>
        <p:nvSpPr>
          <p:cNvPr id="29" name="Text 27"/>
          <p:cNvSpPr/>
          <p:nvPr/>
        </p:nvSpPr>
        <p:spPr>
          <a:xfrm>
            <a:off x="4892040" y="2039112"/>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Full Parallelism</a:t>
            </a:r>
            <a:endParaRPr lang="en-US" sz="1100" dirty="0"/>
          </a:p>
        </p:txBody>
      </p:sp>
      <p:sp>
        <p:nvSpPr>
          <p:cNvPr id="30" name="Text 28"/>
          <p:cNvSpPr/>
          <p:nvPr/>
        </p:nvSpPr>
        <p:spPr>
          <a:xfrm>
            <a:off x="4892040" y="2295144"/>
            <a:ext cx="3749040" cy="256032"/>
          </a:xfrm>
          <a:prstGeom prst="rect">
            <a:avLst/>
          </a:prstGeom>
          <a:noFill/>
          <a:ln/>
        </p:spPr>
        <p:txBody>
          <a:bodyPr wrap="square" lIns="0" tIns="0" rIns="0" bIns="0" rtlCol="0" anchor="ctr"/>
          <a:lstStyle/>
          <a:p>
            <a:pPr marL="0" indent="0">
              <a:buNone/>
            </a:pPr>
            <a:r>
              <a:rPr lang="en-US" sz="950" dirty="0">
                <a:solidFill>
                  <a:srgbClr val="64748B"/>
                </a:solidFill>
              </a:rPr>
              <a:t>All tokens are processed at once (matrix ops) — massive GPU speedup.</a:t>
            </a:r>
            <a:endParaRPr lang="en-US" sz="950" dirty="0"/>
          </a:p>
        </p:txBody>
      </p:sp>
      <p:sp>
        <p:nvSpPr>
          <p:cNvPr id="31" name="Shape 29"/>
          <p:cNvSpPr/>
          <p:nvPr/>
        </p:nvSpPr>
        <p:spPr>
          <a:xfrm>
            <a:off x="4754880" y="2752344"/>
            <a:ext cx="54864" cy="502920"/>
          </a:xfrm>
          <a:prstGeom prst="rect">
            <a:avLst/>
          </a:prstGeom>
          <a:solidFill>
            <a:srgbClr val="10B981"/>
          </a:solidFill>
          <a:ln/>
        </p:spPr>
        <p:txBody>
          <a:bodyPr/>
          <a:lstStyle/>
          <a:p>
            <a:endParaRPr lang="fr-TN"/>
          </a:p>
        </p:txBody>
      </p:sp>
      <p:sp>
        <p:nvSpPr>
          <p:cNvPr id="32" name="Text 30"/>
          <p:cNvSpPr/>
          <p:nvPr/>
        </p:nvSpPr>
        <p:spPr>
          <a:xfrm>
            <a:off x="4892040" y="2752344"/>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Global Context</a:t>
            </a:r>
            <a:endParaRPr lang="en-US" sz="1100" dirty="0"/>
          </a:p>
        </p:txBody>
      </p:sp>
      <p:sp>
        <p:nvSpPr>
          <p:cNvPr id="33" name="Text 31"/>
          <p:cNvSpPr/>
          <p:nvPr/>
        </p:nvSpPr>
        <p:spPr>
          <a:xfrm>
            <a:off x="4892040" y="3008376"/>
            <a:ext cx="3749040" cy="256032"/>
          </a:xfrm>
          <a:prstGeom prst="rect">
            <a:avLst/>
          </a:prstGeom>
          <a:noFill/>
          <a:ln/>
        </p:spPr>
        <p:txBody>
          <a:bodyPr wrap="square" lIns="0" tIns="0" rIns="0" bIns="0" rtlCol="0" anchor="ctr"/>
          <a:lstStyle/>
          <a:p>
            <a:pPr marL="0" indent="0">
              <a:buNone/>
            </a:pPr>
            <a:r>
              <a:rPr lang="en-US" sz="950" dirty="0">
                <a:solidFill>
                  <a:srgbClr val="64748B"/>
                </a:solidFill>
              </a:rPr>
              <a:t>Attention weights give direct access to any position — no information compression.</a:t>
            </a:r>
            <a:endParaRPr lang="en-US" sz="950" dirty="0"/>
          </a:p>
        </p:txBody>
      </p:sp>
      <p:sp>
        <p:nvSpPr>
          <p:cNvPr id="34" name="Shape 32"/>
          <p:cNvSpPr/>
          <p:nvPr/>
        </p:nvSpPr>
        <p:spPr>
          <a:xfrm>
            <a:off x="4754880" y="3465576"/>
            <a:ext cx="54864" cy="502920"/>
          </a:xfrm>
          <a:prstGeom prst="rect">
            <a:avLst/>
          </a:prstGeom>
          <a:solidFill>
            <a:srgbClr val="10B981"/>
          </a:solidFill>
          <a:ln/>
        </p:spPr>
        <p:txBody>
          <a:bodyPr/>
          <a:lstStyle/>
          <a:p>
            <a:endParaRPr lang="fr-TN"/>
          </a:p>
        </p:txBody>
      </p:sp>
      <p:sp>
        <p:nvSpPr>
          <p:cNvPr id="35" name="Text 33"/>
          <p:cNvSpPr/>
          <p:nvPr/>
        </p:nvSpPr>
        <p:spPr>
          <a:xfrm>
            <a:off x="4892040" y="3465576"/>
            <a:ext cx="3749040" cy="256032"/>
          </a:xfrm>
          <a:prstGeom prst="rect">
            <a:avLst/>
          </a:prstGeom>
          <a:noFill/>
          <a:ln/>
        </p:spPr>
        <p:txBody>
          <a:bodyPr wrap="square" lIns="0" tIns="0" rIns="0" bIns="0" rtlCol="0" anchor="ctr"/>
          <a:lstStyle/>
          <a:p>
            <a:pPr marL="0" indent="0">
              <a:buNone/>
            </a:pPr>
            <a:r>
              <a:rPr lang="en-US" sz="1100" b="1" dirty="0">
                <a:solidFill>
                  <a:srgbClr val="0D1B2A"/>
                </a:solidFill>
              </a:rPr>
              <a:t>Positional Encoding</a:t>
            </a:r>
            <a:endParaRPr lang="en-US" sz="1100" dirty="0"/>
          </a:p>
        </p:txBody>
      </p:sp>
      <p:sp>
        <p:nvSpPr>
          <p:cNvPr id="36" name="Text 34"/>
          <p:cNvSpPr/>
          <p:nvPr/>
        </p:nvSpPr>
        <p:spPr>
          <a:xfrm>
            <a:off x="4892040" y="3721608"/>
            <a:ext cx="3749040" cy="256032"/>
          </a:xfrm>
          <a:prstGeom prst="rect">
            <a:avLst/>
          </a:prstGeom>
          <a:noFill/>
          <a:ln/>
        </p:spPr>
        <p:txBody>
          <a:bodyPr wrap="square" lIns="0" tIns="0" rIns="0" bIns="0" rtlCol="0" anchor="ctr"/>
          <a:lstStyle/>
          <a:p>
            <a:pPr marL="0" indent="0">
              <a:buNone/>
            </a:pPr>
            <a:r>
              <a:rPr lang="en-US" sz="950" dirty="0">
                <a:solidFill>
                  <a:srgbClr val="64748B"/>
                </a:solidFill>
              </a:rPr>
              <a:t>Injects position info without recurrence — sequence order is preserved efficiently.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Evolution Timeline: RNN → LSTM → GRU → Transformer</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1</a:t>
            </a:r>
            <a:endParaRPr lang="en-US" sz="900" dirty="0"/>
          </a:p>
        </p:txBody>
      </p:sp>
      <p:sp>
        <p:nvSpPr>
          <p:cNvPr id="7" name="Shape 5"/>
          <p:cNvSpPr/>
          <p:nvPr/>
        </p:nvSpPr>
        <p:spPr>
          <a:xfrm>
            <a:off x="457200" y="2606040"/>
            <a:ext cx="8229600" cy="73152"/>
          </a:xfrm>
          <a:prstGeom prst="rect">
            <a:avLst/>
          </a:prstGeom>
          <a:solidFill>
            <a:srgbClr val="0891B2"/>
          </a:solidFill>
          <a:ln/>
        </p:spPr>
        <p:txBody>
          <a:bodyPr/>
          <a:lstStyle/>
          <a:p>
            <a:endParaRPr lang="fr-TN"/>
          </a:p>
        </p:txBody>
      </p:sp>
      <p:sp>
        <p:nvSpPr>
          <p:cNvPr id="8" name="Shape 6"/>
          <p:cNvSpPr/>
          <p:nvPr/>
        </p:nvSpPr>
        <p:spPr>
          <a:xfrm>
            <a:off x="640080" y="2011680"/>
            <a:ext cx="45720" cy="594360"/>
          </a:xfrm>
          <a:prstGeom prst="rect">
            <a:avLst/>
          </a:prstGeom>
          <a:solidFill>
            <a:srgbClr val="EF4444"/>
          </a:solidFill>
          <a:ln/>
        </p:spPr>
        <p:txBody>
          <a:bodyPr/>
          <a:lstStyle/>
          <a:p>
            <a:endParaRPr lang="fr-TN"/>
          </a:p>
        </p:txBody>
      </p:sp>
      <p:sp>
        <p:nvSpPr>
          <p:cNvPr id="9" name="Shape 7"/>
          <p:cNvSpPr/>
          <p:nvPr/>
        </p:nvSpPr>
        <p:spPr>
          <a:xfrm>
            <a:off x="530352" y="2487168"/>
            <a:ext cx="402336" cy="274320"/>
          </a:xfrm>
          <a:prstGeom prst="ellipse">
            <a:avLst/>
          </a:prstGeom>
          <a:solidFill>
            <a:srgbClr val="EF4444"/>
          </a:solidFill>
          <a:ln/>
        </p:spPr>
        <p:txBody>
          <a:bodyPr/>
          <a:lstStyle/>
          <a:p>
            <a:endParaRPr lang="fr-TN"/>
          </a:p>
        </p:txBody>
      </p:sp>
      <p:sp>
        <p:nvSpPr>
          <p:cNvPr id="10" name="Text 8"/>
          <p:cNvSpPr/>
          <p:nvPr/>
        </p:nvSpPr>
        <p:spPr>
          <a:xfrm>
            <a:off x="457200" y="1600200"/>
            <a:ext cx="1371600" cy="256032"/>
          </a:xfrm>
          <a:prstGeom prst="rect">
            <a:avLst/>
          </a:prstGeom>
          <a:noFill/>
          <a:ln/>
        </p:spPr>
        <p:txBody>
          <a:bodyPr wrap="square" rtlCol="0" anchor="ctr"/>
          <a:lstStyle/>
          <a:p>
            <a:pPr marL="0" indent="0" algn="ctr">
              <a:buNone/>
            </a:pPr>
            <a:r>
              <a:rPr lang="en-US" sz="1100" b="1" dirty="0">
                <a:solidFill>
                  <a:srgbClr val="EF4444"/>
                </a:solidFill>
              </a:rPr>
              <a:t>1986</a:t>
            </a:r>
            <a:endParaRPr lang="en-US" sz="1100" dirty="0"/>
          </a:p>
        </p:txBody>
      </p:sp>
      <p:sp>
        <p:nvSpPr>
          <p:cNvPr id="11" name="Shape 9"/>
          <p:cNvSpPr/>
          <p:nvPr/>
        </p:nvSpPr>
        <p:spPr>
          <a:xfrm>
            <a:off x="411480" y="2880360"/>
            <a:ext cx="137160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2" name="Shape 10"/>
          <p:cNvSpPr/>
          <p:nvPr/>
        </p:nvSpPr>
        <p:spPr>
          <a:xfrm>
            <a:off x="411480" y="2880360"/>
            <a:ext cx="1371600" cy="347472"/>
          </a:xfrm>
          <a:prstGeom prst="rect">
            <a:avLst/>
          </a:prstGeom>
          <a:solidFill>
            <a:srgbClr val="EF4444"/>
          </a:solidFill>
          <a:ln/>
        </p:spPr>
        <p:txBody>
          <a:bodyPr/>
          <a:lstStyle/>
          <a:p>
            <a:endParaRPr lang="fr-TN"/>
          </a:p>
        </p:txBody>
      </p:sp>
      <p:sp>
        <p:nvSpPr>
          <p:cNvPr id="13" name="Text 11"/>
          <p:cNvSpPr/>
          <p:nvPr/>
        </p:nvSpPr>
        <p:spPr>
          <a:xfrm>
            <a:off x="411480" y="2880360"/>
            <a:ext cx="1371600" cy="347472"/>
          </a:xfrm>
          <a:prstGeom prst="rect">
            <a:avLst/>
          </a:prstGeom>
          <a:noFill/>
          <a:ln/>
        </p:spPr>
        <p:txBody>
          <a:bodyPr wrap="square" lIns="0" tIns="0" rIns="0" bIns="0" rtlCol="0" anchor="ctr"/>
          <a:lstStyle/>
          <a:p>
            <a:pPr marL="0" indent="0" algn="ctr">
              <a:buNone/>
            </a:pPr>
            <a:r>
              <a:rPr lang="en-US" sz="1200" b="1" dirty="0">
                <a:solidFill>
                  <a:srgbClr val="FFFFFF"/>
                </a:solidFill>
              </a:rPr>
              <a:t>RNN</a:t>
            </a:r>
            <a:endParaRPr lang="en-US" sz="1200" dirty="0"/>
          </a:p>
        </p:txBody>
      </p:sp>
      <p:sp>
        <p:nvSpPr>
          <p:cNvPr id="14" name="Text 12"/>
          <p:cNvSpPr/>
          <p:nvPr/>
        </p:nvSpPr>
        <p:spPr>
          <a:xfrm>
            <a:off x="457200" y="3273552"/>
            <a:ext cx="1280160" cy="1188720"/>
          </a:xfrm>
          <a:prstGeom prst="rect">
            <a:avLst/>
          </a:prstGeom>
          <a:noFill/>
          <a:ln/>
        </p:spPr>
        <p:txBody>
          <a:bodyPr wrap="square" rtlCol="0" anchor="ctr"/>
          <a:lstStyle/>
          <a:p>
            <a:pPr marL="0" indent="0" algn="ctr">
              <a:buNone/>
            </a:pPr>
            <a:r>
              <a:rPr lang="en-US" sz="950" dirty="0">
                <a:solidFill>
                  <a:srgbClr val="0D1B2A"/>
                </a:solidFill>
              </a:rPr>
              <a:t>Rumelhart et al.</a:t>
            </a:r>
            <a:endParaRPr lang="en-US" sz="950" dirty="0"/>
          </a:p>
          <a:p>
            <a:pPr marL="0" indent="0" algn="ctr">
              <a:buNone/>
            </a:pPr>
            <a:r>
              <a:rPr lang="en-US" sz="950" dirty="0">
                <a:solidFill>
                  <a:srgbClr val="0D1B2A"/>
                </a:solidFill>
              </a:rPr>
              <a:t>Recurrent units,</a:t>
            </a:r>
            <a:endParaRPr lang="en-US" sz="950" dirty="0"/>
          </a:p>
          <a:p>
            <a:pPr marL="0" indent="0" algn="ctr">
              <a:buNone/>
            </a:pPr>
            <a:r>
              <a:rPr lang="en-US" sz="950" dirty="0">
                <a:solidFill>
                  <a:srgbClr val="0D1B2A"/>
                </a:solidFill>
              </a:rPr>
              <a:t>vanishing gradient</a:t>
            </a:r>
            <a:endParaRPr lang="en-US" sz="950" dirty="0"/>
          </a:p>
        </p:txBody>
      </p:sp>
      <p:sp>
        <p:nvSpPr>
          <p:cNvPr id="15" name="Shape 13"/>
          <p:cNvSpPr/>
          <p:nvPr/>
        </p:nvSpPr>
        <p:spPr>
          <a:xfrm>
            <a:off x="2743200" y="2011680"/>
            <a:ext cx="45720" cy="594360"/>
          </a:xfrm>
          <a:prstGeom prst="rect">
            <a:avLst/>
          </a:prstGeom>
          <a:solidFill>
            <a:srgbClr val="F59E0B"/>
          </a:solidFill>
          <a:ln/>
        </p:spPr>
        <p:txBody>
          <a:bodyPr/>
          <a:lstStyle/>
          <a:p>
            <a:endParaRPr lang="fr-TN"/>
          </a:p>
        </p:txBody>
      </p:sp>
      <p:sp>
        <p:nvSpPr>
          <p:cNvPr id="16" name="Shape 14"/>
          <p:cNvSpPr/>
          <p:nvPr/>
        </p:nvSpPr>
        <p:spPr>
          <a:xfrm>
            <a:off x="2633472" y="2487168"/>
            <a:ext cx="402336" cy="274320"/>
          </a:xfrm>
          <a:prstGeom prst="ellipse">
            <a:avLst/>
          </a:prstGeom>
          <a:solidFill>
            <a:srgbClr val="F59E0B"/>
          </a:solidFill>
          <a:ln/>
        </p:spPr>
        <p:txBody>
          <a:bodyPr/>
          <a:lstStyle/>
          <a:p>
            <a:endParaRPr lang="fr-TN"/>
          </a:p>
        </p:txBody>
      </p:sp>
      <p:sp>
        <p:nvSpPr>
          <p:cNvPr id="17" name="Text 15"/>
          <p:cNvSpPr/>
          <p:nvPr/>
        </p:nvSpPr>
        <p:spPr>
          <a:xfrm>
            <a:off x="2560320" y="1600200"/>
            <a:ext cx="1371600" cy="256032"/>
          </a:xfrm>
          <a:prstGeom prst="rect">
            <a:avLst/>
          </a:prstGeom>
          <a:noFill/>
          <a:ln/>
        </p:spPr>
        <p:txBody>
          <a:bodyPr wrap="square" rtlCol="0" anchor="ctr"/>
          <a:lstStyle/>
          <a:p>
            <a:pPr marL="0" indent="0" algn="ctr">
              <a:buNone/>
            </a:pPr>
            <a:r>
              <a:rPr lang="en-US" sz="1100" b="1" dirty="0">
                <a:solidFill>
                  <a:srgbClr val="F59E0B"/>
                </a:solidFill>
              </a:rPr>
              <a:t>1997</a:t>
            </a:r>
            <a:endParaRPr lang="en-US" sz="1100" dirty="0"/>
          </a:p>
        </p:txBody>
      </p:sp>
      <p:sp>
        <p:nvSpPr>
          <p:cNvPr id="18" name="Shape 16"/>
          <p:cNvSpPr/>
          <p:nvPr/>
        </p:nvSpPr>
        <p:spPr>
          <a:xfrm>
            <a:off x="2514600" y="2880360"/>
            <a:ext cx="137160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9" name="Shape 17"/>
          <p:cNvSpPr/>
          <p:nvPr/>
        </p:nvSpPr>
        <p:spPr>
          <a:xfrm>
            <a:off x="2514600" y="2880360"/>
            <a:ext cx="1371600" cy="347472"/>
          </a:xfrm>
          <a:prstGeom prst="rect">
            <a:avLst/>
          </a:prstGeom>
          <a:solidFill>
            <a:srgbClr val="F59E0B"/>
          </a:solidFill>
          <a:ln/>
        </p:spPr>
        <p:txBody>
          <a:bodyPr/>
          <a:lstStyle/>
          <a:p>
            <a:endParaRPr lang="fr-TN"/>
          </a:p>
        </p:txBody>
      </p:sp>
      <p:sp>
        <p:nvSpPr>
          <p:cNvPr id="20" name="Text 18"/>
          <p:cNvSpPr/>
          <p:nvPr/>
        </p:nvSpPr>
        <p:spPr>
          <a:xfrm>
            <a:off x="2514600" y="2880360"/>
            <a:ext cx="1371600" cy="347472"/>
          </a:xfrm>
          <a:prstGeom prst="rect">
            <a:avLst/>
          </a:prstGeom>
          <a:noFill/>
          <a:ln/>
        </p:spPr>
        <p:txBody>
          <a:bodyPr wrap="square" lIns="0" tIns="0" rIns="0" bIns="0" rtlCol="0" anchor="ctr"/>
          <a:lstStyle/>
          <a:p>
            <a:pPr marL="0" indent="0" algn="ctr">
              <a:buNone/>
            </a:pPr>
            <a:r>
              <a:rPr lang="en-US" sz="1200" b="1" dirty="0">
                <a:solidFill>
                  <a:srgbClr val="FFFFFF"/>
                </a:solidFill>
              </a:rPr>
              <a:t>LSTM</a:t>
            </a:r>
            <a:endParaRPr lang="en-US" sz="1200" dirty="0"/>
          </a:p>
        </p:txBody>
      </p:sp>
      <p:sp>
        <p:nvSpPr>
          <p:cNvPr id="21" name="Text 19"/>
          <p:cNvSpPr/>
          <p:nvPr/>
        </p:nvSpPr>
        <p:spPr>
          <a:xfrm>
            <a:off x="2560320" y="3273552"/>
            <a:ext cx="1280160" cy="1188720"/>
          </a:xfrm>
          <a:prstGeom prst="rect">
            <a:avLst/>
          </a:prstGeom>
          <a:noFill/>
          <a:ln/>
        </p:spPr>
        <p:txBody>
          <a:bodyPr wrap="square" rtlCol="0" anchor="ctr"/>
          <a:lstStyle/>
          <a:p>
            <a:pPr marL="0" indent="0" algn="ctr">
              <a:buNone/>
            </a:pPr>
            <a:r>
              <a:rPr lang="en-US" sz="950" dirty="0">
                <a:solidFill>
                  <a:srgbClr val="0D1B2A"/>
                </a:solidFill>
              </a:rPr>
              <a:t>Hochreiter &amp;</a:t>
            </a:r>
            <a:endParaRPr lang="en-US" sz="950" dirty="0"/>
          </a:p>
          <a:p>
            <a:pPr marL="0" indent="0" algn="ctr">
              <a:buNone/>
            </a:pPr>
            <a:r>
              <a:rPr lang="en-US" sz="950" dirty="0">
                <a:solidFill>
                  <a:srgbClr val="0D1B2A"/>
                </a:solidFill>
              </a:rPr>
              <a:t>Schmidhuber.</a:t>
            </a:r>
            <a:endParaRPr lang="en-US" sz="950" dirty="0"/>
          </a:p>
          <a:p>
            <a:pPr marL="0" indent="0" algn="ctr">
              <a:buNone/>
            </a:pPr>
            <a:r>
              <a:rPr lang="en-US" sz="950" dirty="0">
                <a:solidFill>
                  <a:srgbClr val="0D1B2A"/>
                </a:solidFill>
              </a:rPr>
              <a:t>Gated memory cells</a:t>
            </a:r>
            <a:endParaRPr lang="en-US" sz="950" dirty="0"/>
          </a:p>
        </p:txBody>
      </p:sp>
      <p:sp>
        <p:nvSpPr>
          <p:cNvPr id="22" name="Shape 20"/>
          <p:cNvSpPr/>
          <p:nvPr/>
        </p:nvSpPr>
        <p:spPr>
          <a:xfrm>
            <a:off x="4846320" y="2011680"/>
            <a:ext cx="45720" cy="594360"/>
          </a:xfrm>
          <a:prstGeom prst="rect">
            <a:avLst/>
          </a:prstGeom>
          <a:solidFill>
            <a:srgbClr val="8B5CF6"/>
          </a:solidFill>
          <a:ln/>
        </p:spPr>
        <p:txBody>
          <a:bodyPr/>
          <a:lstStyle/>
          <a:p>
            <a:endParaRPr lang="fr-TN"/>
          </a:p>
        </p:txBody>
      </p:sp>
      <p:sp>
        <p:nvSpPr>
          <p:cNvPr id="23" name="Shape 21"/>
          <p:cNvSpPr/>
          <p:nvPr/>
        </p:nvSpPr>
        <p:spPr>
          <a:xfrm>
            <a:off x="4736592" y="2487168"/>
            <a:ext cx="402336" cy="274320"/>
          </a:xfrm>
          <a:prstGeom prst="ellipse">
            <a:avLst/>
          </a:prstGeom>
          <a:solidFill>
            <a:srgbClr val="8B5CF6"/>
          </a:solidFill>
          <a:ln/>
        </p:spPr>
        <p:txBody>
          <a:bodyPr/>
          <a:lstStyle/>
          <a:p>
            <a:endParaRPr lang="fr-TN"/>
          </a:p>
        </p:txBody>
      </p:sp>
      <p:sp>
        <p:nvSpPr>
          <p:cNvPr id="24" name="Text 22"/>
          <p:cNvSpPr/>
          <p:nvPr/>
        </p:nvSpPr>
        <p:spPr>
          <a:xfrm>
            <a:off x="4663440" y="1600200"/>
            <a:ext cx="1371600" cy="256032"/>
          </a:xfrm>
          <a:prstGeom prst="rect">
            <a:avLst/>
          </a:prstGeom>
          <a:noFill/>
          <a:ln/>
        </p:spPr>
        <p:txBody>
          <a:bodyPr wrap="square" rtlCol="0" anchor="ctr"/>
          <a:lstStyle/>
          <a:p>
            <a:pPr marL="0" indent="0" algn="ctr">
              <a:buNone/>
            </a:pPr>
            <a:r>
              <a:rPr lang="en-US" sz="1100" b="1" dirty="0">
                <a:solidFill>
                  <a:srgbClr val="8B5CF6"/>
                </a:solidFill>
              </a:rPr>
              <a:t>2014</a:t>
            </a:r>
            <a:endParaRPr lang="en-US" sz="1100" dirty="0"/>
          </a:p>
        </p:txBody>
      </p:sp>
      <p:sp>
        <p:nvSpPr>
          <p:cNvPr id="25" name="Shape 23"/>
          <p:cNvSpPr/>
          <p:nvPr/>
        </p:nvSpPr>
        <p:spPr>
          <a:xfrm>
            <a:off x="4617720" y="2880360"/>
            <a:ext cx="137160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6" name="Shape 24"/>
          <p:cNvSpPr/>
          <p:nvPr/>
        </p:nvSpPr>
        <p:spPr>
          <a:xfrm>
            <a:off x="4617720" y="2880360"/>
            <a:ext cx="1371600" cy="347472"/>
          </a:xfrm>
          <a:prstGeom prst="rect">
            <a:avLst/>
          </a:prstGeom>
          <a:solidFill>
            <a:srgbClr val="8B5CF6"/>
          </a:solidFill>
          <a:ln/>
        </p:spPr>
        <p:txBody>
          <a:bodyPr/>
          <a:lstStyle/>
          <a:p>
            <a:endParaRPr lang="fr-TN"/>
          </a:p>
        </p:txBody>
      </p:sp>
      <p:sp>
        <p:nvSpPr>
          <p:cNvPr id="27" name="Text 25"/>
          <p:cNvSpPr/>
          <p:nvPr/>
        </p:nvSpPr>
        <p:spPr>
          <a:xfrm>
            <a:off x="4617720" y="2880360"/>
            <a:ext cx="1371600" cy="347472"/>
          </a:xfrm>
          <a:prstGeom prst="rect">
            <a:avLst/>
          </a:prstGeom>
          <a:noFill/>
          <a:ln/>
        </p:spPr>
        <p:txBody>
          <a:bodyPr wrap="square" lIns="0" tIns="0" rIns="0" bIns="0" rtlCol="0" anchor="ctr"/>
          <a:lstStyle/>
          <a:p>
            <a:pPr marL="0" indent="0" algn="ctr">
              <a:buNone/>
            </a:pPr>
            <a:r>
              <a:rPr lang="en-US" sz="1200" b="1" dirty="0">
                <a:solidFill>
                  <a:srgbClr val="FFFFFF"/>
                </a:solidFill>
              </a:rPr>
              <a:t>GRU</a:t>
            </a:r>
            <a:endParaRPr lang="en-US" sz="1200" dirty="0"/>
          </a:p>
        </p:txBody>
      </p:sp>
      <p:sp>
        <p:nvSpPr>
          <p:cNvPr id="28" name="Text 26"/>
          <p:cNvSpPr/>
          <p:nvPr/>
        </p:nvSpPr>
        <p:spPr>
          <a:xfrm>
            <a:off x="4663440" y="3273552"/>
            <a:ext cx="1280160" cy="1188720"/>
          </a:xfrm>
          <a:prstGeom prst="rect">
            <a:avLst/>
          </a:prstGeom>
          <a:noFill/>
          <a:ln/>
        </p:spPr>
        <p:txBody>
          <a:bodyPr wrap="square" rtlCol="0" anchor="ctr"/>
          <a:lstStyle/>
          <a:p>
            <a:pPr marL="0" indent="0" algn="ctr">
              <a:buNone/>
            </a:pPr>
            <a:r>
              <a:rPr lang="en-US" sz="950" dirty="0">
                <a:solidFill>
                  <a:srgbClr val="0D1B2A"/>
                </a:solidFill>
              </a:rPr>
              <a:t>Cho et al.</a:t>
            </a:r>
            <a:endParaRPr lang="en-US" sz="950" dirty="0"/>
          </a:p>
          <a:p>
            <a:pPr marL="0" indent="0" algn="ctr">
              <a:buNone/>
            </a:pPr>
            <a:r>
              <a:rPr lang="en-US" sz="950" dirty="0">
                <a:solidFill>
                  <a:srgbClr val="0D1B2A"/>
                </a:solidFill>
              </a:rPr>
              <a:t>Simplified gates,</a:t>
            </a:r>
            <a:endParaRPr lang="en-US" sz="950" dirty="0"/>
          </a:p>
          <a:p>
            <a:pPr marL="0" indent="0" algn="ctr">
              <a:buNone/>
            </a:pPr>
            <a:r>
              <a:rPr lang="en-US" sz="950" dirty="0">
                <a:solidFill>
                  <a:srgbClr val="0D1B2A"/>
                </a:solidFill>
              </a:rPr>
              <a:t>faster training</a:t>
            </a:r>
            <a:endParaRPr lang="en-US" sz="950" dirty="0"/>
          </a:p>
        </p:txBody>
      </p:sp>
      <p:sp>
        <p:nvSpPr>
          <p:cNvPr id="29" name="Shape 27"/>
          <p:cNvSpPr/>
          <p:nvPr/>
        </p:nvSpPr>
        <p:spPr>
          <a:xfrm>
            <a:off x="6949440" y="2011680"/>
            <a:ext cx="45720" cy="594360"/>
          </a:xfrm>
          <a:prstGeom prst="rect">
            <a:avLst/>
          </a:prstGeom>
          <a:solidFill>
            <a:srgbClr val="0891B2"/>
          </a:solidFill>
          <a:ln/>
        </p:spPr>
        <p:txBody>
          <a:bodyPr/>
          <a:lstStyle/>
          <a:p>
            <a:endParaRPr lang="fr-TN"/>
          </a:p>
        </p:txBody>
      </p:sp>
      <p:sp>
        <p:nvSpPr>
          <p:cNvPr id="30" name="Shape 28"/>
          <p:cNvSpPr/>
          <p:nvPr/>
        </p:nvSpPr>
        <p:spPr>
          <a:xfrm>
            <a:off x="6839712" y="2487168"/>
            <a:ext cx="402336" cy="274320"/>
          </a:xfrm>
          <a:prstGeom prst="ellipse">
            <a:avLst/>
          </a:prstGeom>
          <a:solidFill>
            <a:srgbClr val="0891B2"/>
          </a:solidFill>
          <a:ln/>
        </p:spPr>
        <p:txBody>
          <a:bodyPr/>
          <a:lstStyle/>
          <a:p>
            <a:endParaRPr lang="fr-TN"/>
          </a:p>
        </p:txBody>
      </p:sp>
      <p:sp>
        <p:nvSpPr>
          <p:cNvPr id="31" name="Text 29"/>
          <p:cNvSpPr/>
          <p:nvPr/>
        </p:nvSpPr>
        <p:spPr>
          <a:xfrm>
            <a:off x="6766560" y="1600200"/>
            <a:ext cx="1371600" cy="256032"/>
          </a:xfrm>
          <a:prstGeom prst="rect">
            <a:avLst/>
          </a:prstGeom>
          <a:noFill/>
          <a:ln/>
        </p:spPr>
        <p:txBody>
          <a:bodyPr wrap="square" rtlCol="0" anchor="ctr"/>
          <a:lstStyle/>
          <a:p>
            <a:pPr marL="0" indent="0" algn="ctr">
              <a:buNone/>
            </a:pPr>
            <a:r>
              <a:rPr lang="en-US" sz="1100" b="1" dirty="0">
                <a:solidFill>
                  <a:srgbClr val="0891B2"/>
                </a:solidFill>
              </a:rPr>
              <a:t>2017</a:t>
            </a:r>
            <a:endParaRPr lang="en-US" sz="1100" dirty="0"/>
          </a:p>
        </p:txBody>
      </p:sp>
      <p:sp>
        <p:nvSpPr>
          <p:cNvPr id="32" name="Shape 30"/>
          <p:cNvSpPr/>
          <p:nvPr/>
        </p:nvSpPr>
        <p:spPr>
          <a:xfrm>
            <a:off x="6720840" y="2880360"/>
            <a:ext cx="137160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33" name="Shape 31"/>
          <p:cNvSpPr/>
          <p:nvPr/>
        </p:nvSpPr>
        <p:spPr>
          <a:xfrm>
            <a:off x="6720840" y="2880360"/>
            <a:ext cx="1371600" cy="347472"/>
          </a:xfrm>
          <a:prstGeom prst="rect">
            <a:avLst/>
          </a:prstGeom>
          <a:solidFill>
            <a:srgbClr val="0891B2"/>
          </a:solidFill>
          <a:ln/>
        </p:spPr>
        <p:txBody>
          <a:bodyPr/>
          <a:lstStyle/>
          <a:p>
            <a:endParaRPr lang="fr-TN"/>
          </a:p>
        </p:txBody>
      </p:sp>
      <p:sp>
        <p:nvSpPr>
          <p:cNvPr id="34" name="Text 32"/>
          <p:cNvSpPr/>
          <p:nvPr/>
        </p:nvSpPr>
        <p:spPr>
          <a:xfrm>
            <a:off x="6720840" y="2880360"/>
            <a:ext cx="1371600" cy="347472"/>
          </a:xfrm>
          <a:prstGeom prst="rect">
            <a:avLst/>
          </a:prstGeom>
          <a:noFill/>
          <a:ln/>
        </p:spPr>
        <p:txBody>
          <a:bodyPr wrap="square" lIns="0" tIns="0" rIns="0" bIns="0" rtlCol="0" anchor="ctr"/>
          <a:lstStyle/>
          <a:p>
            <a:pPr marL="0" indent="0" algn="ctr">
              <a:buNone/>
            </a:pPr>
            <a:r>
              <a:rPr lang="en-US" sz="1200" b="1" dirty="0">
                <a:solidFill>
                  <a:srgbClr val="FFFFFF"/>
                </a:solidFill>
              </a:rPr>
              <a:t>Transformer</a:t>
            </a:r>
            <a:endParaRPr lang="en-US" sz="1200" dirty="0"/>
          </a:p>
        </p:txBody>
      </p:sp>
      <p:sp>
        <p:nvSpPr>
          <p:cNvPr id="35" name="Text 33"/>
          <p:cNvSpPr/>
          <p:nvPr/>
        </p:nvSpPr>
        <p:spPr>
          <a:xfrm>
            <a:off x="6766560" y="3273552"/>
            <a:ext cx="1280160" cy="1188720"/>
          </a:xfrm>
          <a:prstGeom prst="rect">
            <a:avLst/>
          </a:prstGeom>
          <a:noFill/>
          <a:ln/>
        </p:spPr>
        <p:txBody>
          <a:bodyPr wrap="square" rtlCol="0" anchor="ctr"/>
          <a:lstStyle/>
          <a:p>
            <a:pPr marL="0" indent="0" algn="ctr">
              <a:buNone/>
            </a:pPr>
            <a:r>
              <a:rPr lang="en-US" sz="950" dirty="0">
                <a:solidFill>
                  <a:srgbClr val="0D1B2A"/>
                </a:solidFill>
              </a:rPr>
              <a:t>Vaswani et al.</a:t>
            </a:r>
            <a:endParaRPr lang="en-US" sz="950" dirty="0"/>
          </a:p>
          <a:p>
            <a:pPr marL="0" indent="0" algn="ctr">
              <a:buNone/>
            </a:pPr>
            <a:r>
              <a:rPr lang="en-US" sz="950" dirty="0">
                <a:solidFill>
                  <a:srgbClr val="0D1B2A"/>
                </a:solidFill>
              </a:rPr>
              <a:t>'Attention is</a:t>
            </a:r>
            <a:endParaRPr lang="en-US" sz="950" dirty="0"/>
          </a:p>
          <a:p>
            <a:pPr marL="0" indent="0" algn="ctr">
              <a:buNone/>
            </a:pPr>
            <a:r>
              <a:rPr lang="en-US" sz="950" dirty="0">
                <a:solidFill>
                  <a:srgbClr val="0D1B2A"/>
                </a:solidFill>
              </a:rPr>
              <a:t>All You Need'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Attention Mechanism   Intuition &amp; Classical Attention</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2</a:t>
            </a:r>
            <a:endParaRPr lang="en-US" sz="900" dirty="0"/>
          </a:p>
        </p:txBody>
      </p:sp>
      <p:sp>
        <p:nvSpPr>
          <p:cNvPr id="7" name="Shape 5"/>
          <p:cNvSpPr/>
          <p:nvPr/>
        </p:nvSpPr>
        <p:spPr>
          <a:xfrm>
            <a:off x="228600" y="804672"/>
            <a:ext cx="8686800" cy="12344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04672"/>
            <a:ext cx="109728" cy="1234440"/>
          </a:xfrm>
          <a:prstGeom prst="rect">
            <a:avLst/>
          </a:prstGeom>
          <a:solidFill>
            <a:srgbClr val="0891B2"/>
          </a:solidFill>
          <a:ln/>
        </p:spPr>
        <p:txBody>
          <a:bodyPr/>
          <a:lstStyle/>
          <a:p>
            <a:endParaRPr lang="fr-TN"/>
          </a:p>
        </p:txBody>
      </p:sp>
      <p:sp>
        <p:nvSpPr>
          <p:cNvPr id="9" name="Text 7"/>
          <p:cNvSpPr/>
          <p:nvPr/>
        </p:nvSpPr>
        <p:spPr>
          <a:xfrm>
            <a:off x="457200" y="841248"/>
            <a:ext cx="8229600" cy="320040"/>
          </a:xfrm>
          <a:prstGeom prst="rect">
            <a:avLst/>
          </a:prstGeom>
          <a:noFill/>
          <a:ln/>
        </p:spPr>
        <p:txBody>
          <a:bodyPr wrap="square" rtlCol="0" anchor="ctr"/>
          <a:lstStyle/>
          <a:p>
            <a:pPr marL="0" indent="0">
              <a:buNone/>
            </a:pPr>
            <a:r>
              <a:rPr lang="en-US" sz="1300" b="1" dirty="0">
                <a:solidFill>
                  <a:srgbClr val="0D1B2A"/>
                </a:solidFill>
              </a:rPr>
              <a:t>Intuition: Why 'Attend' to Specific Parts?</a:t>
            </a:r>
            <a:endParaRPr lang="en-US" sz="1300" dirty="0"/>
          </a:p>
        </p:txBody>
      </p:sp>
      <p:sp>
        <p:nvSpPr>
          <p:cNvPr id="10" name="Text 8"/>
          <p:cNvSpPr/>
          <p:nvPr/>
        </p:nvSpPr>
        <p:spPr>
          <a:xfrm>
            <a:off x="457200" y="1170432"/>
            <a:ext cx="8229600" cy="749808"/>
          </a:xfrm>
          <a:prstGeom prst="rect">
            <a:avLst/>
          </a:prstGeom>
          <a:noFill/>
          <a:ln/>
        </p:spPr>
        <p:txBody>
          <a:bodyPr wrap="square" rtlCol="0" anchor="ctr"/>
          <a:lstStyle/>
          <a:p>
            <a:pPr marL="0" indent="0">
              <a:buNone/>
            </a:pPr>
            <a:r>
              <a:rPr lang="en-US" sz="1100" dirty="0">
                <a:solidFill>
                  <a:srgbClr val="64748B"/>
                </a:solidFill>
              </a:rPr>
              <a:t>When translating "The cat sat on the mat", the word "sat" should focus on "cat" (subject) and "mat" (location). Attention let the model learn these relevant relationships dynamically rather than compressing everything into one hidden state.</a:t>
            </a:r>
            <a:endParaRPr lang="en-US" sz="1100" dirty="0"/>
          </a:p>
        </p:txBody>
      </p:sp>
      <p:sp>
        <p:nvSpPr>
          <p:cNvPr id="11" name="Shape 9"/>
          <p:cNvSpPr/>
          <p:nvPr/>
        </p:nvSpPr>
        <p:spPr>
          <a:xfrm>
            <a:off x="228600" y="2176272"/>
            <a:ext cx="4160520" cy="27432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2" name="Shape 10"/>
          <p:cNvSpPr/>
          <p:nvPr/>
        </p:nvSpPr>
        <p:spPr>
          <a:xfrm>
            <a:off x="228600" y="2176272"/>
            <a:ext cx="4160520" cy="384048"/>
          </a:xfrm>
          <a:prstGeom prst="rect">
            <a:avLst/>
          </a:prstGeom>
          <a:solidFill>
            <a:srgbClr val="F59E0B"/>
          </a:solidFill>
          <a:ln/>
        </p:spPr>
        <p:txBody>
          <a:bodyPr/>
          <a:lstStyle/>
          <a:p>
            <a:endParaRPr lang="fr-TN"/>
          </a:p>
        </p:txBody>
      </p:sp>
      <p:sp>
        <p:nvSpPr>
          <p:cNvPr id="13" name="Text 11"/>
          <p:cNvSpPr/>
          <p:nvPr/>
        </p:nvSpPr>
        <p:spPr>
          <a:xfrm>
            <a:off x="320040" y="2176272"/>
            <a:ext cx="3977640" cy="384048"/>
          </a:xfrm>
          <a:prstGeom prst="rect">
            <a:avLst/>
          </a:prstGeom>
          <a:noFill/>
          <a:ln/>
        </p:spPr>
        <p:txBody>
          <a:bodyPr wrap="square" lIns="0" tIns="0" rIns="0" bIns="0" rtlCol="0" anchor="ctr"/>
          <a:lstStyle/>
          <a:p>
            <a:pPr marL="0" indent="0">
              <a:buNone/>
            </a:pPr>
            <a:r>
              <a:rPr lang="en-US" sz="1100" b="1" dirty="0">
                <a:solidFill>
                  <a:srgbClr val="FFFFFF"/>
                </a:solidFill>
              </a:rPr>
              <a:t>Bahdanau / Luong Attention (2014-2015)</a:t>
            </a:r>
            <a:endParaRPr lang="en-US" sz="1100" dirty="0"/>
          </a:p>
        </p:txBody>
      </p:sp>
      <p:sp>
        <p:nvSpPr>
          <p:cNvPr id="14" name="Text 12"/>
          <p:cNvSpPr/>
          <p:nvPr/>
        </p:nvSpPr>
        <p:spPr>
          <a:xfrm>
            <a:off x="365760" y="2633472"/>
            <a:ext cx="3931920" cy="2194560"/>
          </a:xfrm>
          <a:prstGeom prst="rect">
            <a:avLst/>
          </a:prstGeom>
          <a:noFill/>
          <a:ln/>
        </p:spPr>
        <p:txBody>
          <a:bodyPr wrap="square"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Used in encoder-decoder for translation</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Decoder queries encoder hidden states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Score: alignment(hₜ, hₛ) = dot-product or MLP</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Context vector = weighted sum of encoder states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Different query at each decoding step</a:t>
            </a:r>
            <a:endParaRPr lang="en-US" sz="1100" dirty="0"/>
          </a:p>
        </p:txBody>
      </p:sp>
      <p:sp>
        <p:nvSpPr>
          <p:cNvPr id="15" name="Shape 13"/>
          <p:cNvSpPr/>
          <p:nvPr/>
        </p:nvSpPr>
        <p:spPr>
          <a:xfrm>
            <a:off x="4663440" y="2176272"/>
            <a:ext cx="4160520" cy="27432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6" name="Shape 14"/>
          <p:cNvSpPr/>
          <p:nvPr/>
        </p:nvSpPr>
        <p:spPr>
          <a:xfrm>
            <a:off x="4663440" y="2176272"/>
            <a:ext cx="4160520" cy="384048"/>
          </a:xfrm>
          <a:prstGeom prst="rect">
            <a:avLst/>
          </a:prstGeom>
          <a:solidFill>
            <a:srgbClr val="0891B2"/>
          </a:solidFill>
          <a:ln/>
        </p:spPr>
        <p:txBody>
          <a:bodyPr/>
          <a:lstStyle/>
          <a:p>
            <a:endParaRPr lang="fr-TN"/>
          </a:p>
        </p:txBody>
      </p:sp>
      <p:sp>
        <p:nvSpPr>
          <p:cNvPr id="17" name="Text 15"/>
          <p:cNvSpPr/>
          <p:nvPr/>
        </p:nvSpPr>
        <p:spPr>
          <a:xfrm>
            <a:off x="4754880" y="2176272"/>
            <a:ext cx="3977640" cy="384048"/>
          </a:xfrm>
          <a:prstGeom prst="rect">
            <a:avLst/>
          </a:prstGeom>
          <a:noFill/>
          <a:ln/>
        </p:spPr>
        <p:txBody>
          <a:bodyPr wrap="square" lIns="0" tIns="0" rIns="0" bIns="0" rtlCol="0" anchor="ctr"/>
          <a:lstStyle/>
          <a:p>
            <a:pPr marL="0" indent="0">
              <a:buNone/>
            </a:pPr>
            <a:r>
              <a:rPr lang="en-US" sz="1100" b="1" dirty="0">
                <a:solidFill>
                  <a:srgbClr val="FFFFFF"/>
                </a:solidFill>
              </a:rPr>
              <a:t>Self-Attention (Transformer, 2017)</a:t>
            </a:r>
            <a:endParaRPr lang="en-US" sz="1100" dirty="0"/>
          </a:p>
        </p:txBody>
      </p:sp>
      <p:sp>
        <p:nvSpPr>
          <p:cNvPr id="18" name="Text 16"/>
          <p:cNvSpPr/>
          <p:nvPr/>
        </p:nvSpPr>
        <p:spPr>
          <a:xfrm>
            <a:off x="4800600" y="2633472"/>
            <a:ext cx="3931920" cy="2194560"/>
          </a:xfrm>
          <a:prstGeom prst="rect">
            <a:avLst/>
          </a:prstGeom>
          <a:noFill/>
          <a:ln/>
        </p:spPr>
        <p:txBody>
          <a:bodyPr wrap="square"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Every token queries every other token</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Same sequence acts as query, key, and value</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Captures global dependencies in one pass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Enables full parallelism during training</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Foundation of all modern LLMs (BERT, GPT)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Query, Key, Value   Step-by-Step with Numeric Example</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2</a:t>
            </a:r>
            <a:endParaRPr lang="en-US" sz="900" dirty="0"/>
          </a:p>
        </p:txBody>
      </p:sp>
      <p:sp>
        <p:nvSpPr>
          <p:cNvPr id="7" name="Shape 5"/>
          <p:cNvSpPr/>
          <p:nvPr/>
        </p:nvSpPr>
        <p:spPr>
          <a:xfrm>
            <a:off x="228600" y="822960"/>
            <a:ext cx="2651760" cy="11887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22960"/>
            <a:ext cx="2651760" cy="384048"/>
          </a:xfrm>
          <a:prstGeom prst="rect">
            <a:avLst/>
          </a:prstGeom>
          <a:solidFill>
            <a:srgbClr val="EF4444"/>
          </a:solidFill>
          <a:ln/>
        </p:spPr>
        <p:txBody>
          <a:bodyPr/>
          <a:lstStyle/>
          <a:p>
            <a:endParaRPr lang="fr-TN"/>
          </a:p>
        </p:txBody>
      </p:sp>
      <p:sp>
        <p:nvSpPr>
          <p:cNvPr id="9" name="Text 7"/>
          <p:cNvSpPr/>
          <p:nvPr/>
        </p:nvSpPr>
        <p:spPr>
          <a:xfrm>
            <a:off x="320040" y="822960"/>
            <a:ext cx="2468880" cy="384048"/>
          </a:xfrm>
          <a:prstGeom prst="rect">
            <a:avLst/>
          </a:prstGeom>
          <a:noFill/>
          <a:ln/>
        </p:spPr>
        <p:txBody>
          <a:bodyPr wrap="square" lIns="0" tIns="0" rIns="0" bIns="0" rtlCol="0" anchor="ctr"/>
          <a:lstStyle/>
          <a:p>
            <a:pPr marL="0" indent="0">
              <a:buNone/>
            </a:pPr>
            <a:r>
              <a:rPr lang="en-US" sz="1300" b="1" dirty="0">
                <a:solidFill>
                  <a:srgbClr val="FFFFFF"/>
                </a:solidFill>
              </a:rPr>
              <a:t>Q – Query</a:t>
            </a:r>
            <a:endParaRPr lang="en-US" sz="1300" dirty="0"/>
          </a:p>
        </p:txBody>
      </p:sp>
      <p:sp>
        <p:nvSpPr>
          <p:cNvPr id="10" name="Text 8"/>
          <p:cNvSpPr/>
          <p:nvPr/>
        </p:nvSpPr>
        <p:spPr>
          <a:xfrm>
            <a:off x="320040" y="1261872"/>
            <a:ext cx="2468880" cy="685800"/>
          </a:xfrm>
          <a:prstGeom prst="rect">
            <a:avLst/>
          </a:prstGeom>
          <a:noFill/>
          <a:ln/>
        </p:spPr>
        <p:txBody>
          <a:bodyPr wrap="square" rtlCol="0" anchor="ctr"/>
          <a:lstStyle/>
          <a:p>
            <a:pPr marL="0" indent="0" algn="ctr">
              <a:buNone/>
            </a:pPr>
            <a:r>
              <a:rPr lang="en-US" sz="1100" dirty="0">
                <a:solidFill>
                  <a:srgbClr val="0D1B2A"/>
                </a:solidFill>
              </a:rPr>
              <a:t>What am I</a:t>
            </a:r>
            <a:endParaRPr lang="en-US" sz="1100" dirty="0"/>
          </a:p>
          <a:p>
            <a:pPr marL="0" indent="0" algn="ctr">
              <a:buNone/>
            </a:pPr>
            <a:r>
              <a:rPr lang="en-US" sz="1100" dirty="0">
                <a:solidFill>
                  <a:srgbClr val="0D1B2A"/>
                </a:solidFill>
              </a:rPr>
              <a:t>looking for?</a:t>
            </a:r>
            <a:endParaRPr lang="en-US" sz="1100" dirty="0"/>
          </a:p>
        </p:txBody>
      </p:sp>
      <p:sp>
        <p:nvSpPr>
          <p:cNvPr id="11" name="Shape 9"/>
          <p:cNvSpPr/>
          <p:nvPr/>
        </p:nvSpPr>
        <p:spPr>
          <a:xfrm>
            <a:off x="3246120" y="822960"/>
            <a:ext cx="2651760" cy="11887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2" name="Shape 10"/>
          <p:cNvSpPr/>
          <p:nvPr/>
        </p:nvSpPr>
        <p:spPr>
          <a:xfrm>
            <a:off x="3246120" y="822960"/>
            <a:ext cx="2651760" cy="384048"/>
          </a:xfrm>
          <a:prstGeom prst="rect">
            <a:avLst/>
          </a:prstGeom>
          <a:solidFill>
            <a:srgbClr val="F59E0B"/>
          </a:solidFill>
          <a:ln/>
        </p:spPr>
        <p:txBody>
          <a:bodyPr/>
          <a:lstStyle/>
          <a:p>
            <a:endParaRPr lang="fr-TN"/>
          </a:p>
        </p:txBody>
      </p:sp>
      <p:sp>
        <p:nvSpPr>
          <p:cNvPr id="13" name="Text 11"/>
          <p:cNvSpPr/>
          <p:nvPr/>
        </p:nvSpPr>
        <p:spPr>
          <a:xfrm>
            <a:off x="3337560" y="822960"/>
            <a:ext cx="2468880" cy="384048"/>
          </a:xfrm>
          <a:prstGeom prst="rect">
            <a:avLst/>
          </a:prstGeom>
          <a:noFill/>
          <a:ln/>
        </p:spPr>
        <p:txBody>
          <a:bodyPr wrap="square" lIns="0" tIns="0" rIns="0" bIns="0" rtlCol="0" anchor="ctr"/>
          <a:lstStyle/>
          <a:p>
            <a:pPr marL="0" indent="0">
              <a:buNone/>
            </a:pPr>
            <a:r>
              <a:rPr lang="en-US" sz="1300" b="1" dirty="0">
                <a:solidFill>
                  <a:srgbClr val="FFFFFF"/>
                </a:solidFill>
              </a:rPr>
              <a:t>K – Key</a:t>
            </a:r>
            <a:endParaRPr lang="en-US" sz="1300" dirty="0"/>
          </a:p>
        </p:txBody>
      </p:sp>
      <p:sp>
        <p:nvSpPr>
          <p:cNvPr id="14" name="Text 12"/>
          <p:cNvSpPr/>
          <p:nvPr/>
        </p:nvSpPr>
        <p:spPr>
          <a:xfrm>
            <a:off x="3337560" y="1261872"/>
            <a:ext cx="2468880" cy="685800"/>
          </a:xfrm>
          <a:prstGeom prst="rect">
            <a:avLst/>
          </a:prstGeom>
          <a:noFill/>
          <a:ln/>
        </p:spPr>
        <p:txBody>
          <a:bodyPr wrap="square" rtlCol="0" anchor="ctr"/>
          <a:lstStyle/>
          <a:p>
            <a:pPr marL="0" indent="0" algn="ctr">
              <a:buNone/>
            </a:pPr>
            <a:r>
              <a:rPr lang="en-US" sz="1100" dirty="0">
                <a:solidFill>
                  <a:srgbClr val="0D1B2A"/>
                </a:solidFill>
              </a:rPr>
              <a:t>What do I</a:t>
            </a:r>
            <a:endParaRPr lang="en-US" sz="1100" dirty="0"/>
          </a:p>
          <a:p>
            <a:pPr marL="0" indent="0" algn="ctr">
              <a:buNone/>
            </a:pPr>
            <a:r>
              <a:rPr lang="en-US" sz="1100" dirty="0">
                <a:solidFill>
                  <a:srgbClr val="0D1B2A"/>
                </a:solidFill>
              </a:rPr>
              <a:t>offer?</a:t>
            </a:r>
            <a:endParaRPr lang="en-US" sz="1100" dirty="0"/>
          </a:p>
        </p:txBody>
      </p:sp>
      <p:sp>
        <p:nvSpPr>
          <p:cNvPr id="15" name="Shape 13"/>
          <p:cNvSpPr/>
          <p:nvPr/>
        </p:nvSpPr>
        <p:spPr>
          <a:xfrm>
            <a:off x="6263640" y="822960"/>
            <a:ext cx="2651760" cy="11887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6" name="Shape 14"/>
          <p:cNvSpPr/>
          <p:nvPr/>
        </p:nvSpPr>
        <p:spPr>
          <a:xfrm>
            <a:off x="6263640" y="822960"/>
            <a:ext cx="2651760" cy="384048"/>
          </a:xfrm>
          <a:prstGeom prst="rect">
            <a:avLst/>
          </a:prstGeom>
          <a:solidFill>
            <a:srgbClr val="10B981"/>
          </a:solidFill>
          <a:ln/>
        </p:spPr>
        <p:txBody>
          <a:bodyPr/>
          <a:lstStyle/>
          <a:p>
            <a:endParaRPr lang="fr-TN"/>
          </a:p>
        </p:txBody>
      </p:sp>
      <p:sp>
        <p:nvSpPr>
          <p:cNvPr id="17" name="Text 15"/>
          <p:cNvSpPr/>
          <p:nvPr/>
        </p:nvSpPr>
        <p:spPr>
          <a:xfrm>
            <a:off x="6355080" y="822960"/>
            <a:ext cx="2468880" cy="384048"/>
          </a:xfrm>
          <a:prstGeom prst="rect">
            <a:avLst/>
          </a:prstGeom>
          <a:noFill/>
          <a:ln/>
        </p:spPr>
        <p:txBody>
          <a:bodyPr wrap="square" lIns="0" tIns="0" rIns="0" bIns="0" rtlCol="0" anchor="ctr"/>
          <a:lstStyle/>
          <a:p>
            <a:pPr marL="0" indent="0">
              <a:buNone/>
            </a:pPr>
            <a:r>
              <a:rPr lang="en-US" sz="1300" b="1" dirty="0">
                <a:solidFill>
                  <a:srgbClr val="FFFFFF"/>
                </a:solidFill>
              </a:rPr>
              <a:t>V – Value</a:t>
            </a:r>
            <a:endParaRPr lang="en-US" sz="1300" dirty="0"/>
          </a:p>
        </p:txBody>
      </p:sp>
      <p:sp>
        <p:nvSpPr>
          <p:cNvPr id="18" name="Text 16"/>
          <p:cNvSpPr/>
          <p:nvPr/>
        </p:nvSpPr>
        <p:spPr>
          <a:xfrm>
            <a:off x="6355080" y="1261872"/>
            <a:ext cx="2468880" cy="685800"/>
          </a:xfrm>
          <a:prstGeom prst="rect">
            <a:avLst/>
          </a:prstGeom>
          <a:noFill/>
          <a:ln/>
        </p:spPr>
        <p:txBody>
          <a:bodyPr wrap="square" rtlCol="0" anchor="ctr"/>
          <a:lstStyle/>
          <a:p>
            <a:pPr marL="0" indent="0" algn="ctr">
              <a:buNone/>
            </a:pPr>
            <a:r>
              <a:rPr lang="en-US" sz="1100" dirty="0">
                <a:solidFill>
                  <a:srgbClr val="0D1B2A"/>
                </a:solidFill>
              </a:rPr>
              <a:t>What info</a:t>
            </a:r>
            <a:endParaRPr lang="en-US" sz="1100" dirty="0"/>
          </a:p>
          <a:p>
            <a:pPr marL="0" indent="0" algn="ctr">
              <a:buNone/>
            </a:pPr>
            <a:r>
              <a:rPr lang="en-US" sz="1100" dirty="0">
                <a:solidFill>
                  <a:srgbClr val="0D1B2A"/>
                </a:solidFill>
              </a:rPr>
              <a:t>do I carry?</a:t>
            </a:r>
            <a:endParaRPr lang="en-US" sz="1100" dirty="0"/>
          </a:p>
        </p:txBody>
      </p:sp>
      <p:sp>
        <p:nvSpPr>
          <p:cNvPr id="19" name="Shape 17"/>
          <p:cNvSpPr/>
          <p:nvPr/>
        </p:nvSpPr>
        <p:spPr>
          <a:xfrm>
            <a:off x="228600" y="2176272"/>
            <a:ext cx="8686800" cy="25146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0" name="Text 18"/>
          <p:cNvSpPr/>
          <p:nvPr/>
        </p:nvSpPr>
        <p:spPr>
          <a:xfrm>
            <a:off x="411480" y="2240280"/>
            <a:ext cx="8229600" cy="320040"/>
          </a:xfrm>
          <a:prstGeom prst="rect">
            <a:avLst/>
          </a:prstGeom>
          <a:noFill/>
          <a:ln/>
        </p:spPr>
        <p:txBody>
          <a:bodyPr wrap="square" rtlCol="0" anchor="ctr"/>
          <a:lstStyle/>
          <a:p>
            <a:pPr marL="0" indent="0">
              <a:buNone/>
            </a:pPr>
            <a:r>
              <a:rPr lang="en-US" sz="1300" b="1" dirty="0">
                <a:solidFill>
                  <a:srgbClr val="0D1B2A"/>
                </a:solidFill>
              </a:rPr>
              <a:t>Scaled Dot-Product Attention – Step by Step</a:t>
            </a:r>
            <a:endParaRPr lang="en-US" sz="1300" dirty="0"/>
          </a:p>
        </p:txBody>
      </p:sp>
      <p:sp>
        <p:nvSpPr>
          <p:cNvPr id="21" name="Shape 19"/>
          <p:cNvSpPr/>
          <p:nvPr/>
        </p:nvSpPr>
        <p:spPr>
          <a:xfrm>
            <a:off x="320040" y="2679192"/>
            <a:ext cx="658368" cy="256032"/>
          </a:xfrm>
          <a:prstGeom prst="rect">
            <a:avLst/>
          </a:prstGeom>
          <a:solidFill>
            <a:srgbClr val="0891B2"/>
          </a:solidFill>
          <a:ln/>
        </p:spPr>
        <p:txBody>
          <a:bodyPr/>
          <a:lstStyle/>
          <a:p>
            <a:endParaRPr lang="fr-TN"/>
          </a:p>
        </p:txBody>
      </p:sp>
      <p:sp>
        <p:nvSpPr>
          <p:cNvPr id="22" name="Text 20"/>
          <p:cNvSpPr/>
          <p:nvPr/>
        </p:nvSpPr>
        <p:spPr>
          <a:xfrm>
            <a:off x="320040" y="2679192"/>
            <a:ext cx="658368" cy="256032"/>
          </a:xfrm>
          <a:prstGeom prst="rect">
            <a:avLst/>
          </a:prstGeom>
          <a:noFill/>
          <a:ln/>
        </p:spPr>
        <p:txBody>
          <a:bodyPr wrap="square" lIns="0" tIns="0" rIns="0" bIns="0" rtlCol="0" anchor="ctr"/>
          <a:lstStyle/>
          <a:p>
            <a:pPr marL="0" indent="0" algn="ctr">
              <a:buNone/>
            </a:pPr>
            <a:r>
              <a:rPr lang="en-US" sz="900" b="1" dirty="0">
                <a:solidFill>
                  <a:srgbClr val="FFFFFF"/>
                </a:solidFill>
              </a:rPr>
              <a:t>Step 1</a:t>
            </a:r>
            <a:endParaRPr lang="en-US" sz="900" dirty="0"/>
          </a:p>
        </p:txBody>
      </p:sp>
      <p:sp>
        <p:nvSpPr>
          <p:cNvPr id="23" name="Text 21"/>
          <p:cNvSpPr/>
          <p:nvPr/>
        </p:nvSpPr>
        <p:spPr>
          <a:xfrm>
            <a:off x="1078992" y="2633472"/>
            <a:ext cx="7680960" cy="384048"/>
          </a:xfrm>
          <a:prstGeom prst="rect">
            <a:avLst/>
          </a:prstGeom>
          <a:noFill/>
          <a:ln/>
        </p:spPr>
        <p:txBody>
          <a:bodyPr wrap="square" rtlCol="0" anchor="ctr"/>
          <a:lstStyle/>
          <a:p>
            <a:pPr marL="0" indent="0">
              <a:buNone/>
            </a:pPr>
            <a:r>
              <a:rPr lang="en-US" sz="1050" dirty="0">
                <a:solidFill>
                  <a:srgbClr val="0D1B2A"/>
                </a:solidFill>
              </a:rPr>
              <a:t>Project input embeddings → Q, K, V using learned weight matrices WQ, WK, WV</a:t>
            </a:r>
            <a:endParaRPr lang="en-US" sz="1050" dirty="0"/>
          </a:p>
        </p:txBody>
      </p:sp>
      <p:sp>
        <p:nvSpPr>
          <p:cNvPr id="24" name="Shape 22"/>
          <p:cNvSpPr/>
          <p:nvPr/>
        </p:nvSpPr>
        <p:spPr>
          <a:xfrm>
            <a:off x="320040" y="3081528"/>
            <a:ext cx="658368" cy="256032"/>
          </a:xfrm>
          <a:prstGeom prst="rect">
            <a:avLst/>
          </a:prstGeom>
          <a:solidFill>
            <a:srgbClr val="0891B2"/>
          </a:solidFill>
          <a:ln/>
        </p:spPr>
        <p:txBody>
          <a:bodyPr/>
          <a:lstStyle/>
          <a:p>
            <a:endParaRPr lang="fr-TN"/>
          </a:p>
        </p:txBody>
      </p:sp>
      <p:sp>
        <p:nvSpPr>
          <p:cNvPr id="25" name="Text 23"/>
          <p:cNvSpPr/>
          <p:nvPr/>
        </p:nvSpPr>
        <p:spPr>
          <a:xfrm>
            <a:off x="320040" y="3081528"/>
            <a:ext cx="658368" cy="256032"/>
          </a:xfrm>
          <a:prstGeom prst="rect">
            <a:avLst/>
          </a:prstGeom>
          <a:noFill/>
          <a:ln/>
        </p:spPr>
        <p:txBody>
          <a:bodyPr wrap="square" lIns="0" tIns="0" rIns="0" bIns="0" rtlCol="0" anchor="ctr"/>
          <a:lstStyle/>
          <a:p>
            <a:pPr marL="0" indent="0" algn="ctr">
              <a:buNone/>
            </a:pPr>
            <a:r>
              <a:rPr lang="en-US" sz="900" b="1" dirty="0">
                <a:solidFill>
                  <a:srgbClr val="FFFFFF"/>
                </a:solidFill>
              </a:rPr>
              <a:t>Step 2</a:t>
            </a:r>
            <a:endParaRPr lang="en-US" sz="900" dirty="0"/>
          </a:p>
        </p:txBody>
      </p:sp>
      <p:sp>
        <p:nvSpPr>
          <p:cNvPr id="26" name="Text 24"/>
          <p:cNvSpPr/>
          <p:nvPr/>
        </p:nvSpPr>
        <p:spPr>
          <a:xfrm>
            <a:off x="1078992" y="3035808"/>
            <a:ext cx="7680960" cy="384048"/>
          </a:xfrm>
          <a:prstGeom prst="rect">
            <a:avLst/>
          </a:prstGeom>
          <a:noFill/>
          <a:ln/>
        </p:spPr>
        <p:txBody>
          <a:bodyPr wrap="square" rtlCol="0" anchor="ctr"/>
          <a:lstStyle/>
          <a:p>
            <a:pPr marL="0" indent="0">
              <a:buNone/>
            </a:pPr>
            <a:r>
              <a:rPr lang="en-US" sz="1050" dirty="0">
                <a:solidFill>
                  <a:srgbClr val="0D1B2A"/>
                </a:solidFill>
              </a:rPr>
              <a:t>Compute raw scores: Score(Q,K) = Q · Kᵀ  (dot product between query and all keys)</a:t>
            </a:r>
            <a:endParaRPr lang="en-US" sz="1050" dirty="0"/>
          </a:p>
        </p:txBody>
      </p:sp>
      <p:sp>
        <p:nvSpPr>
          <p:cNvPr id="27" name="Shape 25"/>
          <p:cNvSpPr/>
          <p:nvPr/>
        </p:nvSpPr>
        <p:spPr>
          <a:xfrm>
            <a:off x="320040" y="3483864"/>
            <a:ext cx="658368" cy="256032"/>
          </a:xfrm>
          <a:prstGeom prst="rect">
            <a:avLst/>
          </a:prstGeom>
          <a:solidFill>
            <a:srgbClr val="0891B2"/>
          </a:solidFill>
          <a:ln/>
        </p:spPr>
        <p:txBody>
          <a:bodyPr/>
          <a:lstStyle/>
          <a:p>
            <a:endParaRPr lang="fr-TN"/>
          </a:p>
        </p:txBody>
      </p:sp>
      <p:sp>
        <p:nvSpPr>
          <p:cNvPr id="28" name="Text 26"/>
          <p:cNvSpPr/>
          <p:nvPr/>
        </p:nvSpPr>
        <p:spPr>
          <a:xfrm>
            <a:off x="320040" y="3483864"/>
            <a:ext cx="658368" cy="256032"/>
          </a:xfrm>
          <a:prstGeom prst="rect">
            <a:avLst/>
          </a:prstGeom>
          <a:noFill/>
          <a:ln/>
        </p:spPr>
        <p:txBody>
          <a:bodyPr wrap="square" lIns="0" tIns="0" rIns="0" bIns="0" rtlCol="0" anchor="ctr"/>
          <a:lstStyle/>
          <a:p>
            <a:pPr marL="0" indent="0" algn="ctr">
              <a:buNone/>
            </a:pPr>
            <a:r>
              <a:rPr lang="en-US" sz="900" b="1" dirty="0">
                <a:solidFill>
                  <a:srgbClr val="FFFFFF"/>
                </a:solidFill>
              </a:rPr>
              <a:t>Step 3</a:t>
            </a:r>
            <a:endParaRPr lang="en-US" sz="900" dirty="0"/>
          </a:p>
        </p:txBody>
      </p:sp>
      <p:sp>
        <p:nvSpPr>
          <p:cNvPr id="29" name="Text 27"/>
          <p:cNvSpPr/>
          <p:nvPr/>
        </p:nvSpPr>
        <p:spPr>
          <a:xfrm>
            <a:off x="1078992" y="3438144"/>
            <a:ext cx="7680960" cy="384048"/>
          </a:xfrm>
          <a:prstGeom prst="rect">
            <a:avLst/>
          </a:prstGeom>
          <a:noFill/>
          <a:ln/>
        </p:spPr>
        <p:txBody>
          <a:bodyPr wrap="square" rtlCol="0" anchor="ctr"/>
          <a:lstStyle/>
          <a:p>
            <a:pPr marL="0" indent="0">
              <a:buNone/>
            </a:pPr>
            <a:r>
              <a:rPr lang="en-US" sz="1050" dirty="0">
                <a:solidFill>
                  <a:srgbClr val="0D1B2A"/>
                </a:solidFill>
              </a:rPr>
              <a:t>Scale: divide by √dₖ (dimension of keys) to prevent softmax saturation in high dims</a:t>
            </a:r>
            <a:endParaRPr lang="en-US" sz="1050" dirty="0"/>
          </a:p>
        </p:txBody>
      </p:sp>
      <p:sp>
        <p:nvSpPr>
          <p:cNvPr id="30" name="Shape 28"/>
          <p:cNvSpPr/>
          <p:nvPr/>
        </p:nvSpPr>
        <p:spPr>
          <a:xfrm>
            <a:off x="320040" y="3886200"/>
            <a:ext cx="658368" cy="256032"/>
          </a:xfrm>
          <a:prstGeom prst="rect">
            <a:avLst/>
          </a:prstGeom>
          <a:solidFill>
            <a:srgbClr val="0891B2"/>
          </a:solidFill>
          <a:ln/>
        </p:spPr>
        <p:txBody>
          <a:bodyPr/>
          <a:lstStyle/>
          <a:p>
            <a:endParaRPr lang="fr-TN"/>
          </a:p>
        </p:txBody>
      </p:sp>
      <p:sp>
        <p:nvSpPr>
          <p:cNvPr id="31" name="Text 29"/>
          <p:cNvSpPr/>
          <p:nvPr/>
        </p:nvSpPr>
        <p:spPr>
          <a:xfrm>
            <a:off x="320040" y="3886200"/>
            <a:ext cx="658368" cy="256032"/>
          </a:xfrm>
          <a:prstGeom prst="rect">
            <a:avLst/>
          </a:prstGeom>
          <a:noFill/>
          <a:ln/>
        </p:spPr>
        <p:txBody>
          <a:bodyPr wrap="square" lIns="0" tIns="0" rIns="0" bIns="0" rtlCol="0" anchor="ctr"/>
          <a:lstStyle/>
          <a:p>
            <a:pPr marL="0" indent="0" algn="ctr">
              <a:buNone/>
            </a:pPr>
            <a:r>
              <a:rPr lang="en-US" sz="900" b="1" dirty="0">
                <a:solidFill>
                  <a:srgbClr val="FFFFFF"/>
                </a:solidFill>
              </a:rPr>
              <a:t>Step 4</a:t>
            </a:r>
            <a:endParaRPr lang="en-US" sz="900" dirty="0"/>
          </a:p>
        </p:txBody>
      </p:sp>
      <p:sp>
        <p:nvSpPr>
          <p:cNvPr id="32" name="Text 30"/>
          <p:cNvSpPr/>
          <p:nvPr/>
        </p:nvSpPr>
        <p:spPr>
          <a:xfrm>
            <a:off x="1078992" y="3840480"/>
            <a:ext cx="7680960" cy="384048"/>
          </a:xfrm>
          <a:prstGeom prst="rect">
            <a:avLst/>
          </a:prstGeom>
          <a:noFill/>
          <a:ln/>
        </p:spPr>
        <p:txBody>
          <a:bodyPr wrap="square" rtlCol="0" anchor="ctr"/>
          <a:lstStyle/>
          <a:p>
            <a:pPr marL="0" indent="0">
              <a:buNone/>
            </a:pPr>
            <a:r>
              <a:rPr lang="en-US" sz="1050" dirty="0">
                <a:solidFill>
                  <a:srgbClr val="0D1B2A"/>
                </a:solidFill>
              </a:rPr>
              <a:t>Apply Softmax → attention weights α (probabilities summing to 1 per query)</a:t>
            </a:r>
            <a:endParaRPr lang="en-US" sz="1050" dirty="0"/>
          </a:p>
        </p:txBody>
      </p:sp>
      <p:sp>
        <p:nvSpPr>
          <p:cNvPr id="33" name="Shape 31"/>
          <p:cNvSpPr/>
          <p:nvPr/>
        </p:nvSpPr>
        <p:spPr>
          <a:xfrm>
            <a:off x="320040" y="4288536"/>
            <a:ext cx="658368" cy="256032"/>
          </a:xfrm>
          <a:prstGeom prst="rect">
            <a:avLst/>
          </a:prstGeom>
          <a:solidFill>
            <a:srgbClr val="0891B2"/>
          </a:solidFill>
          <a:ln/>
        </p:spPr>
        <p:txBody>
          <a:bodyPr/>
          <a:lstStyle/>
          <a:p>
            <a:endParaRPr lang="fr-TN"/>
          </a:p>
        </p:txBody>
      </p:sp>
      <p:sp>
        <p:nvSpPr>
          <p:cNvPr id="34" name="Text 32"/>
          <p:cNvSpPr/>
          <p:nvPr/>
        </p:nvSpPr>
        <p:spPr>
          <a:xfrm>
            <a:off x="320040" y="4288536"/>
            <a:ext cx="658368" cy="256032"/>
          </a:xfrm>
          <a:prstGeom prst="rect">
            <a:avLst/>
          </a:prstGeom>
          <a:noFill/>
          <a:ln/>
        </p:spPr>
        <p:txBody>
          <a:bodyPr wrap="square" lIns="0" tIns="0" rIns="0" bIns="0" rtlCol="0" anchor="ctr"/>
          <a:lstStyle/>
          <a:p>
            <a:pPr marL="0" indent="0" algn="ctr">
              <a:buNone/>
            </a:pPr>
            <a:r>
              <a:rPr lang="en-US" sz="900" b="1" dirty="0">
                <a:solidFill>
                  <a:srgbClr val="FFFFFF"/>
                </a:solidFill>
              </a:rPr>
              <a:t>Step 5</a:t>
            </a:r>
            <a:endParaRPr lang="en-US" sz="900" dirty="0"/>
          </a:p>
        </p:txBody>
      </p:sp>
      <p:sp>
        <p:nvSpPr>
          <p:cNvPr id="35" name="Text 33"/>
          <p:cNvSpPr/>
          <p:nvPr/>
        </p:nvSpPr>
        <p:spPr>
          <a:xfrm>
            <a:off x="1078992" y="4242816"/>
            <a:ext cx="7680960" cy="384048"/>
          </a:xfrm>
          <a:prstGeom prst="rect">
            <a:avLst/>
          </a:prstGeom>
          <a:noFill/>
          <a:ln/>
        </p:spPr>
        <p:txBody>
          <a:bodyPr wrap="square" rtlCol="0" anchor="ctr"/>
          <a:lstStyle/>
          <a:p>
            <a:pPr marL="0" indent="0">
              <a:buNone/>
            </a:pPr>
            <a:r>
              <a:rPr lang="en-US" sz="1050" dirty="0">
                <a:solidFill>
                  <a:srgbClr val="0D1B2A"/>
                </a:solidFill>
              </a:rPr>
              <a:t>Output = α · V  (weighted sum of values — what the token 'takes in' from others)</a:t>
            </a:r>
            <a:endParaRPr lang="en-US" sz="1050" dirty="0"/>
          </a:p>
        </p:txBody>
      </p:sp>
      <p:sp>
        <p:nvSpPr>
          <p:cNvPr id="36" name="Text 34"/>
          <p:cNvSpPr/>
          <p:nvPr/>
        </p:nvSpPr>
        <p:spPr>
          <a:xfrm>
            <a:off x="2286000" y="4754880"/>
            <a:ext cx="4572000" cy="256032"/>
          </a:xfrm>
          <a:prstGeom prst="rect">
            <a:avLst/>
          </a:prstGeom>
          <a:noFill/>
          <a:ln/>
        </p:spPr>
        <p:txBody>
          <a:bodyPr wrap="square" rtlCol="0" anchor="ctr"/>
          <a:lstStyle/>
          <a:p>
            <a:pPr marL="0" indent="0" algn="ctr">
              <a:buNone/>
            </a:pPr>
            <a:r>
              <a:rPr lang="en-US" sz="1200" b="1" dirty="0">
                <a:solidFill>
                  <a:srgbClr val="0891B2"/>
                </a:solidFill>
                <a:latin typeface="Courier New" pitchFamily="34" charset="0"/>
                <a:ea typeface="Courier New" pitchFamily="34" charset="-122"/>
                <a:cs typeface="Courier New" pitchFamily="34" charset="-120"/>
              </a:rPr>
              <a:t>Attention(Q,K,V) = softmax( Q·Kᵀ / √dₖ ) · V</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Numeric QKV">
    <p:bg>
      <p:bgPr>
        <a:solidFill>
          <a:srgbClr val="F0F4F8"/>
        </a:solidFill>
        <a:effectLst/>
      </p:bgPr>
    </p:bg>
    <p:spTree>
      <p:nvGrpSpPr>
        <p:cNvPr id="1" name=""/>
        <p:cNvGrpSpPr/>
        <p:nvPr/>
      </p:nvGrpSpPr>
      <p:grpSpPr>
        <a:xfrm>
          <a:off x="0" y="0"/>
          <a:ext cx="0" cy="0"/>
          <a:chOff x="0" y="0"/>
          <a:chExt cx="0" cy="0"/>
        </a:xfrm>
      </p:grpSpPr>
      <p:sp>
        <p:nvSpPr>
          <p:cNvPr id="2" name="AccentBar"/>
          <p:cNvSpPr>
            <a:spLocks noGrp="1"/>
          </p:cNvSpPr>
          <p:nvPr/>
        </p:nvSpPr>
        <p:spPr>
          <a:xfrm>
            <a:off x="0" y="0"/>
            <a:ext cx="109728" cy="5143500"/>
          </a:xfrm>
          <a:prstGeom prst="rect">
            <a:avLst/>
          </a:prstGeom>
          <a:solidFill>
            <a:srgbClr val="0891B2"/>
          </a:solidFill>
          <a:ln>
            <a:noFill/>
          </a:ln>
        </p:spPr>
        <p:txBody>
          <a:bodyPr/>
          <a:lstStyle/>
          <a:p>
            <a:endParaRPr/>
          </a:p>
        </p:txBody>
      </p:sp>
      <p:sp>
        <p:nvSpPr>
          <p:cNvPr id="3" name="HeaderBar"/>
          <p:cNvSpPr>
            <a:spLocks noGrp="1"/>
          </p:cNvSpPr>
          <p:nvPr/>
        </p:nvSpPr>
        <p:spPr>
          <a:xfrm>
            <a:off x="109728" y="0"/>
            <a:ext cx="9038736" cy="657288"/>
          </a:xfrm>
          <a:prstGeom prst="rect">
            <a:avLst/>
          </a:prstGeom>
          <a:solidFill>
            <a:srgbClr val="0D1B2A"/>
          </a:solidFill>
          <a:ln>
            <a:noFill/>
          </a:ln>
        </p:spPr>
        <p:txBody>
          <a:bodyPr/>
          <a:lstStyle/>
          <a:p>
            <a:endParaRPr/>
          </a:p>
        </p:txBody>
      </p:sp>
      <p:sp>
        <p:nvSpPr>
          <p:cNvPr id="4" name="Title"/>
          <p:cNvSpPr>
            <a:spLocks noGrp="1"/>
          </p:cNvSpPr>
          <p:nvPr/>
        </p:nvSpPr>
        <p:spPr>
          <a:xfrm>
            <a:off x="274638" y="63576"/>
            <a:ext cx="6857994" cy="548064"/>
          </a:xfrm>
          <a:prstGeom prst="rect">
            <a:avLst/>
          </a:prstGeom>
          <a:noFill/>
        </p:spPr>
        <p:txBody>
          <a:bodyPr anchor="ctr">
            <a:noAutofit/>
          </a:bodyPr>
          <a:lstStyle/>
          <a:p>
            <a:r>
              <a:rPr lang="en-US" sz="2000" b="1" dirty="0">
                <a:solidFill>
                  <a:srgbClr val="FFFFFF"/>
                </a:solidFill>
                <a:latin typeface="Calibri"/>
              </a:rPr>
              <a:t>02 · Q/K/V Numerical Example - Hand-Calculated Step by Step</a:t>
            </a:r>
          </a:p>
        </p:txBody>
      </p:sp>
      <p:sp>
        <p:nvSpPr>
          <p:cNvPr id="5" name="Badge"/>
          <p:cNvSpPr>
            <a:spLocks noGrp="1"/>
          </p:cNvSpPr>
          <p:nvPr/>
        </p:nvSpPr>
        <p:spPr>
          <a:xfrm>
            <a:off x="7497792" y="109728"/>
            <a:ext cx="1461264" cy="384048"/>
          </a:xfrm>
          <a:prstGeom prst="rect">
            <a:avLst/>
          </a:prstGeom>
          <a:solidFill>
            <a:srgbClr val="0891B2"/>
          </a:solidFill>
        </p:spPr>
        <p:txBody>
          <a:bodyPr anchor="ctr"/>
          <a:lstStyle/>
          <a:p>
            <a:pPr algn="ctr"/>
            <a:r>
              <a:rPr lang="en-US" sz="900" b="0" dirty="0">
                <a:solidFill>
                  <a:srgbClr val="FFFFFF"/>
                </a:solidFill>
                <a:latin typeface="Calibri"/>
              </a:rPr>
              <a:t>Section 2</a:t>
            </a:r>
          </a:p>
        </p:txBody>
      </p:sp>
      <p:sp>
        <p:nvSpPr>
          <p:cNvPr id="6" name="ContextBg"/>
          <p:cNvSpPr>
            <a:spLocks noGrp="1"/>
          </p:cNvSpPr>
          <p:nvPr/>
        </p:nvSpPr>
        <p:spPr>
          <a:xfrm>
            <a:off x="201168" y="749952"/>
            <a:ext cx="9345744" cy="620424"/>
          </a:xfrm>
          <a:prstGeom prst="rect">
            <a:avLst/>
          </a:prstGeom>
          <a:solidFill>
            <a:srgbClr val="FFFFFF"/>
          </a:solidFill>
          <a:effectLst>
            <a:outerShdw blurRad="76200" dist="28575" dir="8100000" algn="ctr" rotWithShape="0">
              <a:srgbClr val="000000">
                <a:alpha val="18000"/>
              </a:srgbClr>
            </a:outerShdw>
          </a:effectLst>
        </p:spPr>
        <p:txBody>
          <a:bodyPr/>
          <a:lstStyle/>
          <a:p>
            <a:endParaRPr/>
          </a:p>
        </p:txBody>
      </p:sp>
      <p:sp>
        <p:nvSpPr>
          <p:cNvPr id="7" name="ContextAccent"/>
          <p:cNvSpPr>
            <a:spLocks noGrp="1"/>
          </p:cNvSpPr>
          <p:nvPr/>
        </p:nvSpPr>
        <p:spPr>
          <a:xfrm>
            <a:off x="201168" y="749952"/>
            <a:ext cx="91440" cy="620424"/>
          </a:xfrm>
          <a:prstGeom prst="rect">
            <a:avLst/>
          </a:prstGeom>
          <a:solidFill>
            <a:srgbClr val="F59E0B"/>
          </a:solidFill>
          <a:ln>
            <a:noFill/>
          </a:ln>
        </p:spPr>
        <p:txBody>
          <a:bodyPr/>
          <a:lstStyle/>
          <a:p>
            <a:endParaRPr/>
          </a:p>
        </p:txBody>
      </p:sp>
      <p:sp>
        <p:nvSpPr>
          <p:cNvPr id="8" name="ContextText"/>
          <p:cNvSpPr>
            <a:spLocks noGrp="1"/>
          </p:cNvSpPr>
          <p:nvPr/>
        </p:nvSpPr>
        <p:spPr>
          <a:xfrm>
            <a:off x="384048" y="762000"/>
            <a:ext cx="9144000" cy="596088"/>
          </a:xfrm>
          <a:prstGeom prst="rect">
            <a:avLst/>
          </a:prstGeom>
          <a:noFill/>
        </p:spPr>
        <p:txBody>
          <a:bodyPr anchor="ctr"/>
          <a:lstStyle/>
          <a:p>
            <a:r>
              <a:rPr lang="en-US" sz="1000" b="1" dirty="0">
                <a:solidFill>
                  <a:srgbClr val="0D1B2A"/>
                </a:solidFill>
                <a:latin typeface="Calibri"/>
              </a:rPr>
              <a:t>Sentence: "The  cat  sat"  -&gt;  3 tokens, each with a 2D embedding.  </a:t>
            </a:r>
            <a:r>
              <a:rPr lang="en-US" sz="1000" b="0" dirty="0">
                <a:solidFill>
                  <a:srgbClr val="0D1B2A"/>
                </a:solidFill>
                <a:latin typeface="Calibri"/>
              </a:rPr>
              <a:t>We compute attention for token 1 ("The") attending to all 3 tokens. Identity weight matrices used for clarity.</a:t>
            </a:r>
          </a:p>
        </p:txBody>
      </p:sp>
      <p:sp>
        <p:nvSpPr>
          <p:cNvPr id="9" name="S1Bg"/>
          <p:cNvSpPr>
            <a:spLocks noGrp="1"/>
          </p:cNvSpPr>
          <p:nvPr/>
        </p:nvSpPr>
        <p:spPr>
          <a:xfrm>
            <a:off x="201168" y="1414656"/>
            <a:ext cx="2834640" cy="3337560"/>
          </a:xfrm>
          <a:prstGeom prst="rect">
            <a:avLst/>
          </a:prstGeom>
          <a:solidFill>
            <a:srgbClr val="FFFFFF"/>
          </a:solidFill>
          <a:effectLst>
            <a:outerShdw blurRad="76200" dist="28575" dir="8100000" algn="ctr" rotWithShape="0">
              <a:srgbClr val="000000">
                <a:alpha val="18000"/>
              </a:srgbClr>
            </a:outerShdw>
          </a:effectLst>
        </p:spPr>
        <p:txBody>
          <a:bodyPr/>
          <a:lstStyle/>
          <a:p>
            <a:endParaRPr/>
          </a:p>
        </p:txBody>
      </p:sp>
      <p:sp>
        <p:nvSpPr>
          <p:cNvPr id="10" name="S1Header"/>
          <p:cNvSpPr>
            <a:spLocks noGrp="1"/>
          </p:cNvSpPr>
          <p:nvPr/>
        </p:nvSpPr>
        <p:spPr>
          <a:xfrm>
            <a:off x="201168" y="1414656"/>
            <a:ext cx="2834640" cy="347472"/>
          </a:xfrm>
          <a:prstGeom prst="rect">
            <a:avLst/>
          </a:prstGeom>
          <a:solidFill>
            <a:srgbClr val="0D1B2A"/>
          </a:solidFill>
        </p:spPr>
        <p:txBody>
          <a:bodyPr anchor="ctr"/>
          <a:lstStyle/>
          <a:p>
            <a:pPr algn="l"/>
            <a:r>
              <a:rPr lang="en-US" sz="1000" b="1" dirty="0">
                <a:solidFill>
                  <a:srgbClr val="FFFFFF"/>
                </a:solidFill>
                <a:latin typeface="Calibri"/>
              </a:rPr>
              <a:t>  Step 1 - Input Embeddings</a:t>
            </a:r>
          </a:p>
        </p:txBody>
      </p:sp>
      <p:sp>
        <p:nvSpPr>
          <p:cNvPr id="11" name="S1Content"/>
          <p:cNvSpPr>
            <a:spLocks noGrp="1"/>
          </p:cNvSpPr>
          <p:nvPr/>
        </p:nvSpPr>
        <p:spPr>
          <a:xfrm>
            <a:off x="292608" y="1798704"/>
            <a:ext cx="2651760" cy="2898072"/>
          </a:xfrm>
          <a:prstGeom prst="rect">
            <a:avLst/>
          </a:prstGeom>
          <a:noFill/>
        </p:spPr>
        <p:txBody>
          <a:bodyPr anchor="t"/>
          <a:lstStyle/>
          <a:p>
            <a:r>
              <a:rPr lang="en-US" sz="950" b="1" dirty="0">
                <a:solidFill>
                  <a:srgbClr val="0891B2"/>
                </a:solidFill>
                <a:latin typeface="Calibri"/>
              </a:rPr>
              <a:t>Token embeddings (given):</a:t>
            </a:r>
          </a:p>
          <a:p>
            <a:r>
              <a:rPr lang="en-US" sz="900" b="0" dirty="0">
                <a:solidFill>
                  <a:srgbClr val="0D1B2A"/>
                </a:solidFill>
                <a:latin typeface="Courier New"/>
              </a:rPr>
              <a:t>x1 = [1, 0]   ("The")</a:t>
            </a:r>
          </a:p>
          <a:p>
            <a:r>
              <a:rPr lang="en-US" sz="900" b="0" dirty="0">
                <a:solidFill>
                  <a:srgbClr val="0D1B2A"/>
                </a:solidFill>
                <a:latin typeface="Courier New"/>
              </a:rPr>
              <a:t>x2 = [0, 1]   ("cat")</a:t>
            </a:r>
          </a:p>
          <a:p>
            <a:r>
              <a:rPr lang="en-US" sz="900" b="0" dirty="0">
                <a:solidFill>
                  <a:srgbClr val="0D1B2A"/>
                </a:solidFill>
                <a:latin typeface="Courier New"/>
              </a:rPr>
              <a:t>x3 = [1, 1]   ("sat")</a:t>
            </a:r>
          </a:p>
          <a:p>
            <a:endParaRPr lang="en-US" sz="900" b="0" dirty="0">
              <a:solidFill>
                <a:srgbClr val="0D1B2A"/>
              </a:solidFill>
              <a:latin typeface="Courier New"/>
            </a:endParaRPr>
          </a:p>
          <a:p>
            <a:r>
              <a:rPr lang="en-US" sz="950" b="1" dirty="0">
                <a:solidFill>
                  <a:srgbClr val="0891B2"/>
                </a:solidFill>
                <a:latin typeface="Calibri"/>
              </a:rPr>
              <a:t>Weight matrices (learned):</a:t>
            </a:r>
          </a:p>
          <a:p>
            <a:r>
              <a:rPr lang="en-US" sz="900" b="0" dirty="0">
                <a:solidFill>
                  <a:srgbClr val="0D1B2A"/>
                </a:solidFill>
                <a:latin typeface="Courier New"/>
              </a:rPr>
              <a:t>Wq = [[1,0],[0,1]]</a:t>
            </a:r>
          </a:p>
          <a:p>
            <a:r>
              <a:rPr lang="en-US" sz="900" b="0" dirty="0">
                <a:solidFill>
                  <a:srgbClr val="0D1B2A"/>
                </a:solidFill>
                <a:latin typeface="Courier New"/>
              </a:rPr>
              <a:t>Wk = [[1,0],[0,1]]</a:t>
            </a:r>
          </a:p>
          <a:p>
            <a:r>
              <a:rPr lang="en-US" sz="900" b="0" dirty="0">
                <a:solidFill>
                  <a:srgbClr val="0D1B2A"/>
                </a:solidFill>
                <a:latin typeface="Courier New"/>
              </a:rPr>
              <a:t>Wv = [[1,0],[0,1]]</a:t>
            </a:r>
          </a:p>
          <a:p>
            <a:endParaRPr lang="en-US" sz="900" b="0" dirty="0">
              <a:solidFill>
                <a:srgbClr val="0D1B2A"/>
              </a:solidFill>
              <a:latin typeface="Courier New"/>
            </a:endParaRPr>
          </a:p>
          <a:p>
            <a:r>
              <a:rPr lang="en-US" sz="850" b="0" i="1" dirty="0">
                <a:solidFill>
                  <a:srgbClr val="64748B"/>
                </a:solidFill>
                <a:latin typeface="Calibri"/>
              </a:rPr>
              <a:t>(Identity matrices for clarity)</a:t>
            </a:r>
          </a:p>
        </p:txBody>
      </p:sp>
      <p:sp>
        <p:nvSpPr>
          <p:cNvPr id="12" name="S2Bg"/>
          <p:cNvSpPr>
            <a:spLocks noGrp="1"/>
          </p:cNvSpPr>
          <p:nvPr/>
        </p:nvSpPr>
        <p:spPr>
          <a:xfrm>
            <a:off x="3200400" y="1414656"/>
            <a:ext cx="2834640" cy="3337560"/>
          </a:xfrm>
          <a:prstGeom prst="rect">
            <a:avLst/>
          </a:prstGeom>
          <a:solidFill>
            <a:srgbClr val="FFFFFF"/>
          </a:solidFill>
          <a:effectLst>
            <a:outerShdw blurRad="76200" dist="28575" dir="8100000" algn="ctr" rotWithShape="0">
              <a:srgbClr val="000000">
                <a:alpha val="18000"/>
              </a:srgbClr>
            </a:outerShdw>
          </a:effectLst>
        </p:spPr>
        <p:txBody>
          <a:bodyPr/>
          <a:lstStyle/>
          <a:p>
            <a:endParaRPr/>
          </a:p>
        </p:txBody>
      </p:sp>
      <p:sp>
        <p:nvSpPr>
          <p:cNvPr id="13" name="S2Header"/>
          <p:cNvSpPr>
            <a:spLocks noGrp="1"/>
          </p:cNvSpPr>
          <p:nvPr/>
        </p:nvSpPr>
        <p:spPr>
          <a:xfrm>
            <a:off x="3200400" y="1414656"/>
            <a:ext cx="2834640" cy="347472"/>
          </a:xfrm>
          <a:prstGeom prst="rect">
            <a:avLst/>
          </a:prstGeom>
          <a:solidFill>
            <a:srgbClr val="0891B2"/>
          </a:solidFill>
        </p:spPr>
        <p:txBody>
          <a:bodyPr anchor="ctr"/>
          <a:lstStyle/>
          <a:p>
            <a:pPr algn="l"/>
            <a:r>
              <a:rPr lang="en-US" sz="1000" b="1" dirty="0">
                <a:solidFill>
                  <a:srgbClr val="FFFFFF"/>
                </a:solidFill>
                <a:latin typeface="Calibri"/>
              </a:rPr>
              <a:t>  Step 2 - Project to Q, K, V</a:t>
            </a:r>
          </a:p>
        </p:txBody>
      </p:sp>
      <p:sp>
        <p:nvSpPr>
          <p:cNvPr id="14" name="S2Content"/>
          <p:cNvSpPr>
            <a:spLocks noGrp="1"/>
          </p:cNvSpPr>
          <p:nvPr/>
        </p:nvSpPr>
        <p:spPr>
          <a:xfrm>
            <a:off x="3291840" y="1798704"/>
            <a:ext cx="2651760" cy="2898072"/>
          </a:xfrm>
          <a:prstGeom prst="rect">
            <a:avLst/>
          </a:prstGeom>
          <a:noFill/>
        </p:spPr>
        <p:txBody>
          <a:bodyPr anchor="t"/>
          <a:lstStyle/>
          <a:p>
            <a:r>
              <a:rPr lang="en-US" sz="950" b="1" dirty="0">
                <a:solidFill>
                  <a:srgbClr val="0891B2"/>
                </a:solidFill>
                <a:latin typeface="Calibri"/>
              </a:rPr>
              <a:t>Query (token 1 "The"):</a:t>
            </a:r>
          </a:p>
          <a:p>
            <a:r>
              <a:rPr lang="en-US" sz="900" b="0" dirty="0">
                <a:solidFill>
                  <a:srgbClr val="0D1B2A"/>
                </a:solidFill>
                <a:latin typeface="Courier New"/>
              </a:rPr>
              <a:t>q1 = x1 . Wq = [1, 0]</a:t>
            </a:r>
          </a:p>
          <a:p>
            <a:endParaRPr lang="en-US" sz="900" b="0" dirty="0">
              <a:solidFill>
                <a:srgbClr val="0D1B2A"/>
              </a:solidFill>
              <a:latin typeface="Courier New"/>
            </a:endParaRPr>
          </a:p>
          <a:p>
            <a:r>
              <a:rPr lang="en-US" sz="950" b="1" dirty="0">
                <a:solidFill>
                  <a:srgbClr val="F59E0B"/>
                </a:solidFill>
                <a:latin typeface="Calibri"/>
              </a:rPr>
              <a:t>Keys (all tokens):</a:t>
            </a:r>
          </a:p>
          <a:p>
            <a:r>
              <a:rPr lang="en-US" sz="900" b="0" dirty="0">
                <a:solidFill>
                  <a:srgbClr val="0D1B2A"/>
                </a:solidFill>
                <a:latin typeface="Courier New"/>
              </a:rPr>
              <a:t>k1 = x1 . Wk = [1, 0]</a:t>
            </a:r>
          </a:p>
          <a:p>
            <a:r>
              <a:rPr lang="en-US" sz="900" b="0" dirty="0">
                <a:solidFill>
                  <a:srgbClr val="0D1B2A"/>
                </a:solidFill>
                <a:latin typeface="Courier New"/>
              </a:rPr>
              <a:t>k2 = x2 . Wk = [0, 1]</a:t>
            </a:r>
          </a:p>
          <a:p>
            <a:r>
              <a:rPr lang="en-US" sz="900" b="0" dirty="0">
                <a:solidFill>
                  <a:srgbClr val="0D1B2A"/>
                </a:solidFill>
                <a:latin typeface="Courier New"/>
              </a:rPr>
              <a:t>k3 = x3 . Wk = [1, 1]</a:t>
            </a:r>
          </a:p>
          <a:p>
            <a:endParaRPr lang="en-US" sz="900" b="0" dirty="0">
              <a:solidFill>
                <a:srgbClr val="0D1B2A"/>
              </a:solidFill>
              <a:latin typeface="Courier New"/>
            </a:endParaRPr>
          </a:p>
          <a:p>
            <a:r>
              <a:rPr lang="en-US" sz="950" b="1" dirty="0">
                <a:solidFill>
                  <a:srgbClr val="10B981"/>
                </a:solidFill>
                <a:latin typeface="Calibri"/>
              </a:rPr>
              <a:t>Values (all tokens):</a:t>
            </a:r>
          </a:p>
          <a:p>
            <a:r>
              <a:rPr lang="en-US" sz="900" b="0" dirty="0">
                <a:solidFill>
                  <a:srgbClr val="0D1B2A"/>
                </a:solidFill>
                <a:latin typeface="Courier New"/>
              </a:rPr>
              <a:t>v1=[1,0]  v2=[0,1]  v3=[1,1]</a:t>
            </a:r>
          </a:p>
        </p:txBody>
      </p:sp>
      <p:sp>
        <p:nvSpPr>
          <p:cNvPr id="15" name="S3Bg"/>
          <p:cNvSpPr>
            <a:spLocks noGrp="1"/>
          </p:cNvSpPr>
          <p:nvPr/>
        </p:nvSpPr>
        <p:spPr>
          <a:xfrm>
            <a:off x="6199632" y="1414656"/>
            <a:ext cx="2943576" cy="3337560"/>
          </a:xfrm>
          <a:prstGeom prst="rect">
            <a:avLst/>
          </a:prstGeom>
          <a:solidFill>
            <a:srgbClr val="FFFFFF"/>
          </a:solidFill>
          <a:effectLst>
            <a:outerShdw blurRad="76200" dist="28575" dir="8100000" algn="ctr" rotWithShape="0">
              <a:srgbClr val="000000">
                <a:alpha val="18000"/>
              </a:srgbClr>
            </a:outerShdw>
          </a:effectLst>
        </p:spPr>
        <p:txBody>
          <a:bodyPr/>
          <a:lstStyle/>
          <a:p>
            <a:endParaRPr/>
          </a:p>
        </p:txBody>
      </p:sp>
      <p:sp>
        <p:nvSpPr>
          <p:cNvPr id="16" name="S3Header"/>
          <p:cNvSpPr>
            <a:spLocks noGrp="1"/>
          </p:cNvSpPr>
          <p:nvPr/>
        </p:nvSpPr>
        <p:spPr>
          <a:xfrm>
            <a:off x="6199632" y="1414656"/>
            <a:ext cx="2943576" cy="347472"/>
          </a:xfrm>
          <a:prstGeom prst="rect">
            <a:avLst/>
          </a:prstGeom>
          <a:solidFill>
            <a:srgbClr val="8B5CF6"/>
          </a:solidFill>
        </p:spPr>
        <p:txBody>
          <a:bodyPr anchor="ctr"/>
          <a:lstStyle/>
          <a:p>
            <a:pPr algn="l"/>
            <a:r>
              <a:rPr lang="en-US" sz="1000" b="1" dirty="0">
                <a:solidFill>
                  <a:srgbClr val="FFFFFF"/>
                </a:solidFill>
                <a:latin typeface="Calibri"/>
              </a:rPr>
              <a:t>  Steps 3 &amp; 4 - Scores &amp; Softmax</a:t>
            </a:r>
          </a:p>
        </p:txBody>
      </p:sp>
      <p:sp>
        <p:nvSpPr>
          <p:cNvPr id="17" name="S3Content"/>
          <p:cNvSpPr>
            <a:spLocks noGrp="1"/>
          </p:cNvSpPr>
          <p:nvPr/>
        </p:nvSpPr>
        <p:spPr>
          <a:xfrm>
            <a:off x="6291072" y="1798704"/>
            <a:ext cx="2761200" cy="2898072"/>
          </a:xfrm>
          <a:prstGeom prst="rect">
            <a:avLst/>
          </a:prstGeom>
          <a:noFill/>
        </p:spPr>
        <p:txBody>
          <a:bodyPr anchor="t"/>
          <a:lstStyle/>
          <a:p>
            <a:r>
              <a:rPr lang="en-US" sz="950" b="1" dirty="0">
                <a:solidFill>
                  <a:srgbClr val="8B5CF6"/>
                </a:solidFill>
                <a:latin typeface="Calibri"/>
              </a:rPr>
              <a:t>Raw scores  (q1 . ki^T):</a:t>
            </a:r>
          </a:p>
          <a:p>
            <a:r>
              <a:rPr lang="en-US" sz="900" b="0" dirty="0">
                <a:solidFill>
                  <a:srgbClr val="0D1B2A"/>
                </a:solidFill>
                <a:latin typeface="Courier New"/>
              </a:rPr>
              <a:t>s1 = [1,0].[1,0] = 1.0</a:t>
            </a:r>
          </a:p>
          <a:p>
            <a:r>
              <a:rPr lang="en-US" sz="900" b="0" dirty="0">
                <a:solidFill>
                  <a:srgbClr val="0D1B2A"/>
                </a:solidFill>
                <a:latin typeface="Courier New"/>
              </a:rPr>
              <a:t>s2 = [1,0].[0,1] = 0.0</a:t>
            </a:r>
          </a:p>
          <a:p>
            <a:r>
              <a:rPr lang="en-US" sz="900" b="0" dirty="0">
                <a:solidFill>
                  <a:srgbClr val="0D1B2A"/>
                </a:solidFill>
                <a:latin typeface="Courier New"/>
              </a:rPr>
              <a:t>s3 = [1,0].[1,1] = 1.0</a:t>
            </a:r>
          </a:p>
          <a:p>
            <a:endParaRPr lang="en-US" sz="900" b="0" dirty="0">
              <a:solidFill>
                <a:srgbClr val="0D1B2A"/>
              </a:solidFill>
              <a:latin typeface="Courier New"/>
            </a:endParaRPr>
          </a:p>
          <a:p>
            <a:r>
              <a:rPr lang="en-US" sz="950" b="1" dirty="0">
                <a:solidFill>
                  <a:srgbClr val="8B5CF6"/>
                </a:solidFill>
                <a:latin typeface="Calibri"/>
              </a:rPr>
              <a:t>Scale by sqrt(dk)=sqrt(2)=1.41:</a:t>
            </a:r>
          </a:p>
          <a:p>
            <a:r>
              <a:rPr lang="en-US" sz="900" b="0" dirty="0">
                <a:solidFill>
                  <a:srgbClr val="0D1B2A"/>
                </a:solidFill>
                <a:latin typeface="Courier New"/>
              </a:rPr>
              <a:t>0.71,   0.00,   0.71</a:t>
            </a:r>
          </a:p>
          <a:p>
            <a:endParaRPr lang="en-US" sz="900" b="0" dirty="0">
              <a:solidFill>
                <a:srgbClr val="0D1B2A"/>
              </a:solidFill>
              <a:latin typeface="Courier New"/>
            </a:endParaRPr>
          </a:p>
          <a:p>
            <a:r>
              <a:rPr lang="en-US" sz="950" b="1" dirty="0">
                <a:solidFill>
                  <a:srgbClr val="EF4444"/>
                </a:solidFill>
                <a:latin typeface="Calibri"/>
              </a:rPr>
              <a:t>Softmax -&gt; weights alpha:</a:t>
            </a:r>
          </a:p>
          <a:p>
            <a:r>
              <a:rPr lang="en-US" sz="900" b="1" dirty="0">
                <a:solidFill>
                  <a:srgbClr val="EF4444"/>
                </a:solidFill>
                <a:latin typeface="Courier New"/>
              </a:rPr>
              <a:t>a1=0.42  a2=0.16  a3=0.42</a:t>
            </a:r>
          </a:p>
        </p:txBody>
      </p:sp>
      <p:sp>
        <p:nvSpPr>
          <p:cNvPr id="18" name="S5Bg"/>
          <p:cNvSpPr>
            <a:spLocks noGrp="1"/>
          </p:cNvSpPr>
          <p:nvPr/>
        </p:nvSpPr>
        <p:spPr>
          <a:xfrm>
            <a:off x="201168" y="4837464"/>
            <a:ext cx="9345744" cy="374904"/>
          </a:xfrm>
          <a:prstGeom prst="rect">
            <a:avLst/>
          </a:prstGeom>
          <a:solidFill>
            <a:srgbClr val="FFF7ED"/>
          </a:solidFill>
          <a:effectLst>
            <a:outerShdw blurRad="76200" dist="28575" dir="8100000" algn="ctr" rotWithShape="0">
              <a:srgbClr val="000000">
                <a:alpha val="18000"/>
              </a:srgbClr>
            </a:outerShdw>
          </a:effectLst>
        </p:spPr>
        <p:txBody>
          <a:bodyPr/>
          <a:lstStyle/>
          <a:p>
            <a:endParaRPr/>
          </a:p>
        </p:txBody>
      </p:sp>
      <p:sp>
        <p:nvSpPr>
          <p:cNvPr id="19" name="S5Accent"/>
          <p:cNvSpPr>
            <a:spLocks noGrp="1"/>
          </p:cNvSpPr>
          <p:nvPr/>
        </p:nvSpPr>
        <p:spPr>
          <a:xfrm>
            <a:off x="201168" y="4837464"/>
            <a:ext cx="91440" cy="374904"/>
          </a:xfrm>
          <a:prstGeom prst="rect">
            <a:avLst/>
          </a:prstGeom>
          <a:solidFill>
            <a:srgbClr val="10B981"/>
          </a:solidFill>
          <a:ln>
            <a:noFill/>
          </a:ln>
        </p:spPr>
        <p:txBody>
          <a:bodyPr/>
          <a:lstStyle/>
          <a:p>
            <a:endParaRPr/>
          </a:p>
        </p:txBody>
      </p:sp>
      <p:sp>
        <p:nvSpPr>
          <p:cNvPr id="20" name="S5Text"/>
          <p:cNvSpPr>
            <a:spLocks noGrp="1"/>
          </p:cNvSpPr>
          <p:nvPr/>
        </p:nvSpPr>
        <p:spPr>
          <a:xfrm>
            <a:off x="384048" y="4846512"/>
            <a:ext cx="9144000" cy="356616"/>
          </a:xfrm>
          <a:prstGeom prst="rect">
            <a:avLst/>
          </a:prstGeom>
          <a:noFill/>
        </p:spPr>
        <p:txBody>
          <a:bodyPr anchor="ctr"/>
          <a:lstStyle/>
          <a:p>
            <a:r>
              <a:rPr lang="en-US" sz="1000" b="1" dirty="0">
                <a:solidFill>
                  <a:srgbClr val="0D1B2A"/>
                </a:solidFill>
                <a:latin typeface="Courier New"/>
              </a:rPr>
              <a:t>Step 5: Output = 0.42*[1,0] + 0.16*[0,1] + 0.42*[1,1] = [0.84, 0.58]  </a:t>
            </a:r>
            <a:r>
              <a:rPr lang="en-US" sz="1000" b="0" i="1" dirty="0">
                <a:solidFill>
                  <a:srgbClr val="10B981"/>
                </a:solidFill>
                <a:latin typeface="Calibri"/>
              </a:rPr>
              <a:t>&lt;- enriched representation of "The", with context from "cat" and "sat"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Multi-Head Attention   Why Multiple Heads?</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2</a:t>
            </a:r>
            <a:endParaRPr lang="en-US" sz="900" dirty="0"/>
          </a:p>
        </p:txBody>
      </p:sp>
      <p:sp>
        <p:nvSpPr>
          <p:cNvPr id="7" name="Shape 5"/>
          <p:cNvSpPr/>
          <p:nvPr/>
        </p:nvSpPr>
        <p:spPr>
          <a:xfrm>
            <a:off x="228600" y="804672"/>
            <a:ext cx="8686800" cy="9601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04672"/>
            <a:ext cx="109728" cy="960120"/>
          </a:xfrm>
          <a:prstGeom prst="rect">
            <a:avLst/>
          </a:prstGeom>
          <a:solidFill>
            <a:srgbClr val="F59E0B"/>
          </a:solidFill>
          <a:ln/>
        </p:spPr>
        <p:txBody>
          <a:bodyPr/>
          <a:lstStyle/>
          <a:p>
            <a:endParaRPr lang="fr-TN"/>
          </a:p>
        </p:txBody>
      </p:sp>
      <p:sp>
        <p:nvSpPr>
          <p:cNvPr id="9" name="Text 7"/>
          <p:cNvSpPr/>
          <p:nvPr/>
        </p:nvSpPr>
        <p:spPr>
          <a:xfrm>
            <a:off x="457200" y="822960"/>
            <a:ext cx="8229600" cy="822960"/>
          </a:xfrm>
          <a:prstGeom prst="rect">
            <a:avLst/>
          </a:prstGeom>
          <a:noFill/>
          <a:ln/>
        </p:spPr>
        <p:txBody>
          <a:bodyPr wrap="square" rtlCol="0" anchor="ctr"/>
          <a:lstStyle/>
          <a:p>
            <a:pPr marL="0" indent="0">
              <a:buNone/>
            </a:pPr>
            <a:r>
              <a:rPr lang="en-US" sz="1200" i="1" dirty="0">
                <a:solidFill>
                  <a:srgbClr val="0D1B2A"/>
                </a:solidFill>
              </a:rPr>
              <a:t>Analogy: Like reading a sentence simultaneously for grammar, sentiment, and named entities. Each 'head' specializes in a different type of relationship.</a:t>
            </a:r>
            <a:endParaRPr lang="en-US" sz="1200" dirty="0"/>
          </a:p>
        </p:txBody>
      </p:sp>
      <p:sp>
        <p:nvSpPr>
          <p:cNvPr id="10" name="Shape 8"/>
          <p:cNvSpPr/>
          <p:nvPr/>
        </p:nvSpPr>
        <p:spPr>
          <a:xfrm>
            <a:off x="45720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1" name="Shape 9"/>
          <p:cNvSpPr/>
          <p:nvPr/>
        </p:nvSpPr>
        <p:spPr>
          <a:xfrm>
            <a:off x="457200" y="1920240"/>
            <a:ext cx="914400" cy="347472"/>
          </a:xfrm>
          <a:prstGeom prst="rect">
            <a:avLst/>
          </a:prstGeom>
          <a:solidFill>
            <a:srgbClr val="EF4444"/>
          </a:solidFill>
          <a:ln/>
        </p:spPr>
        <p:txBody>
          <a:bodyPr/>
          <a:lstStyle/>
          <a:p>
            <a:endParaRPr lang="fr-TN"/>
          </a:p>
        </p:txBody>
      </p:sp>
      <p:sp>
        <p:nvSpPr>
          <p:cNvPr id="12" name="Text 10"/>
          <p:cNvSpPr/>
          <p:nvPr/>
        </p:nvSpPr>
        <p:spPr>
          <a:xfrm>
            <a:off x="45720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1</a:t>
            </a:r>
            <a:endParaRPr lang="en-US" sz="1000" dirty="0"/>
          </a:p>
        </p:txBody>
      </p:sp>
      <p:sp>
        <p:nvSpPr>
          <p:cNvPr id="13" name="Text 11"/>
          <p:cNvSpPr/>
          <p:nvPr/>
        </p:nvSpPr>
        <p:spPr>
          <a:xfrm>
            <a:off x="45720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14" name="Shape 12"/>
          <p:cNvSpPr/>
          <p:nvPr/>
        </p:nvSpPr>
        <p:spPr>
          <a:xfrm>
            <a:off x="150876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5" name="Shape 13"/>
          <p:cNvSpPr/>
          <p:nvPr/>
        </p:nvSpPr>
        <p:spPr>
          <a:xfrm>
            <a:off x="1508760" y="1920240"/>
            <a:ext cx="914400" cy="347472"/>
          </a:xfrm>
          <a:prstGeom prst="rect">
            <a:avLst/>
          </a:prstGeom>
          <a:solidFill>
            <a:srgbClr val="F59E0B"/>
          </a:solidFill>
          <a:ln/>
        </p:spPr>
        <p:txBody>
          <a:bodyPr/>
          <a:lstStyle/>
          <a:p>
            <a:endParaRPr lang="fr-TN"/>
          </a:p>
        </p:txBody>
      </p:sp>
      <p:sp>
        <p:nvSpPr>
          <p:cNvPr id="16" name="Text 14"/>
          <p:cNvSpPr/>
          <p:nvPr/>
        </p:nvSpPr>
        <p:spPr>
          <a:xfrm>
            <a:off x="150876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2</a:t>
            </a:r>
            <a:endParaRPr lang="en-US" sz="1000" dirty="0"/>
          </a:p>
        </p:txBody>
      </p:sp>
      <p:sp>
        <p:nvSpPr>
          <p:cNvPr id="17" name="Text 15"/>
          <p:cNvSpPr/>
          <p:nvPr/>
        </p:nvSpPr>
        <p:spPr>
          <a:xfrm>
            <a:off x="150876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18" name="Shape 16"/>
          <p:cNvSpPr/>
          <p:nvPr/>
        </p:nvSpPr>
        <p:spPr>
          <a:xfrm>
            <a:off x="256032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9" name="Shape 17"/>
          <p:cNvSpPr/>
          <p:nvPr/>
        </p:nvSpPr>
        <p:spPr>
          <a:xfrm>
            <a:off x="2560320" y="1920240"/>
            <a:ext cx="914400" cy="347472"/>
          </a:xfrm>
          <a:prstGeom prst="rect">
            <a:avLst/>
          </a:prstGeom>
          <a:solidFill>
            <a:srgbClr val="8B5CF6"/>
          </a:solidFill>
          <a:ln/>
        </p:spPr>
        <p:txBody>
          <a:bodyPr/>
          <a:lstStyle/>
          <a:p>
            <a:endParaRPr lang="fr-TN"/>
          </a:p>
        </p:txBody>
      </p:sp>
      <p:sp>
        <p:nvSpPr>
          <p:cNvPr id="20" name="Text 18"/>
          <p:cNvSpPr/>
          <p:nvPr/>
        </p:nvSpPr>
        <p:spPr>
          <a:xfrm>
            <a:off x="256032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3</a:t>
            </a:r>
            <a:endParaRPr lang="en-US" sz="1000" dirty="0"/>
          </a:p>
        </p:txBody>
      </p:sp>
      <p:sp>
        <p:nvSpPr>
          <p:cNvPr id="21" name="Text 19"/>
          <p:cNvSpPr/>
          <p:nvPr/>
        </p:nvSpPr>
        <p:spPr>
          <a:xfrm>
            <a:off x="256032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22" name="Shape 20"/>
          <p:cNvSpPr/>
          <p:nvPr/>
        </p:nvSpPr>
        <p:spPr>
          <a:xfrm>
            <a:off x="361188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3" name="Shape 21"/>
          <p:cNvSpPr/>
          <p:nvPr/>
        </p:nvSpPr>
        <p:spPr>
          <a:xfrm>
            <a:off x="3611880" y="1920240"/>
            <a:ext cx="914400" cy="347472"/>
          </a:xfrm>
          <a:prstGeom prst="rect">
            <a:avLst/>
          </a:prstGeom>
          <a:solidFill>
            <a:srgbClr val="0891B2"/>
          </a:solidFill>
          <a:ln/>
        </p:spPr>
        <p:txBody>
          <a:bodyPr/>
          <a:lstStyle/>
          <a:p>
            <a:endParaRPr lang="fr-TN"/>
          </a:p>
        </p:txBody>
      </p:sp>
      <p:sp>
        <p:nvSpPr>
          <p:cNvPr id="24" name="Text 22"/>
          <p:cNvSpPr/>
          <p:nvPr/>
        </p:nvSpPr>
        <p:spPr>
          <a:xfrm>
            <a:off x="361188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4</a:t>
            </a:r>
            <a:endParaRPr lang="en-US" sz="1000" dirty="0"/>
          </a:p>
        </p:txBody>
      </p:sp>
      <p:sp>
        <p:nvSpPr>
          <p:cNvPr id="25" name="Text 23"/>
          <p:cNvSpPr/>
          <p:nvPr/>
        </p:nvSpPr>
        <p:spPr>
          <a:xfrm>
            <a:off x="361188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26" name="Shape 24"/>
          <p:cNvSpPr/>
          <p:nvPr/>
        </p:nvSpPr>
        <p:spPr>
          <a:xfrm>
            <a:off x="466344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7" name="Shape 25"/>
          <p:cNvSpPr/>
          <p:nvPr/>
        </p:nvSpPr>
        <p:spPr>
          <a:xfrm>
            <a:off x="4663440" y="1920240"/>
            <a:ext cx="914400" cy="347472"/>
          </a:xfrm>
          <a:prstGeom prst="rect">
            <a:avLst/>
          </a:prstGeom>
          <a:solidFill>
            <a:srgbClr val="10B981"/>
          </a:solidFill>
          <a:ln/>
        </p:spPr>
        <p:txBody>
          <a:bodyPr/>
          <a:lstStyle/>
          <a:p>
            <a:endParaRPr lang="fr-TN"/>
          </a:p>
        </p:txBody>
      </p:sp>
      <p:sp>
        <p:nvSpPr>
          <p:cNvPr id="28" name="Text 26"/>
          <p:cNvSpPr/>
          <p:nvPr/>
        </p:nvSpPr>
        <p:spPr>
          <a:xfrm>
            <a:off x="466344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5</a:t>
            </a:r>
            <a:endParaRPr lang="en-US" sz="1000" dirty="0"/>
          </a:p>
        </p:txBody>
      </p:sp>
      <p:sp>
        <p:nvSpPr>
          <p:cNvPr id="29" name="Text 27"/>
          <p:cNvSpPr/>
          <p:nvPr/>
        </p:nvSpPr>
        <p:spPr>
          <a:xfrm>
            <a:off x="466344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30" name="Shape 28"/>
          <p:cNvSpPr/>
          <p:nvPr/>
        </p:nvSpPr>
        <p:spPr>
          <a:xfrm>
            <a:off x="571500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31" name="Shape 29"/>
          <p:cNvSpPr/>
          <p:nvPr/>
        </p:nvSpPr>
        <p:spPr>
          <a:xfrm>
            <a:off x="5715000" y="1920240"/>
            <a:ext cx="914400" cy="347472"/>
          </a:xfrm>
          <a:prstGeom prst="rect">
            <a:avLst/>
          </a:prstGeom>
          <a:solidFill>
            <a:srgbClr val="F97316"/>
          </a:solidFill>
          <a:ln/>
        </p:spPr>
        <p:txBody>
          <a:bodyPr/>
          <a:lstStyle/>
          <a:p>
            <a:endParaRPr lang="fr-TN"/>
          </a:p>
        </p:txBody>
      </p:sp>
      <p:sp>
        <p:nvSpPr>
          <p:cNvPr id="32" name="Text 30"/>
          <p:cNvSpPr/>
          <p:nvPr/>
        </p:nvSpPr>
        <p:spPr>
          <a:xfrm>
            <a:off x="571500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6</a:t>
            </a:r>
            <a:endParaRPr lang="en-US" sz="1000" dirty="0"/>
          </a:p>
        </p:txBody>
      </p:sp>
      <p:sp>
        <p:nvSpPr>
          <p:cNvPr id="33" name="Text 31"/>
          <p:cNvSpPr/>
          <p:nvPr/>
        </p:nvSpPr>
        <p:spPr>
          <a:xfrm>
            <a:off x="571500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34" name="Shape 32"/>
          <p:cNvSpPr/>
          <p:nvPr/>
        </p:nvSpPr>
        <p:spPr>
          <a:xfrm>
            <a:off x="676656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35" name="Shape 33"/>
          <p:cNvSpPr/>
          <p:nvPr/>
        </p:nvSpPr>
        <p:spPr>
          <a:xfrm>
            <a:off x="6766560" y="1920240"/>
            <a:ext cx="914400" cy="347472"/>
          </a:xfrm>
          <a:prstGeom prst="rect">
            <a:avLst/>
          </a:prstGeom>
          <a:solidFill>
            <a:srgbClr val="06B6D4"/>
          </a:solidFill>
          <a:ln/>
        </p:spPr>
        <p:txBody>
          <a:bodyPr/>
          <a:lstStyle/>
          <a:p>
            <a:endParaRPr lang="fr-TN"/>
          </a:p>
        </p:txBody>
      </p:sp>
      <p:sp>
        <p:nvSpPr>
          <p:cNvPr id="36" name="Text 34"/>
          <p:cNvSpPr/>
          <p:nvPr/>
        </p:nvSpPr>
        <p:spPr>
          <a:xfrm>
            <a:off x="676656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7</a:t>
            </a:r>
            <a:endParaRPr lang="en-US" sz="1000" dirty="0"/>
          </a:p>
        </p:txBody>
      </p:sp>
      <p:sp>
        <p:nvSpPr>
          <p:cNvPr id="37" name="Text 35"/>
          <p:cNvSpPr/>
          <p:nvPr/>
        </p:nvSpPr>
        <p:spPr>
          <a:xfrm>
            <a:off x="676656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38" name="Shape 36"/>
          <p:cNvSpPr/>
          <p:nvPr/>
        </p:nvSpPr>
        <p:spPr>
          <a:xfrm>
            <a:off x="7818120" y="1920240"/>
            <a:ext cx="91440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39" name="Shape 37"/>
          <p:cNvSpPr/>
          <p:nvPr/>
        </p:nvSpPr>
        <p:spPr>
          <a:xfrm>
            <a:off x="7818120" y="1920240"/>
            <a:ext cx="914400" cy="347472"/>
          </a:xfrm>
          <a:prstGeom prst="rect">
            <a:avLst/>
          </a:prstGeom>
          <a:solidFill>
            <a:srgbClr val="64748B"/>
          </a:solidFill>
          <a:ln/>
        </p:spPr>
        <p:txBody>
          <a:bodyPr/>
          <a:lstStyle/>
          <a:p>
            <a:endParaRPr lang="fr-TN"/>
          </a:p>
        </p:txBody>
      </p:sp>
      <p:sp>
        <p:nvSpPr>
          <p:cNvPr id="40" name="Text 38"/>
          <p:cNvSpPr/>
          <p:nvPr/>
        </p:nvSpPr>
        <p:spPr>
          <a:xfrm>
            <a:off x="7818120" y="192024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rPr>
              <a:t>Head 8</a:t>
            </a:r>
            <a:endParaRPr lang="en-US" sz="1000" dirty="0"/>
          </a:p>
        </p:txBody>
      </p:sp>
      <p:sp>
        <p:nvSpPr>
          <p:cNvPr id="41" name="Text 39"/>
          <p:cNvSpPr/>
          <p:nvPr/>
        </p:nvSpPr>
        <p:spPr>
          <a:xfrm>
            <a:off x="7818120" y="2304288"/>
            <a:ext cx="914400" cy="1280160"/>
          </a:xfrm>
          <a:prstGeom prst="rect">
            <a:avLst/>
          </a:prstGeom>
          <a:noFill/>
          <a:ln/>
        </p:spPr>
        <p:txBody>
          <a:bodyPr wrap="square" rtlCol="0" anchor="ctr"/>
          <a:lstStyle/>
          <a:p>
            <a:pPr marL="0" indent="0" algn="ctr">
              <a:buNone/>
            </a:pPr>
            <a:r>
              <a:rPr lang="en-US" sz="950" dirty="0">
                <a:solidFill>
                  <a:srgbClr val="0D1B2A"/>
                </a:solidFill>
                <a:latin typeface="Courier New" pitchFamily="34" charset="0"/>
                <a:ea typeface="Courier New" pitchFamily="34" charset="-122"/>
                <a:cs typeface="Courier New" pitchFamily="34" charset="-120"/>
              </a:rPr>
              <a:t>QᵢKᵢVᵢ</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
            </a:r>
            <a:endParaRPr lang="en-US" sz="950" dirty="0"/>
          </a:p>
          <a:p>
            <a:pPr marL="0" indent="0" algn="ctr">
              <a:buNone/>
            </a:pPr>
            <a:r>
              <a:rPr lang="en-US" sz="950" dirty="0">
                <a:solidFill>
                  <a:srgbClr val="0D1B2A"/>
                </a:solidFill>
                <a:latin typeface="Courier New" pitchFamily="34" charset="0"/>
                <a:ea typeface="Courier New" pitchFamily="34" charset="-122"/>
                <a:cs typeface="Courier New" pitchFamily="34" charset="-120"/>
              </a:rPr>
              <a:t>Attᵢ</a:t>
            </a:r>
            <a:endParaRPr lang="en-US" sz="950" dirty="0"/>
          </a:p>
        </p:txBody>
      </p:sp>
      <p:sp>
        <p:nvSpPr>
          <p:cNvPr id="42" name="Shape 40"/>
          <p:cNvSpPr/>
          <p:nvPr/>
        </p:nvSpPr>
        <p:spPr>
          <a:xfrm>
            <a:off x="365760" y="3822192"/>
            <a:ext cx="8412480" cy="54864"/>
          </a:xfrm>
          <a:prstGeom prst="rect">
            <a:avLst/>
          </a:prstGeom>
          <a:solidFill>
            <a:srgbClr val="0891B2"/>
          </a:solidFill>
          <a:ln/>
        </p:spPr>
        <p:txBody>
          <a:bodyPr/>
          <a:lstStyle/>
          <a:p>
            <a:endParaRPr lang="fr-TN"/>
          </a:p>
        </p:txBody>
      </p:sp>
      <p:sp>
        <p:nvSpPr>
          <p:cNvPr id="43" name="Shape 41"/>
          <p:cNvSpPr/>
          <p:nvPr/>
        </p:nvSpPr>
        <p:spPr>
          <a:xfrm>
            <a:off x="2286000" y="3931920"/>
            <a:ext cx="4572000" cy="594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44" name="Shape 42"/>
          <p:cNvSpPr/>
          <p:nvPr/>
        </p:nvSpPr>
        <p:spPr>
          <a:xfrm>
            <a:off x="2286000" y="3931920"/>
            <a:ext cx="4572000" cy="594360"/>
          </a:xfrm>
          <a:prstGeom prst="rect">
            <a:avLst/>
          </a:prstGeom>
          <a:solidFill>
            <a:srgbClr val="0D1B2A"/>
          </a:solidFill>
          <a:ln/>
        </p:spPr>
        <p:txBody>
          <a:bodyPr/>
          <a:lstStyle/>
          <a:p>
            <a:endParaRPr lang="fr-TN"/>
          </a:p>
        </p:txBody>
      </p:sp>
      <p:sp>
        <p:nvSpPr>
          <p:cNvPr id="45" name="Text 43"/>
          <p:cNvSpPr/>
          <p:nvPr/>
        </p:nvSpPr>
        <p:spPr>
          <a:xfrm>
            <a:off x="2286000" y="3931920"/>
            <a:ext cx="457200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Concat(Head₁,...,Head₈) → Linear(Wᴼ) → Final Output</a:t>
            </a:r>
            <a:endParaRPr lang="en-US" sz="1100" dirty="0"/>
          </a:p>
        </p:txBody>
      </p:sp>
      <p:sp>
        <p:nvSpPr>
          <p:cNvPr id="46" name="Text 44"/>
          <p:cNvSpPr/>
          <p:nvPr/>
        </p:nvSpPr>
        <p:spPr>
          <a:xfrm>
            <a:off x="320040" y="4663440"/>
            <a:ext cx="8503920" cy="320040"/>
          </a:xfrm>
          <a:prstGeom prst="rect">
            <a:avLst/>
          </a:prstGeom>
          <a:noFill/>
          <a:ln/>
        </p:spPr>
        <p:txBody>
          <a:bodyPr wrap="square" rtlCol="0" anchor="ctr"/>
          <a:lstStyle/>
          <a:p>
            <a:pPr marL="0" indent="0" algn="ctr">
              <a:buNone/>
            </a:pPr>
            <a:r>
              <a:rPr lang="en-US" sz="1000" dirty="0">
                <a:solidFill>
                  <a:srgbClr val="64748B"/>
                </a:solidFill>
              </a:rPr>
              <a:t>Benefits: captures syntax, semantics, co-reference, positional patterns all simultaneously — much richer representations than single-head attention.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Complete Transformer Architecture</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3</a:t>
            </a:r>
            <a:endParaRPr lang="en-US" sz="900" dirty="0"/>
          </a:p>
        </p:txBody>
      </p:sp>
      <p:sp>
        <p:nvSpPr>
          <p:cNvPr id="7" name="Shape 5"/>
          <p:cNvSpPr/>
          <p:nvPr/>
        </p:nvSpPr>
        <p:spPr>
          <a:xfrm>
            <a:off x="228600" y="804672"/>
            <a:ext cx="3977640" cy="41148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04672"/>
            <a:ext cx="3977640" cy="384048"/>
          </a:xfrm>
          <a:prstGeom prst="rect">
            <a:avLst/>
          </a:prstGeom>
          <a:solidFill>
            <a:srgbClr val="0891B2"/>
          </a:solidFill>
          <a:ln/>
        </p:spPr>
        <p:txBody>
          <a:bodyPr/>
          <a:lstStyle/>
          <a:p>
            <a:endParaRPr lang="fr-TN"/>
          </a:p>
        </p:txBody>
      </p:sp>
      <p:sp>
        <p:nvSpPr>
          <p:cNvPr id="9" name="Text 7"/>
          <p:cNvSpPr/>
          <p:nvPr/>
        </p:nvSpPr>
        <p:spPr>
          <a:xfrm>
            <a:off x="228600" y="804672"/>
            <a:ext cx="3977640" cy="384048"/>
          </a:xfrm>
          <a:prstGeom prst="rect">
            <a:avLst/>
          </a:prstGeom>
          <a:noFill/>
          <a:ln/>
        </p:spPr>
        <p:txBody>
          <a:bodyPr wrap="square" lIns="0" tIns="0" rIns="0" bIns="0" rtlCol="0" anchor="ctr"/>
          <a:lstStyle/>
          <a:p>
            <a:pPr marL="0" indent="0" algn="ctr">
              <a:buNone/>
            </a:pPr>
            <a:r>
              <a:rPr lang="en-US" sz="1400" b="1" dirty="0">
                <a:solidFill>
                  <a:srgbClr val="FFFFFF"/>
                </a:solidFill>
              </a:rPr>
              <a:t>ENCODER</a:t>
            </a:r>
            <a:endParaRPr lang="en-US" sz="1400" dirty="0"/>
          </a:p>
        </p:txBody>
      </p:sp>
      <p:sp>
        <p:nvSpPr>
          <p:cNvPr id="10" name="Shape 8"/>
          <p:cNvSpPr/>
          <p:nvPr/>
        </p:nvSpPr>
        <p:spPr>
          <a:xfrm>
            <a:off x="365760" y="1298448"/>
            <a:ext cx="3703320" cy="530352"/>
          </a:xfrm>
          <a:prstGeom prst="rect">
            <a:avLst/>
          </a:prstGeom>
          <a:solidFill>
            <a:srgbClr val="E2E8F0"/>
          </a:solidFill>
          <a:ln/>
          <a:effectLst>
            <a:outerShdw blurRad="101600" dist="38100" dir="8100000" algn="bl" rotWithShape="0">
              <a:srgbClr val="000000">
                <a:alpha val="18000"/>
              </a:srgbClr>
            </a:outerShdw>
          </a:effectLst>
        </p:spPr>
        <p:txBody>
          <a:bodyPr/>
          <a:lstStyle/>
          <a:p>
            <a:endParaRPr lang="fr-TN"/>
          </a:p>
        </p:txBody>
      </p:sp>
      <p:sp>
        <p:nvSpPr>
          <p:cNvPr id="11" name="Text 9"/>
          <p:cNvSpPr/>
          <p:nvPr/>
        </p:nvSpPr>
        <p:spPr>
          <a:xfrm>
            <a:off x="365760" y="1298448"/>
            <a:ext cx="3703320" cy="530352"/>
          </a:xfrm>
          <a:prstGeom prst="rect">
            <a:avLst/>
          </a:prstGeom>
          <a:noFill/>
          <a:ln/>
        </p:spPr>
        <p:txBody>
          <a:bodyPr wrap="square" lIns="0" tIns="0" rIns="0" bIns="0" rtlCol="0" anchor="ctr"/>
          <a:lstStyle/>
          <a:p>
            <a:pPr marL="0" indent="0" algn="ctr">
              <a:buNone/>
            </a:pPr>
            <a:r>
              <a:rPr lang="en-US" sz="1000" b="1" dirty="0">
                <a:solidFill>
                  <a:srgbClr val="000000"/>
                </a:solidFill>
              </a:rPr>
              <a:t>Input Embeddings + Positional Encoding</a:t>
            </a:r>
            <a:endParaRPr lang="en-US" sz="1000" dirty="0"/>
          </a:p>
        </p:txBody>
      </p:sp>
      <p:sp>
        <p:nvSpPr>
          <p:cNvPr id="12" name="Shape 10"/>
          <p:cNvSpPr/>
          <p:nvPr/>
        </p:nvSpPr>
        <p:spPr>
          <a:xfrm>
            <a:off x="365760" y="1956816"/>
            <a:ext cx="3703320" cy="530352"/>
          </a:xfrm>
          <a:prstGeom prst="rect">
            <a:avLst/>
          </a:prstGeom>
          <a:solidFill>
            <a:srgbClr val="0891B2"/>
          </a:solidFill>
          <a:ln/>
          <a:effectLst>
            <a:outerShdw blurRad="101600" dist="38100" dir="8100000" algn="bl" rotWithShape="0">
              <a:srgbClr val="000000">
                <a:alpha val="18000"/>
              </a:srgbClr>
            </a:outerShdw>
          </a:effectLst>
        </p:spPr>
        <p:txBody>
          <a:bodyPr/>
          <a:lstStyle/>
          <a:p>
            <a:endParaRPr lang="fr-TN"/>
          </a:p>
        </p:txBody>
      </p:sp>
      <p:sp>
        <p:nvSpPr>
          <p:cNvPr id="13" name="Text 11"/>
          <p:cNvSpPr/>
          <p:nvPr/>
        </p:nvSpPr>
        <p:spPr>
          <a:xfrm>
            <a:off x="365760" y="1956816"/>
            <a:ext cx="3703320" cy="530352"/>
          </a:xfrm>
          <a:prstGeom prst="rect">
            <a:avLst/>
          </a:prstGeom>
          <a:noFill/>
          <a:ln/>
        </p:spPr>
        <p:txBody>
          <a:bodyPr wrap="square" lIns="0" tIns="0" rIns="0" bIns="0" rtlCol="0" anchor="ctr"/>
          <a:lstStyle/>
          <a:p>
            <a:pPr marL="0" indent="0" algn="ctr">
              <a:buNone/>
            </a:pPr>
            <a:r>
              <a:rPr lang="en-US" sz="1000" b="1" dirty="0">
                <a:solidFill>
                  <a:srgbClr val="FFFFFF"/>
                </a:solidFill>
              </a:rPr>
              <a:t>Multi-Head Self-Attention</a:t>
            </a:r>
            <a:endParaRPr lang="en-US" sz="1000" dirty="0"/>
          </a:p>
        </p:txBody>
      </p:sp>
      <p:sp>
        <p:nvSpPr>
          <p:cNvPr id="14" name="Shape 12"/>
          <p:cNvSpPr/>
          <p:nvPr/>
        </p:nvSpPr>
        <p:spPr>
          <a:xfrm>
            <a:off x="365760" y="2615184"/>
            <a:ext cx="3703320" cy="530352"/>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a:lstStyle/>
          <a:p>
            <a:endParaRPr lang="fr-TN" dirty="0"/>
          </a:p>
        </p:txBody>
      </p:sp>
      <p:sp>
        <p:nvSpPr>
          <p:cNvPr id="15" name="Text 13"/>
          <p:cNvSpPr/>
          <p:nvPr/>
        </p:nvSpPr>
        <p:spPr>
          <a:xfrm>
            <a:off x="365760" y="2615184"/>
            <a:ext cx="3703320" cy="530352"/>
          </a:xfrm>
          <a:prstGeom prst="rect">
            <a:avLst/>
          </a:prstGeom>
          <a:noFill/>
          <a:ln/>
        </p:spPr>
        <p:txBody>
          <a:bodyPr wrap="square" lIns="0" tIns="0" rIns="0" bIns="0" rtlCol="0" anchor="ctr"/>
          <a:lstStyle/>
          <a:p>
            <a:pPr marL="0" indent="0" algn="ctr">
              <a:buNone/>
            </a:pPr>
            <a:r>
              <a:rPr lang="en-US" sz="1000" b="1" dirty="0">
                <a:solidFill>
                  <a:srgbClr val="FFFFFF"/>
                </a:solidFill>
              </a:rPr>
              <a:t>Add &amp; Norm (Residual Connection)</a:t>
            </a:r>
            <a:endParaRPr lang="en-US" sz="1000" dirty="0"/>
          </a:p>
        </p:txBody>
      </p:sp>
      <p:sp>
        <p:nvSpPr>
          <p:cNvPr id="16" name="Shape 14"/>
          <p:cNvSpPr/>
          <p:nvPr/>
        </p:nvSpPr>
        <p:spPr>
          <a:xfrm>
            <a:off x="365760" y="3273552"/>
            <a:ext cx="3703320" cy="530352"/>
          </a:xfrm>
          <a:prstGeom prst="rect">
            <a:avLst/>
          </a:prstGeom>
          <a:solidFill>
            <a:srgbClr val="0891B2"/>
          </a:solidFill>
          <a:ln/>
          <a:effectLst>
            <a:outerShdw blurRad="101600" dist="38100" dir="8100000" algn="bl" rotWithShape="0">
              <a:srgbClr val="000000">
                <a:alpha val="18000"/>
              </a:srgbClr>
            </a:outerShdw>
          </a:effectLst>
        </p:spPr>
        <p:txBody>
          <a:bodyPr/>
          <a:lstStyle/>
          <a:p>
            <a:endParaRPr lang="fr-TN"/>
          </a:p>
        </p:txBody>
      </p:sp>
      <p:sp>
        <p:nvSpPr>
          <p:cNvPr id="17" name="Text 15"/>
          <p:cNvSpPr/>
          <p:nvPr/>
        </p:nvSpPr>
        <p:spPr>
          <a:xfrm>
            <a:off x="365760" y="3273552"/>
            <a:ext cx="3703320" cy="530352"/>
          </a:xfrm>
          <a:prstGeom prst="rect">
            <a:avLst/>
          </a:prstGeom>
          <a:noFill/>
          <a:ln/>
        </p:spPr>
        <p:txBody>
          <a:bodyPr wrap="square" lIns="0" tIns="0" rIns="0" bIns="0" rtlCol="0" anchor="ctr"/>
          <a:lstStyle/>
          <a:p>
            <a:pPr marL="0" indent="0" algn="ctr">
              <a:buNone/>
            </a:pPr>
            <a:r>
              <a:rPr lang="en-US" sz="1000" b="1" dirty="0">
                <a:solidFill>
                  <a:srgbClr val="FFFFFF"/>
                </a:solidFill>
              </a:rPr>
              <a:t>Feed-Forward Network (2 linear layers + ReLU)</a:t>
            </a:r>
            <a:endParaRPr lang="en-US" sz="1000" dirty="0"/>
          </a:p>
        </p:txBody>
      </p:sp>
      <p:sp>
        <p:nvSpPr>
          <p:cNvPr id="18" name="Shape 16"/>
          <p:cNvSpPr/>
          <p:nvPr/>
        </p:nvSpPr>
        <p:spPr>
          <a:xfrm>
            <a:off x="365760" y="3931920"/>
            <a:ext cx="3703320" cy="530352"/>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a:lstStyle/>
          <a:p>
            <a:endParaRPr lang="fr-TN"/>
          </a:p>
        </p:txBody>
      </p:sp>
      <p:sp>
        <p:nvSpPr>
          <p:cNvPr id="19" name="Text 17"/>
          <p:cNvSpPr/>
          <p:nvPr/>
        </p:nvSpPr>
        <p:spPr>
          <a:xfrm>
            <a:off x="365760" y="3931920"/>
            <a:ext cx="3703320" cy="530352"/>
          </a:xfrm>
          <a:prstGeom prst="rect">
            <a:avLst/>
          </a:prstGeom>
          <a:noFill/>
          <a:ln/>
        </p:spPr>
        <p:txBody>
          <a:bodyPr wrap="square" lIns="0" tIns="0" rIns="0" bIns="0" rtlCol="0" anchor="ctr"/>
          <a:lstStyle/>
          <a:p>
            <a:pPr marL="0" indent="0" algn="ctr">
              <a:buNone/>
            </a:pPr>
            <a:r>
              <a:rPr lang="en-US" sz="1000" b="1" dirty="0">
                <a:solidFill>
                  <a:srgbClr val="FFFFFF"/>
                </a:solidFill>
              </a:rPr>
              <a:t>Add &amp; Norm (Residual Connection)</a:t>
            </a:r>
            <a:endParaRPr lang="en-US" sz="1000" dirty="0"/>
          </a:p>
        </p:txBody>
      </p:sp>
      <p:sp>
        <p:nvSpPr>
          <p:cNvPr id="20" name="Text 18"/>
          <p:cNvSpPr/>
          <p:nvPr/>
        </p:nvSpPr>
        <p:spPr>
          <a:xfrm>
            <a:off x="274320" y="4626864"/>
            <a:ext cx="3931920" cy="228600"/>
          </a:xfrm>
          <a:prstGeom prst="rect">
            <a:avLst/>
          </a:prstGeom>
          <a:noFill/>
          <a:ln/>
        </p:spPr>
        <p:txBody>
          <a:bodyPr wrap="square" rtlCol="0" anchor="ctr"/>
          <a:lstStyle/>
          <a:p>
            <a:pPr marL="0" indent="0" algn="ctr">
              <a:buNone/>
            </a:pPr>
            <a:r>
              <a:rPr lang="en-US" sz="950" i="1" dirty="0">
                <a:solidFill>
                  <a:srgbClr val="64748B"/>
                </a:solidFill>
              </a:rPr>
              <a:t>× N layers (N=6 in original)</a:t>
            </a:r>
            <a:endParaRPr lang="en-US" sz="950" dirty="0"/>
          </a:p>
        </p:txBody>
      </p:sp>
      <p:sp>
        <p:nvSpPr>
          <p:cNvPr id="21" name="Shape 19"/>
          <p:cNvSpPr/>
          <p:nvPr/>
        </p:nvSpPr>
        <p:spPr>
          <a:xfrm>
            <a:off x="4480560" y="804672"/>
            <a:ext cx="4389120" cy="41148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2" name="Shape 20"/>
          <p:cNvSpPr/>
          <p:nvPr/>
        </p:nvSpPr>
        <p:spPr>
          <a:xfrm>
            <a:off x="4480560" y="804672"/>
            <a:ext cx="4389120" cy="384048"/>
          </a:xfrm>
          <a:prstGeom prst="rect">
            <a:avLst/>
          </a:prstGeom>
          <a:solidFill>
            <a:srgbClr val="8B5CF6"/>
          </a:solidFill>
          <a:ln/>
        </p:spPr>
        <p:txBody>
          <a:bodyPr/>
          <a:lstStyle/>
          <a:p>
            <a:endParaRPr lang="fr-TN"/>
          </a:p>
        </p:txBody>
      </p:sp>
      <p:sp>
        <p:nvSpPr>
          <p:cNvPr id="23" name="Text 21"/>
          <p:cNvSpPr/>
          <p:nvPr/>
        </p:nvSpPr>
        <p:spPr>
          <a:xfrm>
            <a:off x="4480560" y="804672"/>
            <a:ext cx="4389120" cy="384048"/>
          </a:xfrm>
          <a:prstGeom prst="rect">
            <a:avLst/>
          </a:prstGeom>
          <a:noFill/>
          <a:ln/>
        </p:spPr>
        <p:txBody>
          <a:bodyPr wrap="square" lIns="0" tIns="0" rIns="0" bIns="0" rtlCol="0" anchor="ctr"/>
          <a:lstStyle/>
          <a:p>
            <a:pPr marL="0" indent="0" algn="ctr">
              <a:buNone/>
            </a:pPr>
            <a:r>
              <a:rPr lang="en-US" sz="1400" b="1" dirty="0">
                <a:solidFill>
                  <a:srgbClr val="FFFFFF"/>
                </a:solidFill>
              </a:rPr>
              <a:t>DECODER</a:t>
            </a:r>
            <a:endParaRPr lang="en-US" sz="1400" dirty="0"/>
          </a:p>
        </p:txBody>
      </p:sp>
      <p:sp>
        <p:nvSpPr>
          <p:cNvPr id="24" name="Shape 22"/>
          <p:cNvSpPr/>
          <p:nvPr/>
        </p:nvSpPr>
        <p:spPr>
          <a:xfrm>
            <a:off x="4617720" y="1298448"/>
            <a:ext cx="4114800" cy="530352"/>
          </a:xfrm>
          <a:prstGeom prst="rect">
            <a:avLst/>
          </a:prstGeom>
          <a:solidFill>
            <a:srgbClr val="E2E8F0"/>
          </a:solidFill>
          <a:ln/>
          <a:effectLst>
            <a:outerShdw blurRad="101600" dist="38100" dir="8100000" algn="bl" rotWithShape="0">
              <a:srgbClr val="000000">
                <a:alpha val="18000"/>
              </a:srgbClr>
            </a:outerShdw>
          </a:effectLst>
        </p:spPr>
        <p:txBody>
          <a:bodyPr/>
          <a:lstStyle/>
          <a:p>
            <a:endParaRPr lang="fr-TN"/>
          </a:p>
        </p:txBody>
      </p:sp>
      <p:sp>
        <p:nvSpPr>
          <p:cNvPr id="25" name="Text 23"/>
          <p:cNvSpPr/>
          <p:nvPr/>
        </p:nvSpPr>
        <p:spPr>
          <a:xfrm>
            <a:off x="4617720" y="1298448"/>
            <a:ext cx="4114800" cy="530352"/>
          </a:xfrm>
          <a:prstGeom prst="rect">
            <a:avLst/>
          </a:prstGeom>
          <a:noFill/>
          <a:ln/>
        </p:spPr>
        <p:txBody>
          <a:bodyPr wrap="square" lIns="0" tIns="0" rIns="0" bIns="0" rtlCol="0" anchor="ctr"/>
          <a:lstStyle/>
          <a:p>
            <a:pPr marL="0" indent="0" algn="ctr">
              <a:buNone/>
            </a:pPr>
            <a:r>
              <a:rPr lang="en-US" sz="950" b="1" dirty="0">
                <a:solidFill>
                  <a:srgbClr val="000000"/>
                </a:solidFill>
              </a:rPr>
              <a:t>Output Embeddings + Positional Encoding</a:t>
            </a:r>
            <a:endParaRPr lang="en-US" sz="950" dirty="0"/>
          </a:p>
        </p:txBody>
      </p:sp>
      <p:sp>
        <p:nvSpPr>
          <p:cNvPr id="26" name="Shape 24"/>
          <p:cNvSpPr/>
          <p:nvPr/>
        </p:nvSpPr>
        <p:spPr>
          <a:xfrm>
            <a:off x="4617720" y="1956816"/>
            <a:ext cx="4114800" cy="530352"/>
          </a:xfrm>
          <a:prstGeom prst="rect">
            <a:avLst/>
          </a:prstGeom>
          <a:solidFill>
            <a:srgbClr val="8B5CF6"/>
          </a:solidFill>
          <a:ln/>
          <a:effectLst>
            <a:outerShdw blurRad="101600" dist="38100" dir="8100000" algn="bl" rotWithShape="0">
              <a:srgbClr val="000000">
                <a:alpha val="18000"/>
              </a:srgbClr>
            </a:outerShdw>
          </a:effectLst>
        </p:spPr>
        <p:txBody>
          <a:bodyPr/>
          <a:lstStyle/>
          <a:p>
            <a:endParaRPr lang="fr-TN"/>
          </a:p>
        </p:txBody>
      </p:sp>
      <p:sp>
        <p:nvSpPr>
          <p:cNvPr id="27" name="Text 25"/>
          <p:cNvSpPr/>
          <p:nvPr/>
        </p:nvSpPr>
        <p:spPr>
          <a:xfrm>
            <a:off x="4617720" y="1956816"/>
            <a:ext cx="4114800" cy="530352"/>
          </a:xfrm>
          <a:prstGeom prst="rect">
            <a:avLst/>
          </a:prstGeom>
          <a:noFill/>
          <a:ln/>
        </p:spPr>
        <p:txBody>
          <a:bodyPr wrap="square" lIns="0" tIns="0" rIns="0" bIns="0" rtlCol="0" anchor="ctr"/>
          <a:lstStyle/>
          <a:p>
            <a:pPr marL="0" indent="0" algn="ctr">
              <a:buNone/>
            </a:pPr>
            <a:r>
              <a:rPr lang="en-US" sz="950" b="1" dirty="0">
                <a:solidFill>
                  <a:srgbClr val="FFFFFF"/>
                </a:solidFill>
              </a:rPr>
              <a:t>Masked Multi-Head Self-Attention</a:t>
            </a:r>
            <a:endParaRPr lang="en-US" sz="950" dirty="0"/>
          </a:p>
        </p:txBody>
      </p:sp>
      <p:sp>
        <p:nvSpPr>
          <p:cNvPr id="28" name="Shape 26"/>
          <p:cNvSpPr/>
          <p:nvPr/>
        </p:nvSpPr>
        <p:spPr>
          <a:xfrm>
            <a:off x="4617720" y="2615184"/>
            <a:ext cx="4114800" cy="530352"/>
          </a:xfrm>
          <a:prstGeom prst="rect">
            <a:avLst/>
          </a:prstGeom>
          <a:solidFill>
            <a:srgbClr val="EDE9FE"/>
          </a:solidFill>
          <a:ln/>
          <a:effectLst>
            <a:outerShdw blurRad="101600" dist="38100" dir="8100000" algn="bl" rotWithShape="0">
              <a:srgbClr val="000000">
                <a:alpha val="18000"/>
              </a:srgbClr>
            </a:outerShdw>
          </a:effectLst>
        </p:spPr>
        <p:txBody>
          <a:bodyPr/>
          <a:lstStyle/>
          <a:p>
            <a:endParaRPr lang="fr-TN"/>
          </a:p>
        </p:txBody>
      </p:sp>
      <p:sp>
        <p:nvSpPr>
          <p:cNvPr id="29" name="Text 27"/>
          <p:cNvSpPr/>
          <p:nvPr/>
        </p:nvSpPr>
        <p:spPr>
          <a:xfrm>
            <a:off x="4617720" y="2615184"/>
            <a:ext cx="4114800" cy="530352"/>
          </a:xfrm>
          <a:prstGeom prst="rect">
            <a:avLst/>
          </a:prstGeom>
          <a:noFill/>
          <a:ln/>
        </p:spPr>
        <p:txBody>
          <a:bodyPr wrap="square" lIns="0" tIns="0" rIns="0" bIns="0" rtlCol="0" anchor="ctr"/>
          <a:lstStyle/>
          <a:p>
            <a:pPr marL="0" indent="0" algn="ctr">
              <a:buNone/>
            </a:pPr>
            <a:r>
              <a:rPr lang="en-US" sz="950" b="1" dirty="0">
                <a:solidFill>
                  <a:srgbClr val="000000"/>
                </a:solidFill>
              </a:rPr>
              <a:t>Add &amp; Norm</a:t>
            </a:r>
            <a:endParaRPr lang="en-US" sz="950" dirty="0"/>
          </a:p>
        </p:txBody>
      </p:sp>
      <p:sp>
        <p:nvSpPr>
          <p:cNvPr id="30" name="Shape 28"/>
          <p:cNvSpPr/>
          <p:nvPr/>
        </p:nvSpPr>
        <p:spPr>
          <a:xfrm>
            <a:off x="4617720" y="3273552"/>
            <a:ext cx="4114800" cy="530352"/>
          </a:xfrm>
          <a:prstGeom prst="rect">
            <a:avLst/>
          </a:prstGeom>
          <a:solidFill>
            <a:srgbClr val="0891B2"/>
          </a:solidFill>
          <a:ln/>
          <a:effectLst>
            <a:outerShdw blurRad="101600" dist="38100" dir="8100000" algn="bl" rotWithShape="0">
              <a:srgbClr val="000000">
                <a:alpha val="18000"/>
              </a:srgbClr>
            </a:outerShdw>
          </a:effectLst>
        </p:spPr>
        <p:txBody>
          <a:bodyPr/>
          <a:lstStyle/>
          <a:p>
            <a:endParaRPr lang="fr-TN"/>
          </a:p>
        </p:txBody>
      </p:sp>
      <p:sp>
        <p:nvSpPr>
          <p:cNvPr id="31" name="Text 29"/>
          <p:cNvSpPr/>
          <p:nvPr/>
        </p:nvSpPr>
        <p:spPr>
          <a:xfrm>
            <a:off x="4617720" y="3273552"/>
            <a:ext cx="4114800" cy="530352"/>
          </a:xfrm>
          <a:prstGeom prst="rect">
            <a:avLst/>
          </a:prstGeom>
          <a:noFill/>
          <a:ln/>
        </p:spPr>
        <p:txBody>
          <a:bodyPr wrap="square" lIns="0" tIns="0" rIns="0" bIns="0" rtlCol="0" anchor="ctr"/>
          <a:lstStyle/>
          <a:p>
            <a:pPr marL="0" indent="0" algn="ctr">
              <a:buNone/>
            </a:pPr>
            <a:r>
              <a:rPr lang="en-US" sz="950" b="1" dirty="0">
                <a:solidFill>
                  <a:srgbClr val="FFFFFF"/>
                </a:solidFill>
              </a:rPr>
              <a:t>Cross-Attention (queries from decoder,</a:t>
            </a:r>
            <a:endParaRPr lang="en-US" sz="950" dirty="0"/>
          </a:p>
          <a:p>
            <a:pPr marL="0" indent="0" algn="ctr">
              <a:buNone/>
            </a:pPr>
            <a:r>
              <a:rPr lang="en-US" sz="950" b="1" dirty="0">
                <a:solidFill>
                  <a:srgbClr val="FFFFFF"/>
                </a:solidFill>
              </a:rPr>
              <a:t>keys/values from encoder)</a:t>
            </a:r>
            <a:endParaRPr lang="en-US" sz="950" dirty="0"/>
          </a:p>
        </p:txBody>
      </p:sp>
      <p:sp>
        <p:nvSpPr>
          <p:cNvPr id="32" name="Shape 30"/>
          <p:cNvSpPr/>
          <p:nvPr/>
        </p:nvSpPr>
        <p:spPr>
          <a:xfrm>
            <a:off x="4617720" y="3931920"/>
            <a:ext cx="4114800" cy="530352"/>
          </a:xfrm>
          <a:prstGeom prst="rect">
            <a:avLst/>
          </a:prstGeom>
          <a:solidFill>
            <a:srgbClr val="EDE9FE"/>
          </a:solidFill>
          <a:ln/>
          <a:effectLst>
            <a:outerShdw blurRad="101600" dist="38100" dir="8100000" algn="bl" rotWithShape="0">
              <a:srgbClr val="000000">
                <a:alpha val="18000"/>
              </a:srgbClr>
            </a:outerShdw>
          </a:effectLst>
        </p:spPr>
        <p:txBody>
          <a:bodyPr/>
          <a:lstStyle/>
          <a:p>
            <a:endParaRPr lang="fr-TN"/>
          </a:p>
        </p:txBody>
      </p:sp>
      <p:sp>
        <p:nvSpPr>
          <p:cNvPr id="33" name="Text 31"/>
          <p:cNvSpPr/>
          <p:nvPr/>
        </p:nvSpPr>
        <p:spPr>
          <a:xfrm>
            <a:off x="4617720" y="3931920"/>
            <a:ext cx="4114800" cy="530352"/>
          </a:xfrm>
          <a:prstGeom prst="rect">
            <a:avLst/>
          </a:prstGeom>
          <a:noFill/>
          <a:ln/>
        </p:spPr>
        <p:txBody>
          <a:bodyPr wrap="square" lIns="0" tIns="0" rIns="0" bIns="0" rtlCol="0" anchor="ctr"/>
          <a:lstStyle/>
          <a:p>
            <a:pPr marL="0" indent="0" algn="ctr">
              <a:buNone/>
            </a:pPr>
            <a:r>
              <a:rPr lang="en-US" sz="950" b="1" dirty="0">
                <a:solidFill>
                  <a:srgbClr val="000000"/>
                </a:solidFill>
              </a:rPr>
              <a:t>Add &amp; Norm → FFN → Add &amp; Norm</a:t>
            </a:r>
            <a:endParaRPr lang="en-US" sz="950" dirty="0"/>
          </a:p>
        </p:txBody>
      </p:sp>
      <p:sp>
        <p:nvSpPr>
          <p:cNvPr id="34" name="Text 32"/>
          <p:cNvSpPr/>
          <p:nvPr/>
        </p:nvSpPr>
        <p:spPr>
          <a:xfrm>
            <a:off x="4480560" y="4626864"/>
            <a:ext cx="4297680" cy="228600"/>
          </a:xfrm>
          <a:prstGeom prst="rect">
            <a:avLst/>
          </a:prstGeom>
          <a:noFill/>
          <a:ln/>
        </p:spPr>
        <p:txBody>
          <a:bodyPr wrap="square" rtlCol="0" anchor="ctr"/>
          <a:lstStyle/>
          <a:p>
            <a:pPr marL="0" indent="0" algn="ctr">
              <a:buNone/>
            </a:pPr>
            <a:r>
              <a:rPr lang="en-US" sz="950" i="1" dirty="0">
                <a:solidFill>
                  <a:srgbClr val="64748B"/>
                </a:solidFill>
              </a:rPr>
              <a:t>× N layers (N=6 in original)</a:t>
            </a:r>
            <a:endParaRPr lang="en-US" sz="950" dirty="0"/>
          </a:p>
        </p:txBody>
      </p:sp>
      <p:sp>
        <p:nvSpPr>
          <p:cNvPr id="35" name="Shape 33"/>
          <p:cNvSpPr/>
          <p:nvPr/>
        </p:nvSpPr>
        <p:spPr>
          <a:xfrm>
            <a:off x="4224528" y="2286000"/>
            <a:ext cx="256032" cy="73152"/>
          </a:xfrm>
          <a:prstGeom prst="rect">
            <a:avLst/>
          </a:prstGeom>
          <a:solidFill>
            <a:srgbClr val="F59E0B"/>
          </a:solidFill>
          <a:ln/>
        </p:spPr>
        <p:txBody>
          <a:bodyPr/>
          <a:lstStyle/>
          <a:p>
            <a:endParaRPr lang="fr-TN"/>
          </a:p>
        </p:txBody>
      </p:sp>
      <p:sp>
        <p:nvSpPr>
          <p:cNvPr id="36" name="Text 34"/>
          <p:cNvSpPr/>
          <p:nvPr/>
        </p:nvSpPr>
        <p:spPr>
          <a:xfrm>
            <a:off x="4151376" y="2148840"/>
            <a:ext cx="365760" cy="320040"/>
          </a:xfrm>
          <a:prstGeom prst="rect">
            <a:avLst/>
          </a:prstGeom>
          <a:noFill/>
          <a:ln/>
        </p:spPr>
        <p:txBody>
          <a:bodyPr wrap="square" rtlCol="0" anchor="ctr"/>
          <a:lstStyle/>
          <a:p>
            <a:pPr marL="0" indent="0" algn="ctr">
              <a:buNone/>
            </a:pPr>
            <a:r>
              <a:rPr lang="en-US" sz="1800" b="1" dirty="0">
                <a:solidFill>
                  <a:srgbClr val="F59E0B"/>
                </a:solidFill>
              </a:rPr>
              <a: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Positional Encoding, FFN, Layer Norm &amp; Residuals</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3</a:t>
            </a:r>
            <a:endParaRPr lang="en-US" sz="900" dirty="0"/>
          </a:p>
        </p:txBody>
      </p:sp>
      <p:sp>
        <p:nvSpPr>
          <p:cNvPr id="7" name="Shape 5"/>
          <p:cNvSpPr/>
          <p:nvPr/>
        </p:nvSpPr>
        <p:spPr>
          <a:xfrm>
            <a:off x="228600" y="804672"/>
            <a:ext cx="2743200" cy="41605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04672"/>
            <a:ext cx="2743200" cy="384048"/>
          </a:xfrm>
          <a:prstGeom prst="rect">
            <a:avLst/>
          </a:prstGeom>
          <a:solidFill>
            <a:srgbClr val="F59E0B"/>
          </a:solidFill>
          <a:ln/>
        </p:spPr>
        <p:txBody>
          <a:bodyPr/>
          <a:lstStyle/>
          <a:p>
            <a:endParaRPr lang="fr-TN"/>
          </a:p>
        </p:txBody>
      </p:sp>
      <p:sp>
        <p:nvSpPr>
          <p:cNvPr id="9" name="Text 7"/>
          <p:cNvSpPr/>
          <p:nvPr/>
        </p:nvSpPr>
        <p:spPr>
          <a:xfrm>
            <a:off x="320040" y="804672"/>
            <a:ext cx="2560320" cy="384048"/>
          </a:xfrm>
          <a:prstGeom prst="rect">
            <a:avLst/>
          </a:prstGeom>
          <a:noFill/>
          <a:ln/>
        </p:spPr>
        <p:txBody>
          <a:bodyPr wrap="square" lIns="0" tIns="0" rIns="0" bIns="0" rtlCol="0" anchor="ctr"/>
          <a:lstStyle/>
          <a:p>
            <a:pPr marL="0" indent="0">
              <a:buNone/>
            </a:pPr>
            <a:r>
              <a:rPr lang="en-US" sz="1200" b="1" dirty="0">
                <a:solidFill>
                  <a:srgbClr val="FFFFFF"/>
                </a:solidFill>
              </a:rPr>
              <a:t>Positional Encoding</a:t>
            </a:r>
            <a:endParaRPr lang="en-US" sz="1200" dirty="0"/>
          </a:p>
        </p:txBody>
      </p:sp>
      <p:sp>
        <p:nvSpPr>
          <p:cNvPr id="10" name="Text 8"/>
          <p:cNvSpPr/>
          <p:nvPr/>
        </p:nvSpPr>
        <p:spPr>
          <a:xfrm>
            <a:off x="320040" y="1261872"/>
            <a:ext cx="2560320" cy="3611880"/>
          </a:xfrm>
          <a:prstGeom prst="rect">
            <a:avLst/>
          </a:prstGeom>
          <a:noFill/>
          <a:ln/>
        </p:spPr>
        <p:txBody>
          <a:bodyPr wrap="square" rtlCol="0" anchor="ctr"/>
          <a:lstStyle/>
          <a:p>
            <a:pPr marL="0" indent="0">
              <a:buNone/>
            </a:pPr>
            <a:r>
              <a:rPr lang="en-US" sz="1000" dirty="0">
                <a:solidFill>
                  <a:srgbClr val="0D1B2A"/>
                </a:solidFill>
              </a:rPr>
              <a:t>Transformers have no built-in sequence order awareness (unlike RNNs).</a:t>
            </a:r>
            <a:endParaRPr lang="en-US" sz="1000" dirty="0"/>
          </a:p>
          <a:p>
            <a:pPr marL="0" indent="0">
              <a:buNone/>
            </a:pPr>
            <a:endParaRPr lang="en-US" sz="1000" dirty="0"/>
          </a:p>
          <a:p>
            <a:pPr marL="0" indent="0">
              <a:buNone/>
            </a:pPr>
            <a:r>
              <a:rPr lang="en-US" sz="1000" dirty="0">
                <a:solidFill>
                  <a:srgbClr val="0D1B2A"/>
                </a:solidFill>
              </a:rPr>
              <a:t>Formula: PE(pos,2i) = sin(pos/10000^(2i/dmodel))</a:t>
            </a:r>
            <a:endParaRPr lang="en-US" sz="1000" dirty="0"/>
          </a:p>
          <a:p>
            <a:pPr marL="0" indent="0">
              <a:buNone/>
            </a:pPr>
            <a:r>
              <a:rPr lang="en-US" sz="1000" dirty="0">
                <a:solidFill>
                  <a:srgbClr val="0D1B2A"/>
                </a:solidFill>
              </a:rPr>
              <a:t>           PE(pos,2i+1) = cos(...)</a:t>
            </a:r>
            <a:endParaRPr lang="en-US" sz="1000" dirty="0"/>
          </a:p>
          <a:p>
            <a:pPr marL="0" indent="0">
              <a:buNone/>
            </a:pPr>
            <a:endParaRPr lang="en-US" sz="1000" dirty="0"/>
          </a:p>
          <a:p>
            <a:pPr marL="0" indent="0">
              <a:buNone/>
            </a:pPr>
            <a:r>
              <a:rPr lang="en-US" sz="1000" dirty="0">
                <a:solidFill>
                  <a:srgbClr val="0D1B2A"/>
                </a:solidFill>
              </a:rPr>
              <a:t>Added directly to token embeddings. Gives the model information about the relative and absolute position of each token.</a:t>
            </a:r>
            <a:endParaRPr lang="en-US" sz="1000" dirty="0"/>
          </a:p>
        </p:txBody>
      </p:sp>
      <p:sp>
        <p:nvSpPr>
          <p:cNvPr id="11" name="Shape 9"/>
          <p:cNvSpPr/>
          <p:nvPr/>
        </p:nvSpPr>
        <p:spPr>
          <a:xfrm>
            <a:off x="3154680" y="804672"/>
            <a:ext cx="2743200" cy="41605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2" name="Shape 10"/>
          <p:cNvSpPr/>
          <p:nvPr/>
        </p:nvSpPr>
        <p:spPr>
          <a:xfrm>
            <a:off x="3154680" y="804672"/>
            <a:ext cx="2743200" cy="384048"/>
          </a:xfrm>
          <a:prstGeom prst="rect">
            <a:avLst/>
          </a:prstGeom>
          <a:solidFill>
            <a:srgbClr val="8B5CF6"/>
          </a:solidFill>
          <a:ln/>
        </p:spPr>
        <p:txBody>
          <a:bodyPr/>
          <a:lstStyle/>
          <a:p>
            <a:endParaRPr lang="fr-TN"/>
          </a:p>
        </p:txBody>
      </p:sp>
      <p:sp>
        <p:nvSpPr>
          <p:cNvPr id="13" name="Text 11"/>
          <p:cNvSpPr/>
          <p:nvPr/>
        </p:nvSpPr>
        <p:spPr>
          <a:xfrm>
            <a:off x="3246120" y="804672"/>
            <a:ext cx="2560320" cy="384048"/>
          </a:xfrm>
          <a:prstGeom prst="rect">
            <a:avLst/>
          </a:prstGeom>
          <a:noFill/>
          <a:ln/>
        </p:spPr>
        <p:txBody>
          <a:bodyPr wrap="square" lIns="0" tIns="0" rIns="0" bIns="0" rtlCol="0" anchor="ctr"/>
          <a:lstStyle/>
          <a:p>
            <a:pPr marL="0" indent="0">
              <a:buNone/>
            </a:pPr>
            <a:r>
              <a:rPr lang="en-US" sz="1200" b="1" dirty="0">
                <a:solidFill>
                  <a:srgbClr val="FFFFFF"/>
                </a:solidFill>
              </a:rPr>
              <a:t>Feed-Forward Network (FFN)</a:t>
            </a:r>
            <a:endParaRPr lang="en-US" sz="1200" dirty="0"/>
          </a:p>
        </p:txBody>
      </p:sp>
      <p:sp>
        <p:nvSpPr>
          <p:cNvPr id="14" name="Text 12"/>
          <p:cNvSpPr/>
          <p:nvPr/>
        </p:nvSpPr>
        <p:spPr>
          <a:xfrm>
            <a:off x="3246120" y="1261872"/>
            <a:ext cx="2560320" cy="3611880"/>
          </a:xfrm>
          <a:prstGeom prst="rect">
            <a:avLst/>
          </a:prstGeom>
          <a:noFill/>
          <a:ln/>
        </p:spPr>
        <p:txBody>
          <a:bodyPr wrap="square" rtlCol="0" anchor="ctr"/>
          <a:lstStyle/>
          <a:p>
            <a:pPr marL="0" indent="0">
              <a:buNone/>
            </a:pPr>
            <a:r>
              <a:rPr lang="en-US" sz="1000" dirty="0">
                <a:solidFill>
                  <a:srgbClr val="0D1B2A"/>
                </a:solidFill>
              </a:rPr>
              <a:t>Applied independently to each position after attention:</a:t>
            </a:r>
            <a:endParaRPr lang="en-US" sz="1000" dirty="0"/>
          </a:p>
          <a:p>
            <a:pPr marL="0" indent="0">
              <a:buNone/>
            </a:pPr>
            <a:endParaRPr lang="en-US" sz="1000" dirty="0"/>
          </a:p>
          <a:p>
            <a:pPr marL="0" indent="0">
              <a:buNone/>
            </a:pPr>
            <a:r>
              <a:rPr lang="en-US" sz="1000" dirty="0">
                <a:solidFill>
                  <a:srgbClr val="0D1B2A"/>
                </a:solidFill>
              </a:rPr>
              <a:t>FFN(x) = max(0, xW₁ + b₁) W₂ + b₂</a:t>
            </a:r>
            <a:endParaRPr lang="en-US" sz="1000" dirty="0"/>
          </a:p>
          <a:p>
            <a:pPr marL="0" indent="0">
              <a:buNone/>
            </a:pPr>
            <a:endParaRPr lang="en-US" sz="1000" dirty="0"/>
          </a:p>
          <a:p>
            <a:pPr marL="0" indent="0">
              <a:buNone/>
            </a:pPr>
            <a:r>
              <a:rPr lang="en-US" sz="1000" dirty="0">
                <a:solidFill>
                  <a:srgbClr val="0D1B2A"/>
                </a:solidFill>
              </a:rPr>
              <a:t>Two linear layers with ReLU non-linearity. Inner dim = 4× model dim (e.g. 512 → 2048 → 512). Adds capacity to transform representations.</a:t>
            </a:r>
            <a:endParaRPr lang="en-US" sz="1000" dirty="0"/>
          </a:p>
        </p:txBody>
      </p:sp>
      <p:sp>
        <p:nvSpPr>
          <p:cNvPr id="15" name="Shape 13"/>
          <p:cNvSpPr/>
          <p:nvPr/>
        </p:nvSpPr>
        <p:spPr>
          <a:xfrm>
            <a:off x="6080760" y="804672"/>
            <a:ext cx="2743200" cy="41605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6" name="Shape 14"/>
          <p:cNvSpPr/>
          <p:nvPr/>
        </p:nvSpPr>
        <p:spPr>
          <a:xfrm>
            <a:off x="6080760" y="804672"/>
            <a:ext cx="2743200" cy="384048"/>
          </a:xfrm>
          <a:prstGeom prst="rect">
            <a:avLst/>
          </a:prstGeom>
          <a:solidFill>
            <a:srgbClr val="10B981"/>
          </a:solidFill>
          <a:ln/>
        </p:spPr>
        <p:txBody>
          <a:bodyPr/>
          <a:lstStyle/>
          <a:p>
            <a:endParaRPr lang="fr-TN"/>
          </a:p>
        </p:txBody>
      </p:sp>
      <p:sp>
        <p:nvSpPr>
          <p:cNvPr id="17" name="Text 15"/>
          <p:cNvSpPr/>
          <p:nvPr/>
        </p:nvSpPr>
        <p:spPr>
          <a:xfrm>
            <a:off x="6172200" y="804672"/>
            <a:ext cx="2560320" cy="384048"/>
          </a:xfrm>
          <a:prstGeom prst="rect">
            <a:avLst/>
          </a:prstGeom>
          <a:noFill/>
          <a:ln/>
        </p:spPr>
        <p:txBody>
          <a:bodyPr wrap="square" lIns="0" tIns="0" rIns="0" bIns="0" rtlCol="0" anchor="ctr"/>
          <a:lstStyle/>
          <a:p>
            <a:pPr marL="0" indent="0">
              <a:buNone/>
            </a:pPr>
            <a:r>
              <a:rPr lang="en-US" sz="1200" b="1" dirty="0">
                <a:solidFill>
                  <a:srgbClr val="FFFFFF"/>
                </a:solidFill>
              </a:rPr>
              <a:t>Layer Norm + Residuals</a:t>
            </a:r>
            <a:endParaRPr lang="en-US" sz="1200" dirty="0"/>
          </a:p>
        </p:txBody>
      </p:sp>
      <p:sp>
        <p:nvSpPr>
          <p:cNvPr id="18" name="Text 16"/>
          <p:cNvSpPr/>
          <p:nvPr/>
        </p:nvSpPr>
        <p:spPr>
          <a:xfrm>
            <a:off x="6172200" y="1261872"/>
            <a:ext cx="2560320" cy="3611880"/>
          </a:xfrm>
          <a:prstGeom prst="rect">
            <a:avLst/>
          </a:prstGeom>
          <a:noFill/>
          <a:ln/>
        </p:spPr>
        <p:txBody>
          <a:bodyPr wrap="square" rtlCol="0" anchor="ctr"/>
          <a:lstStyle/>
          <a:p>
            <a:pPr marL="0" indent="0">
              <a:buNone/>
            </a:pPr>
            <a:r>
              <a:rPr lang="en-US" sz="1000" dirty="0">
                <a:solidFill>
                  <a:srgbClr val="0D1B2A"/>
                </a:solidFill>
              </a:rPr>
              <a:t>Residual Connection: Output = LayerNorm(x + Sublayer(x))</a:t>
            </a:r>
            <a:endParaRPr lang="en-US" sz="1000" dirty="0"/>
          </a:p>
          <a:p>
            <a:pPr marL="0" indent="0">
              <a:buNone/>
            </a:pPr>
            <a:endParaRPr lang="en-US" sz="1000" dirty="0"/>
          </a:p>
          <a:p>
            <a:pPr marL="0" indent="0">
              <a:buNone/>
            </a:pPr>
            <a:r>
              <a:rPr lang="en-US" sz="1000" dirty="0">
                <a:solidFill>
                  <a:srgbClr val="0D1B2A"/>
                </a:solidFill>
              </a:rPr>
              <a:t>• Residuals prevent vanishing gradients during deep training</a:t>
            </a:r>
            <a:endParaRPr lang="en-US" sz="1000" dirty="0"/>
          </a:p>
          <a:p>
            <a:pPr marL="0" indent="0">
              <a:buNone/>
            </a:pPr>
            <a:r>
              <a:rPr lang="en-US" sz="1000" dirty="0">
                <a:solidFill>
                  <a:srgbClr val="0D1B2A"/>
                </a:solidFill>
              </a:rPr>
              <a:t>• LayerNorm normalizes across features (not batch) — stable with variable-length sequences</a:t>
            </a:r>
            <a:endParaRPr lang="en-US" sz="1000" dirty="0"/>
          </a:p>
          <a:p>
            <a:pPr marL="0" indent="0">
              <a:buNone/>
            </a:pPr>
            <a:r>
              <a:rPr lang="en-US" sz="1000" dirty="0">
                <a:solidFill>
                  <a:srgbClr val="0D1B2A"/>
                </a:solidFill>
              </a:rPr>
              <a:t>• Applied after every sub-layer (attention + FFN)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04 · When to Use a Transformer vs LSTM / GRU / RNN</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4</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28600" y="822960"/>
          <a:ext cx="8686800" cy="4023360"/>
        </p:xfrm>
        <a:graphic>
          <a:graphicData uri="http://schemas.openxmlformats.org/drawingml/2006/table">
            <a:tbl>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02920">
                <a:tc>
                  <a:txBody>
                    <a:bodyPr/>
                    <a:lstStyle/>
                    <a:p>
                      <a:pPr marL="0" indent="0" algn="ctr">
                        <a:buNone/>
                      </a:pPr>
                      <a:r>
                        <a:rPr lang="en-US" sz="1100" b="1" dirty="0">
                          <a:solidFill>
                            <a:srgbClr val="FFFFFF"/>
                          </a:solidFill>
                        </a:rPr>
                        <a:t>Criterion</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RNN / LSTM / GRU</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4444"/>
                    </a:solidFill>
                  </a:tcPr>
                </a:tc>
                <a:tc>
                  <a:txBody>
                    <a:bodyPr/>
                    <a:lstStyle/>
                    <a:p>
                      <a:pPr marL="0" indent="0" algn="ctr">
                        <a:buNone/>
                      </a:pPr>
                      <a:r>
                        <a:rPr lang="en-US" sz="1100" b="1" dirty="0">
                          <a:solidFill>
                            <a:srgbClr val="FFFFFF"/>
                          </a:solidFill>
                        </a:rPr>
                        <a:t>Transformer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502920">
                <a:tc>
                  <a:txBody>
                    <a:bodyPr/>
                    <a:lstStyle/>
                    <a:p>
                      <a:pPr marL="0" indent="0" algn="ctr">
                        <a:buNone/>
                      </a:pPr>
                      <a:r>
                        <a:rPr lang="en-US" sz="1000" dirty="0">
                          <a:solidFill>
                            <a:srgbClr val="0D1B2A"/>
                          </a:solidFill>
                        </a:rPr>
                        <a:t>Dataset size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Works on small datasets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Needs large datasets (data-hungry attention)</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000" dirty="0">
                          <a:solidFill>
                            <a:srgbClr val="0D1B2A"/>
                          </a:solidFill>
                        </a:rPr>
                        <a:t>Sequence length</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l">
                        <a:buNone/>
                      </a:pPr>
                      <a:r>
                        <a:rPr lang="en-US" sz="1000" dirty="0">
                          <a:solidFill>
                            <a:srgbClr val="0D1B2A"/>
                          </a:solidFill>
                        </a:rPr>
                        <a:t>Practical up to ~500 tokens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l">
                        <a:buNone/>
                      </a:pPr>
                      <a:r>
                        <a:rPr lang="en-US" sz="1000" dirty="0">
                          <a:solidFill>
                            <a:srgbClr val="0D1B2A"/>
                          </a:solidFill>
                        </a:rPr>
                        <a:t>Excels on 500+ tokens (global attention)</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502920">
                <a:tc>
                  <a:txBody>
                    <a:bodyPr/>
                    <a:lstStyle/>
                    <a:p>
                      <a:pPr marL="0" indent="0" algn="ctr">
                        <a:buNone/>
                      </a:pPr>
                      <a:r>
                        <a:rPr lang="en-US" sz="1000" dirty="0">
                          <a:solidFill>
                            <a:srgbClr val="0D1B2A"/>
                          </a:solidFill>
                        </a:rPr>
                        <a:t>Training speed</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Slow (sequential, hard to parallelize)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Fast (full parallelism on GPU/TPU)</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000" dirty="0">
                          <a:solidFill>
                            <a:srgbClr val="0D1B2A"/>
                          </a:solidFill>
                        </a:rPr>
                        <a:t>Memory cost</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l">
                        <a:buNone/>
                      </a:pPr>
                      <a:r>
                        <a:rPr lang="en-US" sz="1000" dirty="0">
                          <a:solidFill>
                            <a:srgbClr val="0D1B2A"/>
                          </a:solidFill>
                        </a:rPr>
                        <a:t>O(n) – linear in sequence length</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l">
                        <a:buNone/>
                      </a:pPr>
                      <a:r>
                        <a:rPr lang="en-US" sz="1000" dirty="0">
                          <a:solidFill>
                            <a:srgbClr val="0D1B2A"/>
                          </a:solidFill>
                        </a:rPr>
                        <a:t>O(n²) – quadratic attention matrix</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502920">
                <a:tc>
                  <a:txBody>
                    <a:bodyPr/>
                    <a:lstStyle/>
                    <a:p>
                      <a:pPr marL="0" indent="0" algn="ctr">
                        <a:buNone/>
                      </a:pPr>
                      <a:r>
                        <a:rPr lang="en-US" sz="1000" dirty="0">
                          <a:solidFill>
                            <a:srgbClr val="0D1B2A"/>
                          </a:solidFill>
                        </a:rPr>
                        <a:t>Interpretability</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Hidden state — hard to inspect</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Attention weights are visualizable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ctr">
                        <a:buNone/>
                      </a:pPr>
                      <a:r>
                        <a:rPr lang="en-US" sz="1000" dirty="0">
                          <a:solidFill>
                            <a:srgbClr val="0D1B2A"/>
                          </a:solidFill>
                        </a:rPr>
                        <a:t>Long-range deps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l">
                        <a:buNone/>
                      </a:pPr>
                      <a:r>
                        <a:rPr lang="en-US" sz="1000" dirty="0">
                          <a:solidFill>
                            <a:srgbClr val="0D1B2A"/>
                          </a:solidFill>
                        </a:rPr>
                        <a:t>Struggles (vanishing gradient)</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l">
                        <a:buNone/>
                      </a:pPr>
                      <a:r>
                        <a:rPr lang="en-US" sz="1000" dirty="0">
                          <a:solidFill>
                            <a:srgbClr val="0D1B2A"/>
                          </a:solidFill>
                        </a:rPr>
                        <a:t>Handles effortlessly via direct attention</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502920">
                <a:tc>
                  <a:txBody>
                    <a:bodyPr/>
                    <a:lstStyle/>
                    <a:p>
                      <a:pPr marL="0" indent="0" algn="ctr">
                        <a:buNone/>
                      </a:pPr>
                      <a:r>
                        <a:rPr lang="en-US" sz="1000" dirty="0">
                          <a:solidFill>
                            <a:srgbClr val="0D1B2A"/>
                          </a:solidFill>
                        </a:rPr>
                        <a:t>Streaming data</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Natural (processes step by step)</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D1B2A"/>
                          </a:solidFill>
                        </a:rPr>
                        <a:t>Needs full sequence — batch only</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274320" y="4919472"/>
            <a:ext cx="8595360" cy="201168"/>
          </a:xfrm>
          <a:prstGeom prst="rect">
            <a:avLst/>
          </a:prstGeom>
          <a:noFill/>
          <a:ln/>
        </p:spPr>
        <p:txBody>
          <a:bodyPr wrap="square" rtlCol="0" anchor="ctr"/>
          <a:lstStyle/>
          <a:p>
            <a:pPr marL="0" indent="0" algn="ctr">
              <a:buNone/>
            </a:pPr>
            <a:r>
              <a:rPr lang="en-US" sz="950" i="1" dirty="0">
                <a:solidFill>
                  <a:srgbClr val="0891B2"/>
                </a:solidFill>
              </a:rPr>
              <a:t>Our dataset (Online Retail): 541,909 transactions, long purchase sequences per customer → Transformer is the right choice.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05 · Real-World Applications of Transformers</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5</a:t>
            </a:r>
            <a:endParaRPr lang="en-US" sz="900" dirty="0"/>
          </a:p>
        </p:txBody>
      </p:sp>
      <p:sp>
        <p:nvSpPr>
          <p:cNvPr id="7" name="Shape 5"/>
          <p:cNvSpPr/>
          <p:nvPr/>
        </p:nvSpPr>
        <p:spPr>
          <a:xfrm>
            <a:off x="228600" y="822960"/>
            <a:ext cx="269748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22960"/>
            <a:ext cx="2697480" cy="384048"/>
          </a:xfrm>
          <a:prstGeom prst="rect">
            <a:avLst/>
          </a:prstGeom>
          <a:solidFill>
            <a:srgbClr val="0891B2"/>
          </a:solidFill>
          <a:ln/>
        </p:spPr>
        <p:txBody>
          <a:bodyPr/>
          <a:lstStyle/>
          <a:p>
            <a:endParaRPr lang="fr-TN"/>
          </a:p>
        </p:txBody>
      </p:sp>
      <p:sp>
        <p:nvSpPr>
          <p:cNvPr id="9" name="Text 7"/>
          <p:cNvSpPr/>
          <p:nvPr/>
        </p:nvSpPr>
        <p:spPr>
          <a:xfrm>
            <a:off x="301752" y="822960"/>
            <a:ext cx="2560320" cy="384048"/>
          </a:xfrm>
          <a:prstGeom prst="rect">
            <a:avLst/>
          </a:prstGeom>
          <a:noFill/>
          <a:ln/>
        </p:spPr>
        <p:txBody>
          <a:bodyPr wrap="square" lIns="0" tIns="0" rIns="0" bIns="0" rtlCol="0" anchor="ctr"/>
          <a:lstStyle/>
          <a:p>
            <a:pPr marL="0" indent="0">
              <a:buNone/>
            </a:pPr>
            <a:r>
              <a:rPr lang="en-US" sz="1000" b="1" dirty="0">
                <a:solidFill>
                  <a:srgbClr val="FFFFFF"/>
                </a:solidFill>
              </a:rPr>
              <a:t>Natural Language Processing</a:t>
            </a:r>
            <a:endParaRPr lang="en-US" sz="1000" dirty="0"/>
          </a:p>
        </p:txBody>
      </p:sp>
      <p:sp>
        <p:nvSpPr>
          <p:cNvPr id="10" name="Text 8"/>
          <p:cNvSpPr/>
          <p:nvPr/>
        </p:nvSpPr>
        <p:spPr>
          <a:xfrm>
            <a:off x="320040" y="1261872"/>
            <a:ext cx="2514600" cy="1234440"/>
          </a:xfrm>
          <a:prstGeom prst="rect">
            <a:avLst/>
          </a:prstGeom>
          <a:noFill/>
          <a:ln/>
        </p:spPr>
        <p:txBody>
          <a:bodyPr wrap="square" rtlCol="0" anchor="ctr"/>
          <a:lstStyle/>
          <a:p>
            <a:pPr marL="0" indent="0">
              <a:buNone/>
            </a:pPr>
            <a:r>
              <a:rPr lang="en-US" sz="950" dirty="0">
                <a:solidFill>
                  <a:srgbClr val="0D1B2A"/>
                </a:solidFill>
              </a:rPr>
              <a:t>BERT, GPT-4, ChatGPT —&gt; text generation, Q&amp;A, translation, summarization</a:t>
            </a:r>
            <a:endParaRPr lang="en-US" sz="950" dirty="0"/>
          </a:p>
        </p:txBody>
      </p:sp>
      <p:sp>
        <p:nvSpPr>
          <p:cNvPr id="11" name="Shape 9"/>
          <p:cNvSpPr/>
          <p:nvPr/>
        </p:nvSpPr>
        <p:spPr>
          <a:xfrm>
            <a:off x="3154680" y="822960"/>
            <a:ext cx="269748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2" name="Shape 10"/>
          <p:cNvSpPr/>
          <p:nvPr/>
        </p:nvSpPr>
        <p:spPr>
          <a:xfrm>
            <a:off x="3154680" y="822960"/>
            <a:ext cx="2697480" cy="384048"/>
          </a:xfrm>
          <a:prstGeom prst="rect">
            <a:avLst/>
          </a:prstGeom>
          <a:solidFill>
            <a:srgbClr val="F59E0B"/>
          </a:solidFill>
          <a:ln/>
        </p:spPr>
        <p:txBody>
          <a:bodyPr/>
          <a:lstStyle/>
          <a:p>
            <a:endParaRPr lang="fr-TN"/>
          </a:p>
        </p:txBody>
      </p:sp>
      <p:sp>
        <p:nvSpPr>
          <p:cNvPr id="13" name="Text 11"/>
          <p:cNvSpPr/>
          <p:nvPr/>
        </p:nvSpPr>
        <p:spPr>
          <a:xfrm>
            <a:off x="3227832" y="822960"/>
            <a:ext cx="2560320" cy="384048"/>
          </a:xfrm>
          <a:prstGeom prst="rect">
            <a:avLst/>
          </a:prstGeom>
          <a:noFill/>
          <a:ln/>
        </p:spPr>
        <p:txBody>
          <a:bodyPr wrap="square" lIns="0" tIns="0" rIns="0" bIns="0" rtlCol="0" anchor="ctr"/>
          <a:lstStyle/>
          <a:p>
            <a:pPr marL="0" indent="0">
              <a:buNone/>
            </a:pPr>
            <a:r>
              <a:rPr lang="en-US" sz="1000" b="1" dirty="0">
                <a:solidFill>
                  <a:srgbClr val="FFFFFF"/>
                </a:solidFill>
              </a:rPr>
              <a:t>Music &amp; Audio Generation</a:t>
            </a:r>
            <a:endParaRPr lang="en-US" sz="1000" dirty="0"/>
          </a:p>
        </p:txBody>
      </p:sp>
      <p:sp>
        <p:nvSpPr>
          <p:cNvPr id="14" name="Text 12"/>
          <p:cNvSpPr/>
          <p:nvPr/>
        </p:nvSpPr>
        <p:spPr>
          <a:xfrm>
            <a:off x="3246120" y="1261872"/>
            <a:ext cx="2514600" cy="1234440"/>
          </a:xfrm>
          <a:prstGeom prst="rect">
            <a:avLst/>
          </a:prstGeom>
          <a:noFill/>
          <a:ln/>
        </p:spPr>
        <p:txBody>
          <a:bodyPr wrap="square" rtlCol="0" anchor="ctr"/>
          <a:lstStyle/>
          <a:p>
            <a:pPr marL="0" indent="0">
              <a:buNone/>
            </a:pPr>
            <a:r>
              <a:rPr lang="en-US" sz="950" dirty="0">
                <a:solidFill>
                  <a:srgbClr val="0D1B2A"/>
                </a:solidFill>
              </a:rPr>
              <a:t>MusicLM, Jukebox —&gt; generating coherent long-form music sequences</a:t>
            </a:r>
            <a:endParaRPr lang="en-US" sz="950" dirty="0"/>
          </a:p>
        </p:txBody>
      </p:sp>
      <p:sp>
        <p:nvSpPr>
          <p:cNvPr id="15" name="Shape 13"/>
          <p:cNvSpPr/>
          <p:nvPr/>
        </p:nvSpPr>
        <p:spPr>
          <a:xfrm>
            <a:off x="6080760" y="822960"/>
            <a:ext cx="269748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6" name="Shape 14"/>
          <p:cNvSpPr/>
          <p:nvPr/>
        </p:nvSpPr>
        <p:spPr>
          <a:xfrm>
            <a:off x="6080760" y="822960"/>
            <a:ext cx="2697480" cy="384048"/>
          </a:xfrm>
          <a:prstGeom prst="rect">
            <a:avLst/>
          </a:prstGeom>
          <a:solidFill>
            <a:srgbClr val="10B981"/>
          </a:solidFill>
          <a:ln/>
        </p:spPr>
        <p:txBody>
          <a:bodyPr/>
          <a:lstStyle/>
          <a:p>
            <a:endParaRPr lang="fr-TN"/>
          </a:p>
        </p:txBody>
      </p:sp>
      <p:sp>
        <p:nvSpPr>
          <p:cNvPr id="17" name="Text 15"/>
          <p:cNvSpPr/>
          <p:nvPr/>
        </p:nvSpPr>
        <p:spPr>
          <a:xfrm>
            <a:off x="6153912" y="822960"/>
            <a:ext cx="2560320" cy="384048"/>
          </a:xfrm>
          <a:prstGeom prst="rect">
            <a:avLst/>
          </a:prstGeom>
          <a:noFill/>
          <a:ln/>
        </p:spPr>
        <p:txBody>
          <a:bodyPr wrap="square" lIns="0" tIns="0" rIns="0" bIns="0" rtlCol="0" anchor="ctr"/>
          <a:lstStyle/>
          <a:p>
            <a:pPr marL="0" indent="0">
              <a:buNone/>
            </a:pPr>
            <a:r>
              <a:rPr lang="en-US" sz="1000" b="1" dirty="0">
                <a:solidFill>
                  <a:srgbClr val="FFFFFF"/>
                </a:solidFill>
              </a:rPr>
              <a:t>Protein Structure Prediction</a:t>
            </a:r>
            <a:endParaRPr lang="en-US" sz="1000" dirty="0"/>
          </a:p>
        </p:txBody>
      </p:sp>
      <p:sp>
        <p:nvSpPr>
          <p:cNvPr id="18" name="Text 16"/>
          <p:cNvSpPr/>
          <p:nvPr/>
        </p:nvSpPr>
        <p:spPr>
          <a:xfrm>
            <a:off x="6172200" y="1261872"/>
            <a:ext cx="2514600" cy="1234440"/>
          </a:xfrm>
          <a:prstGeom prst="rect">
            <a:avLst/>
          </a:prstGeom>
          <a:noFill/>
          <a:ln/>
        </p:spPr>
        <p:txBody>
          <a:bodyPr wrap="square" rtlCol="0" anchor="ctr"/>
          <a:lstStyle/>
          <a:p>
            <a:pPr marL="0" indent="0">
              <a:buNone/>
            </a:pPr>
            <a:r>
              <a:rPr lang="en-US" sz="950" dirty="0">
                <a:solidFill>
                  <a:srgbClr val="0D1B2A"/>
                </a:solidFill>
              </a:rPr>
              <a:t>AlphaFold2 —&gt; solved a 50-year biology challenge using Transformer attention</a:t>
            </a:r>
            <a:endParaRPr lang="en-US" sz="950" dirty="0"/>
          </a:p>
        </p:txBody>
      </p:sp>
      <p:sp>
        <p:nvSpPr>
          <p:cNvPr id="19" name="Shape 17"/>
          <p:cNvSpPr/>
          <p:nvPr/>
        </p:nvSpPr>
        <p:spPr>
          <a:xfrm>
            <a:off x="228600" y="2743200"/>
            <a:ext cx="269748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0" name="Shape 18"/>
          <p:cNvSpPr/>
          <p:nvPr/>
        </p:nvSpPr>
        <p:spPr>
          <a:xfrm>
            <a:off x="228600" y="2743200"/>
            <a:ext cx="2697480" cy="384048"/>
          </a:xfrm>
          <a:prstGeom prst="rect">
            <a:avLst/>
          </a:prstGeom>
          <a:solidFill>
            <a:srgbClr val="8B5CF6"/>
          </a:solidFill>
          <a:ln/>
        </p:spPr>
        <p:txBody>
          <a:bodyPr/>
          <a:lstStyle/>
          <a:p>
            <a:endParaRPr lang="fr-TN"/>
          </a:p>
        </p:txBody>
      </p:sp>
      <p:sp>
        <p:nvSpPr>
          <p:cNvPr id="21" name="Text 19"/>
          <p:cNvSpPr/>
          <p:nvPr/>
        </p:nvSpPr>
        <p:spPr>
          <a:xfrm>
            <a:off x="301752" y="2743200"/>
            <a:ext cx="2560320" cy="384048"/>
          </a:xfrm>
          <a:prstGeom prst="rect">
            <a:avLst/>
          </a:prstGeom>
          <a:noFill/>
          <a:ln/>
        </p:spPr>
        <p:txBody>
          <a:bodyPr wrap="square" lIns="0" tIns="0" rIns="0" bIns="0" rtlCol="0" anchor="ctr"/>
          <a:lstStyle/>
          <a:p>
            <a:pPr marL="0" indent="0">
              <a:buNone/>
            </a:pPr>
            <a:r>
              <a:rPr lang="en-US" sz="1000" b="1" dirty="0">
                <a:solidFill>
                  <a:srgbClr val="FFFFFF"/>
                </a:solidFill>
              </a:rPr>
              <a:t>Computer Vision</a:t>
            </a:r>
            <a:endParaRPr lang="en-US" sz="1000" dirty="0"/>
          </a:p>
        </p:txBody>
      </p:sp>
      <p:sp>
        <p:nvSpPr>
          <p:cNvPr id="22" name="Text 20"/>
          <p:cNvSpPr/>
          <p:nvPr/>
        </p:nvSpPr>
        <p:spPr>
          <a:xfrm>
            <a:off x="320040" y="3182112"/>
            <a:ext cx="2514600" cy="1234440"/>
          </a:xfrm>
          <a:prstGeom prst="rect">
            <a:avLst/>
          </a:prstGeom>
          <a:noFill/>
          <a:ln/>
        </p:spPr>
        <p:txBody>
          <a:bodyPr wrap="square" rtlCol="0" anchor="ctr"/>
          <a:lstStyle/>
          <a:p>
            <a:pPr marL="0" indent="0">
              <a:buNone/>
            </a:pPr>
            <a:r>
              <a:rPr lang="en-US" sz="950" dirty="0">
                <a:solidFill>
                  <a:srgbClr val="0D1B2A"/>
                </a:solidFill>
              </a:rPr>
              <a:t>Vision Transformer (ViT)    image patches as tokens, state-of-the-art classification</a:t>
            </a:r>
            <a:endParaRPr lang="en-US" sz="950" dirty="0"/>
          </a:p>
        </p:txBody>
      </p:sp>
      <p:sp>
        <p:nvSpPr>
          <p:cNvPr id="23" name="Shape 21"/>
          <p:cNvSpPr/>
          <p:nvPr/>
        </p:nvSpPr>
        <p:spPr>
          <a:xfrm>
            <a:off x="3154680" y="2743200"/>
            <a:ext cx="269748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4" name="Shape 22"/>
          <p:cNvSpPr/>
          <p:nvPr/>
        </p:nvSpPr>
        <p:spPr>
          <a:xfrm>
            <a:off x="3154680" y="2743200"/>
            <a:ext cx="2697480" cy="384048"/>
          </a:xfrm>
          <a:prstGeom prst="rect">
            <a:avLst/>
          </a:prstGeom>
          <a:solidFill>
            <a:srgbClr val="F97316"/>
          </a:solidFill>
          <a:ln/>
        </p:spPr>
        <p:txBody>
          <a:bodyPr/>
          <a:lstStyle/>
          <a:p>
            <a:endParaRPr lang="fr-TN"/>
          </a:p>
        </p:txBody>
      </p:sp>
      <p:sp>
        <p:nvSpPr>
          <p:cNvPr id="25" name="Text 23"/>
          <p:cNvSpPr/>
          <p:nvPr/>
        </p:nvSpPr>
        <p:spPr>
          <a:xfrm>
            <a:off x="3227832" y="2743200"/>
            <a:ext cx="2560320" cy="384048"/>
          </a:xfrm>
          <a:prstGeom prst="rect">
            <a:avLst/>
          </a:prstGeom>
          <a:noFill/>
          <a:ln/>
        </p:spPr>
        <p:txBody>
          <a:bodyPr wrap="square" lIns="0" tIns="0" rIns="0" bIns="0" rtlCol="0" anchor="ctr"/>
          <a:lstStyle/>
          <a:p>
            <a:pPr marL="0" indent="0">
              <a:buNone/>
            </a:pPr>
            <a:r>
              <a:rPr lang="en-US" sz="1000" b="1" dirty="0">
                <a:solidFill>
                  <a:srgbClr val="FFFFFF"/>
                </a:solidFill>
              </a:rPr>
              <a:t>Time-Series Forecasting</a:t>
            </a:r>
            <a:endParaRPr lang="en-US" sz="1000" dirty="0"/>
          </a:p>
        </p:txBody>
      </p:sp>
      <p:sp>
        <p:nvSpPr>
          <p:cNvPr id="26" name="Text 24"/>
          <p:cNvSpPr/>
          <p:nvPr/>
        </p:nvSpPr>
        <p:spPr>
          <a:xfrm>
            <a:off x="3246120" y="3182112"/>
            <a:ext cx="2514600" cy="1234440"/>
          </a:xfrm>
          <a:prstGeom prst="rect">
            <a:avLst/>
          </a:prstGeom>
          <a:noFill/>
          <a:ln/>
        </p:spPr>
        <p:txBody>
          <a:bodyPr wrap="square" rtlCol="0" anchor="ctr"/>
          <a:lstStyle/>
          <a:p>
            <a:pPr marL="0" indent="0">
              <a:buNone/>
            </a:pPr>
            <a:r>
              <a:rPr lang="en-US" sz="950" dirty="0">
                <a:solidFill>
                  <a:srgbClr val="0D1B2A"/>
                </a:solidFill>
              </a:rPr>
              <a:t>Temporal Fusion Transformer   electricity demand, weather, stock prediction</a:t>
            </a:r>
            <a:endParaRPr lang="en-US" sz="950" dirty="0"/>
          </a:p>
        </p:txBody>
      </p:sp>
      <p:sp>
        <p:nvSpPr>
          <p:cNvPr id="27" name="Shape 25"/>
          <p:cNvSpPr/>
          <p:nvPr/>
        </p:nvSpPr>
        <p:spPr>
          <a:xfrm>
            <a:off x="6080760" y="2743200"/>
            <a:ext cx="2697480" cy="17373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8" name="Shape 26"/>
          <p:cNvSpPr/>
          <p:nvPr/>
        </p:nvSpPr>
        <p:spPr>
          <a:xfrm>
            <a:off x="6080760" y="2743200"/>
            <a:ext cx="2697480" cy="384048"/>
          </a:xfrm>
          <a:prstGeom prst="rect">
            <a:avLst/>
          </a:prstGeom>
          <a:solidFill>
            <a:srgbClr val="EF4444"/>
          </a:solidFill>
          <a:ln/>
        </p:spPr>
        <p:txBody>
          <a:bodyPr/>
          <a:lstStyle/>
          <a:p>
            <a:endParaRPr lang="fr-TN"/>
          </a:p>
        </p:txBody>
      </p:sp>
      <p:sp>
        <p:nvSpPr>
          <p:cNvPr id="29" name="Text 27"/>
          <p:cNvSpPr/>
          <p:nvPr/>
        </p:nvSpPr>
        <p:spPr>
          <a:xfrm>
            <a:off x="6153912" y="2743200"/>
            <a:ext cx="2560320" cy="384048"/>
          </a:xfrm>
          <a:prstGeom prst="rect">
            <a:avLst/>
          </a:prstGeom>
          <a:noFill/>
          <a:ln/>
        </p:spPr>
        <p:txBody>
          <a:bodyPr wrap="square" lIns="0" tIns="0" rIns="0" bIns="0" rtlCol="0" anchor="ctr"/>
          <a:lstStyle/>
          <a:p>
            <a:pPr marL="0" indent="0">
              <a:buNone/>
            </a:pPr>
            <a:r>
              <a:rPr lang="en-US" sz="1000" b="1" dirty="0">
                <a:solidFill>
                  <a:srgbClr val="FFFFFF"/>
                </a:solidFill>
              </a:rPr>
              <a:t>Recommendation Systems</a:t>
            </a:r>
            <a:endParaRPr lang="en-US" sz="1000" dirty="0"/>
          </a:p>
        </p:txBody>
      </p:sp>
      <p:sp>
        <p:nvSpPr>
          <p:cNvPr id="30" name="Text 28"/>
          <p:cNvSpPr/>
          <p:nvPr/>
        </p:nvSpPr>
        <p:spPr>
          <a:xfrm>
            <a:off x="6172200" y="3182112"/>
            <a:ext cx="2514600" cy="1234440"/>
          </a:xfrm>
          <a:prstGeom prst="rect">
            <a:avLst/>
          </a:prstGeom>
          <a:noFill/>
          <a:ln/>
        </p:spPr>
        <p:txBody>
          <a:bodyPr wrap="square" rtlCol="0" anchor="ctr"/>
          <a:lstStyle/>
          <a:p>
            <a:pPr marL="0" indent="0">
              <a:buNone/>
            </a:pPr>
            <a:r>
              <a:rPr lang="en-US" sz="950" dirty="0">
                <a:solidFill>
                  <a:srgbClr val="0D1B2A"/>
                </a:solidFill>
              </a:rPr>
              <a:t>BERT4Rec —&gt; sequential product recommendations using purchase history (our domain!)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Our Application – Dataset, Task &amp; Justification</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6</a:t>
            </a:r>
            <a:endParaRPr lang="en-US" sz="900" dirty="0"/>
          </a:p>
        </p:txBody>
      </p:sp>
      <p:sp>
        <p:nvSpPr>
          <p:cNvPr id="7" name="Shape 5"/>
          <p:cNvSpPr/>
          <p:nvPr/>
        </p:nvSpPr>
        <p:spPr>
          <a:xfrm>
            <a:off x="228600" y="804672"/>
            <a:ext cx="5303520" cy="22860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8" name="Shape 6"/>
          <p:cNvSpPr/>
          <p:nvPr/>
        </p:nvSpPr>
        <p:spPr>
          <a:xfrm>
            <a:off x="228600" y="804672"/>
            <a:ext cx="5303520" cy="384048"/>
          </a:xfrm>
          <a:prstGeom prst="rect">
            <a:avLst/>
          </a:prstGeom>
          <a:solidFill>
            <a:srgbClr val="0891B2"/>
          </a:solidFill>
          <a:ln/>
        </p:spPr>
        <p:txBody>
          <a:bodyPr/>
          <a:lstStyle/>
          <a:p>
            <a:endParaRPr lang="fr-TN"/>
          </a:p>
        </p:txBody>
      </p:sp>
      <p:sp>
        <p:nvSpPr>
          <p:cNvPr id="9" name="Text 7"/>
          <p:cNvSpPr/>
          <p:nvPr/>
        </p:nvSpPr>
        <p:spPr>
          <a:xfrm>
            <a:off x="320040" y="804672"/>
            <a:ext cx="5120640" cy="384048"/>
          </a:xfrm>
          <a:prstGeom prst="rect">
            <a:avLst/>
          </a:prstGeom>
          <a:noFill/>
          <a:ln/>
        </p:spPr>
        <p:txBody>
          <a:bodyPr wrap="square" lIns="0" tIns="0" rIns="0" bIns="0" rtlCol="0" anchor="ctr"/>
          <a:lstStyle/>
          <a:p>
            <a:pPr marL="0" indent="0">
              <a:buNone/>
            </a:pPr>
            <a:r>
              <a:rPr lang="en-US" sz="1300" b="1" dirty="0">
                <a:solidFill>
                  <a:srgbClr val="FFFFFF"/>
                </a:solidFill>
              </a:rPr>
              <a:t>Dataset: Online Retail (UCI ML Repository)</a:t>
            </a:r>
            <a:endParaRPr lang="en-US" sz="1300" dirty="0"/>
          </a:p>
        </p:txBody>
      </p:sp>
      <p:sp>
        <p:nvSpPr>
          <p:cNvPr id="10" name="Text 8"/>
          <p:cNvSpPr/>
          <p:nvPr/>
        </p:nvSpPr>
        <p:spPr>
          <a:xfrm>
            <a:off x="365760" y="1280160"/>
            <a:ext cx="1188720" cy="292608"/>
          </a:xfrm>
          <a:prstGeom prst="rect">
            <a:avLst/>
          </a:prstGeom>
          <a:noFill/>
          <a:ln/>
        </p:spPr>
        <p:txBody>
          <a:bodyPr wrap="square" lIns="0" tIns="0" rIns="0" bIns="0" rtlCol="0" anchor="ctr"/>
          <a:lstStyle/>
          <a:p>
            <a:pPr marL="0" indent="0">
              <a:buNone/>
            </a:pPr>
            <a:r>
              <a:rPr lang="en-US" sz="1000" b="1" dirty="0">
                <a:solidFill>
                  <a:srgbClr val="0891B2"/>
                </a:solidFill>
              </a:rPr>
              <a:t>Source:</a:t>
            </a:r>
            <a:endParaRPr lang="en-US" sz="1000" dirty="0"/>
          </a:p>
        </p:txBody>
      </p:sp>
      <p:sp>
        <p:nvSpPr>
          <p:cNvPr id="11" name="Text 9"/>
          <p:cNvSpPr/>
          <p:nvPr/>
        </p:nvSpPr>
        <p:spPr>
          <a:xfrm>
            <a:off x="1600200" y="1280160"/>
            <a:ext cx="3749040" cy="292608"/>
          </a:xfrm>
          <a:prstGeom prst="rect">
            <a:avLst/>
          </a:prstGeom>
          <a:noFill/>
          <a:ln/>
        </p:spPr>
        <p:txBody>
          <a:bodyPr wrap="square" lIns="0" tIns="0" rIns="0" bIns="0" rtlCol="0" anchor="ctr"/>
          <a:lstStyle/>
          <a:p>
            <a:pPr marL="0" indent="0">
              <a:buNone/>
            </a:pPr>
            <a:r>
              <a:rPr lang="en-US" sz="1000" dirty="0">
                <a:solidFill>
                  <a:srgbClr val="0D1B2A"/>
                </a:solidFill>
              </a:rPr>
              <a:t>UCI Machine Learning Repository (Chen et al., 2015)</a:t>
            </a:r>
            <a:endParaRPr lang="en-US" sz="1000" dirty="0"/>
          </a:p>
        </p:txBody>
      </p:sp>
      <p:sp>
        <p:nvSpPr>
          <p:cNvPr id="12" name="Text 10"/>
          <p:cNvSpPr/>
          <p:nvPr/>
        </p:nvSpPr>
        <p:spPr>
          <a:xfrm>
            <a:off x="365760" y="1609344"/>
            <a:ext cx="1188720" cy="292608"/>
          </a:xfrm>
          <a:prstGeom prst="rect">
            <a:avLst/>
          </a:prstGeom>
          <a:noFill/>
          <a:ln/>
        </p:spPr>
        <p:txBody>
          <a:bodyPr wrap="square" lIns="0" tIns="0" rIns="0" bIns="0" rtlCol="0" anchor="ctr"/>
          <a:lstStyle/>
          <a:p>
            <a:pPr marL="0" indent="0">
              <a:buNone/>
            </a:pPr>
            <a:r>
              <a:rPr lang="en-US" sz="1000" b="1" dirty="0">
                <a:solidFill>
                  <a:srgbClr val="0891B2"/>
                </a:solidFill>
              </a:rPr>
              <a:t>Samples:</a:t>
            </a:r>
            <a:endParaRPr lang="en-US" sz="1000" dirty="0"/>
          </a:p>
        </p:txBody>
      </p:sp>
      <p:sp>
        <p:nvSpPr>
          <p:cNvPr id="13" name="Text 11"/>
          <p:cNvSpPr/>
          <p:nvPr/>
        </p:nvSpPr>
        <p:spPr>
          <a:xfrm>
            <a:off x="1600200" y="1609344"/>
            <a:ext cx="3749040" cy="292608"/>
          </a:xfrm>
          <a:prstGeom prst="rect">
            <a:avLst/>
          </a:prstGeom>
          <a:noFill/>
          <a:ln/>
        </p:spPr>
        <p:txBody>
          <a:bodyPr wrap="square" lIns="0" tIns="0" rIns="0" bIns="0" rtlCol="0" anchor="ctr"/>
          <a:lstStyle/>
          <a:p>
            <a:pPr marL="0" indent="0">
              <a:buNone/>
            </a:pPr>
            <a:r>
              <a:rPr lang="en-US" sz="1000" dirty="0">
                <a:solidFill>
                  <a:srgbClr val="0D1B2A"/>
                </a:solidFill>
              </a:rPr>
              <a:t>541,909 transactions across 25,900 customers</a:t>
            </a:r>
            <a:endParaRPr lang="en-US" sz="1000" dirty="0"/>
          </a:p>
        </p:txBody>
      </p:sp>
      <p:sp>
        <p:nvSpPr>
          <p:cNvPr id="14" name="Text 12"/>
          <p:cNvSpPr/>
          <p:nvPr/>
        </p:nvSpPr>
        <p:spPr>
          <a:xfrm>
            <a:off x="365760" y="1938528"/>
            <a:ext cx="1188720" cy="292608"/>
          </a:xfrm>
          <a:prstGeom prst="rect">
            <a:avLst/>
          </a:prstGeom>
          <a:noFill/>
          <a:ln/>
        </p:spPr>
        <p:txBody>
          <a:bodyPr wrap="square" lIns="0" tIns="0" rIns="0" bIns="0" rtlCol="0" anchor="ctr"/>
          <a:lstStyle/>
          <a:p>
            <a:pPr marL="0" indent="0">
              <a:buNone/>
            </a:pPr>
            <a:r>
              <a:rPr lang="en-US" sz="1000" b="1" dirty="0">
                <a:solidFill>
                  <a:srgbClr val="0891B2"/>
                </a:solidFill>
              </a:rPr>
              <a:t>Period:</a:t>
            </a:r>
            <a:endParaRPr lang="en-US" sz="1000" dirty="0"/>
          </a:p>
        </p:txBody>
      </p:sp>
      <p:sp>
        <p:nvSpPr>
          <p:cNvPr id="15" name="Text 13"/>
          <p:cNvSpPr/>
          <p:nvPr/>
        </p:nvSpPr>
        <p:spPr>
          <a:xfrm>
            <a:off x="1600200" y="1938528"/>
            <a:ext cx="3749040" cy="292608"/>
          </a:xfrm>
          <a:prstGeom prst="rect">
            <a:avLst/>
          </a:prstGeom>
          <a:noFill/>
          <a:ln/>
        </p:spPr>
        <p:txBody>
          <a:bodyPr wrap="square" lIns="0" tIns="0" rIns="0" bIns="0" rtlCol="0" anchor="ctr"/>
          <a:lstStyle/>
          <a:p>
            <a:pPr marL="0" indent="0">
              <a:buNone/>
            </a:pPr>
            <a:r>
              <a:rPr lang="en-US" sz="1000" dirty="0">
                <a:solidFill>
                  <a:srgbClr val="0D1B2A"/>
                </a:solidFill>
              </a:rPr>
              <a:t>December 2010 – December 2011 (12 months)</a:t>
            </a:r>
            <a:endParaRPr lang="en-US" sz="1000" dirty="0"/>
          </a:p>
        </p:txBody>
      </p:sp>
      <p:sp>
        <p:nvSpPr>
          <p:cNvPr id="16" name="Text 14"/>
          <p:cNvSpPr/>
          <p:nvPr/>
        </p:nvSpPr>
        <p:spPr>
          <a:xfrm>
            <a:off x="365760" y="2267712"/>
            <a:ext cx="1188720" cy="292608"/>
          </a:xfrm>
          <a:prstGeom prst="rect">
            <a:avLst/>
          </a:prstGeom>
          <a:noFill/>
          <a:ln/>
        </p:spPr>
        <p:txBody>
          <a:bodyPr wrap="square" lIns="0" tIns="0" rIns="0" bIns="0" rtlCol="0" anchor="ctr"/>
          <a:lstStyle/>
          <a:p>
            <a:pPr marL="0" indent="0">
              <a:buNone/>
            </a:pPr>
            <a:r>
              <a:rPr lang="en-US" sz="1000" b="1" dirty="0">
                <a:solidFill>
                  <a:srgbClr val="0891B2"/>
                </a:solidFill>
              </a:rPr>
              <a:t>Frequency:</a:t>
            </a:r>
            <a:endParaRPr lang="en-US" sz="1000" dirty="0"/>
          </a:p>
        </p:txBody>
      </p:sp>
      <p:sp>
        <p:nvSpPr>
          <p:cNvPr id="17" name="Text 15"/>
          <p:cNvSpPr/>
          <p:nvPr/>
        </p:nvSpPr>
        <p:spPr>
          <a:xfrm>
            <a:off x="1600200" y="2267712"/>
            <a:ext cx="3749040" cy="292608"/>
          </a:xfrm>
          <a:prstGeom prst="rect">
            <a:avLst/>
          </a:prstGeom>
          <a:noFill/>
          <a:ln/>
        </p:spPr>
        <p:txBody>
          <a:bodyPr wrap="square" lIns="0" tIns="0" rIns="0" bIns="0" rtlCol="0" anchor="ctr"/>
          <a:lstStyle/>
          <a:p>
            <a:pPr marL="0" indent="0">
              <a:buNone/>
            </a:pPr>
            <a:r>
              <a:rPr lang="en-US" sz="1000" dirty="0">
                <a:solidFill>
                  <a:srgbClr val="0D1B2A"/>
                </a:solidFill>
              </a:rPr>
              <a:t>Event-based (real-time transaction logs)</a:t>
            </a:r>
            <a:endParaRPr lang="en-US" sz="1000" dirty="0"/>
          </a:p>
        </p:txBody>
      </p:sp>
      <p:sp>
        <p:nvSpPr>
          <p:cNvPr id="18" name="Text 16"/>
          <p:cNvSpPr/>
          <p:nvPr/>
        </p:nvSpPr>
        <p:spPr>
          <a:xfrm>
            <a:off x="365760" y="2596896"/>
            <a:ext cx="1188720" cy="292608"/>
          </a:xfrm>
          <a:prstGeom prst="rect">
            <a:avLst/>
          </a:prstGeom>
          <a:noFill/>
          <a:ln/>
        </p:spPr>
        <p:txBody>
          <a:bodyPr wrap="square" lIns="0" tIns="0" rIns="0" bIns="0" rtlCol="0" anchor="ctr"/>
          <a:lstStyle/>
          <a:p>
            <a:pPr marL="0" indent="0">
              <a:buNone/>
            </a:pPr>
            <a:r>
              <a:rPr lang="en-US" sz="1000" b="1" dirty="0">
                <a:solidFill>
                  <a:srgbClr val="0891B2"/>
                </a:solidFill>
              </a:rPr>
              <a:t>Features:</a:t>
            </a:r>
            <a:endParaRPr lang="en-US" sz="1000" dirty="0"/>
          </a:p>
        </p:txBody>
      </p:sp>
      <p:sp>
        <p:nvSpPr>
          <p:cNvPr id="19" name="Text 17"/>
          <p:cNvSpPr/>
          <p:nvPr/>
        </p:nvSpPr>
        <p:spPr>
          <a:xfrm>
            <a:off x="1600200" y="2596896"/>
            <a:ext cx="3749040" cy="292608"/>
          </a:xfrm>
          <a:prstGeom prst="rect">
            <a:avLst/>
          </a:prstGeom>
          <a:noFill/>
          <a:ln/>
        </p:spPr>
        <p:txBody>
          <a:bodyPr wrap="square" lIns="0" tIns="0" rIns="0" bIns="0" rtlCol="0" anchor="ctr"/>
          <a:lstStyle/>
          <a:p>
            <a:pPr marL="0" indent="0">
              <a:buNone/>
            </a:pPr>
            <a:r>
              <a:rPr lang="en-US" sz="1000" dirty="0">
                <a:solidFill>
                  <a:srgbClr val="0D1B2A"/>
                </a:solidFill>
              </a:rPr>
              <a:t>InvoiceNo, StockCode, Description, Quantity, InvoiceDate, CustomerID, Country</a:t>
            </a:r>
            <a:endParaRPr lang="en-US" sz="1000" dirty="0"/>
          </a:p>
        </p:txBody>
      </p:sp>
      <p:sp>
        <p:nvSpPr>
          <p:cNvPr id="20" name="Shape 18"/>
          <p:cNvSpPr/>
          <p:nvPr/>
        </p:nvSpPr>
        <p:spPr>
          <a:xfrm>
            <a:off x="5806440" y="804672"/>
            <a:ext cx="3108960" cy="22860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1" name="Shape 19"/>
          <p:cNvSpPr/>
          <p:nvPr/>
        </p:nvSpPr>
        <p:spPr>
          <a:xfrm>
            <a:off x="5806440" y="804672"/>
            <a:ext cx="3108960" cy="384048"/>
          </a:xfrm>
          <a:prstGeom prst="rect">
            <a:avLst/>
          </a:prstGeom>
          <a:solidFill>
            <a:srgbClr val="8B5CF6"/>
          </a:solidFill>
          <a:ln/>
        </p:spPr>
        <p:txBody>
          <a:bodyPr/>
          <a:lstStyle/>
          <a:p>
            <a:endParaRPr lang="fr-TN"/>
          </a:p>
        </p:txBody>
      </p:sp>
      <p:sp>
        <p:nvSpPr>
          <p:cNvPr id="22" name="Text 20"/>
          <p:cNvSpPr/>
          <p:nvPr/>
        </p:nvSpPr>
        <p:spPr>
          <a:xfrm>
            <a:off x="5897880" y="804672"/>
            <a:ext cx="2926080" cy="384048"/>
          </a:xfrm>
          <a:prstGeom prst="rect">
            <a:avLst/>
          </a:prstGeom>
          <a:noFill/>
          <a:ln/>
        </p:spPr>
        <p:txBody>
          <a:bodyPr wrap="square" lIns="0" tIns="0" rIns="0" bIns="0" rtlCol="0" anchor="ctr"/>
          <a:lstStyle/>
          <a:p>
            <a:pPr marL="0" indent="0">
              <a:buNone/>
            </a:pPr>
            <a:r>
              <a:rPr lang="en-US" sz="1200" b="1" dirty="0">
                <a:solidFill>
                  <a:srgbClr val="FFFFFF"/>
                </a:solidFill>
              </a:rPr>
              <a:t>Task: Sequence Classification</a:t>
            </a:r>
            <a:endParaRPr lang="en-US" sz="1200" dirty="0"/>
          </a:p>
        </p:txBody>
      </p:sp>
      <p:sp>
        <p:nvSpPr>
          <p:cNvPr id="23" name="Text 21"/>
          <p:cNvSpPr/>
          <p:nvPr/>
        </p:nvSpPr>
        <p:spPr>
          <a:xfrm>
            <a:off x="5897880" y="1261872"/>
            <a:ext cx="2880360" cy="1691640"/>
          </a:xfrm>
          <a:prstGeom prst="rect">
            <a:avLst/>
          </a:prstGeom>
          <a:noFill/>
          <a:ln/>
        </p:spPr>
        <p:txBody>
          <a:bodyPr wrap="square" rtlCol="0" anchor="ctr"/>
          <a:lstStyle/>
          <a:p>
            <a:pPr marL="0" indent="0">
              <a:buNone/>
            </a:pPr>
            <a:r>
              <a:rPr lang="en-US" sz="950" dirty="0">
                <a:solidFill>
                  <a:srgbClr val="0D1B2A"/>
                </a:solidFill>
              </a:rPr>
              <a:t>Given a customer's purchase history (sequence of product IDs), predict whether the customer will make a High-Value (&gt;£500) vs Low-Value future purchase.</a:t>
            </a:r>
            <a:endParaRPr lang="en-US" sz="950" dirty="0"/>
          </a:p>
          <a:p>
            <a:pPr marL="0" indent="0">
              <a:buNone/>
            </a:pPr>
            <a:endParaRPr lang="en-US" sz="950" dirty="0"/>
          </a:p>
          <a:p>
            <a:pPr marL="0" indent="0">
              <a:buNone/>
            </a:pPr>
            <a:r>
              <a:rPr lang="en-US" sz="950" dirty="0">
                <a:solidFill>
                  <a:srgbClr val="0D1B2A"/>
                </a:solidFill>
              </a:rPr>
              <a:t>Each customer = one sequence. Transformer encodes the full history via self-attention.</a:t>
            </a:r>
            <a:endParaRPr lang="en-US" sz="950" dirty="0"/>
          </a:p>
        </p:txBody>
      </p:sp>
      <p:sp>
        <p:nvSpPr>
          <p:cNvPr id="24" name="Shape 22"/>
          <p:cNvSpPr/>
          <p:nvPr/>
        </p:nvSpPr>
        <p:spPr>
          <a:xfrm>
            <a:off x="228600" y="3246120"/>
            <a:ext cx="8686800" cy="16916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25" name="Shape 23"/>
          <p:cNvSpPr/>
          <p:nvPr/>
        </p:nvSpPr>
        <p:spPr>
          <a:xfrm>
            <a:off x="228600" y="3246120"/>
            <a:ext cx="8686800" cy="384048"/>
          </a:xfrm>
          <a:prstGeom prst="rect">
            <a:avLst/>
          </a:prstGeom>
          <a:solidFill>
            <a:srgbClr val="0D1B2A"/>
          </a:solidFill>
          <a:ln/>
        </p:spPr>
        <p:txBody>
          <a:bodyPr/>
          <a:lstStyle/>
          <a:p>
            <a:endParaRPr lang="fr-TN"/>
          </a:p>
        </p:txBody>
      </p:sp>
      <p:sp>
        <p:nvSpPr>
          <p:cNvPr id="26" name="Text 24"/>
          <p:cNvSpPr/>
          <p:nvPr/>
        </p:nvSpPr>
        <p:spPr>
          <a:xfrm>
            <a:off x="320040" y="3246120"/>
            <a:ext cx="8503920" cy="384048"/>
          </a:xfrm>
          <a:prstGeom prst="rect">
            <a:avLst/>
          </a:prstGeom>
          <a:noFill/>
          <a:ln/>
        </p:spPr>
        <p:txBody>
          <a:bodyPr wrap="square" lIns="0" tIns="0" rIns="0" bIns="0" rtlCol="0" anchor="ctr"/>
          <a:lstStyle/>
          <a:p>
            <a:pPr marL="0" indent="0">
              <a:buNone/>
            </a:pPr>
            <a:r>
              <a:rPr lang="en-US" sz="1300" b="1" dirty="0">
                <a:solidFill>
                  <a:srgbClr val="FFFFFF"/>
                </a:solidFill>
              </a:rPr>
              <a:t>Why Transformer and Not LSTM for This Dataset?</a:t>
            </a:r>
            <a:endParaRPr lang="en-US" sz="1300" dirty="0"/>
          </a:p>
        </p:txBody>
      </p:sp>
      <p:sp>
        <p:nvSpPr>
          <p:cNvPr id="27" name="Text 25"/>
          <p:cNvSpPr/>
          <p:nvPr/>
        </p:nvSpPr>
        <p:spPr>
          <a:xfrm>
            <a:off x="365760" y="3703320"/>
            <a:ext cx="8321040" cy="1170432"/>
          </a:xfrm>
          <a:prstGeom prst="rect">
            <a:avLst/>
          </a:prstGeom>
          <a:noFill/>
          <a:ln/>
        </p:spPr>
        <p:txBody>
          <a:bodyPr wrap="square"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Long sequences: avg. 20+ items per customer → Transformer global attention outperforms LSTM's fading memory</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Large dataset: 25,900+ customers provides enough data to train attention weights effectively</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Non-local patterns: a product bought 15 steps ago may predict the next purchase — attention captures this directly</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Interpretability: attention heatmaps reveal which products influenced the classification decision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Our Transformer Model  Architecture Overview</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6</a:t>
            </a:r>
            <a:endParaRPr lang="en-US" sz="900" dirty="0"/>
          </a:p>
        </p:txBody>
      </p:sp>
      <p:sp>
        <p:nvSpPr>
          <p:cNvPr id="7" name="Shape 5"/>
          <p:cNvSpPr/>
          <p:nvPr/>
        </p:nvSpPr>
        <p:spPr>
          <a:xfrm>
            <a:off x="1371600" y="822960"/>
            <a:ext cx="6400800" cy="475488"/>
          </a:xfrm>
          <a:prstGeom prst="rect">
            <a:avLst/>
          </a:prstGeom>
          <a:solidFill>
            <a:srgbClr val="E2E8F0"/>
          </a:solidFill>
          <a:ln/>
          <a:effectLst>
            <a:outerShdw blurRad="101600" dist="38100" dir="8100000" algn="bl" rotWithShape="0">
              <a:srgbClr val="000000">
                <a:alpha val="18000"/>
              </a:srgbClr>
            </a:outerShdw>
          </a:effectLst>
        </p:spPr>
        <p:txBody>
          <a:bodyPr/>
          <a:lstStyle/>
          <a:p>
            <a:endParaRPr lang="fr-TN"/>
          </a:p>
        </p:txBody>
      </p:sp>
      <p:sp>
        <p:nvSpPr>
          <p:cNvPr id="8" name="Text 6"/>
          <p:cNvSpPr/>
          <p:nvPr/>
        </p:nvSpPr>
        <p:spPr>
          <a:xfrm>
            <a:off x="1371600" y="822960"/>
            <a:ext cx="6400800" cy="475488"/>
          </a:xfrm>
          <a:prstGeom prst="rect">
            <a:avLst/>
          </a:prstGeom>
          <a:noFill/>
          <a:ln/>
        </p:spPr>
        <p:txBody>
          <a:bodyPr wrap="square" lIns="0" tIns="0" rIns="0" bIns="0" rtlCol="0" anchor="ctr"/>
          <a:lstStyle/>
          <a:p>
            <a:pPr marL="0" indent="0" algn="ctr">
              <a:buNone/>
            </a:pPr>
            <a:r>
              <a:rPr lang="en-US" sz="1100" b="1" dirty="0">
                <a:solidFill>
                  <a:srgbClr val="000000"/>
                </a:solidFill>
              </a:rPr>
              <a:t>Input: Customer Purchase Sequence (token IDs)</a:t>
            </a:r>
            <a:endParaRPr lang="en-US" sz="1100" dirty="0"/>
          </a:p>
        </p:txBody>
      </p:sp>
      <p:sp>
        <p:nvSpPr>
          <p:cNvPr id="9" name="Text 7"/>
          <p:cNvSpPr/>
          <p:nvPr/>
        </p:nvSpPr>
        <p:spPr>
          <a:xfrm>
            <a:off x="4206240" y="1298448"/>
            <a:ext cx="731520" cy="128016"/>
          </a:xfrm>
          <a:prstGeom prst="rect">
            <a:avLst/>
          </a:prstGeom>
          <a:noFill/>
          <a:ln/>
        </p:spPr>
        <p:txBody>
          <a:bodyPr wrap="square" lIns="0" tIns="0" rIns="0" bIns="0" rtlCol="0" anchor="ctr"/>
          <a:lstStyle/>
          <a:p>
            <a:pPr marL="0" indent="0" algn="ctr">
              <a:buNone/>
            </a:pPr>
            <a:r>
              <a:rPr lang="en-US" sz="1000" b="1" dirty="0">
                <a:solidFill>
                  <a:srgbClr val="0891B2"/>
                </a:solidFill>
              </a:rPr>
              <a:t>↓</a:t>
            </a:r>
            <a:endParaRPr lang="en-US" sz="1000" dirty="0"/>
          </a:p>
        </p:txBody>
      </p:sp>
      <p:sp>
        <p:nvSpPr>
          <p:cNvPr id="10" name="Shape 8"/>
          <p:cNvSpPr/>
          <p:nvPr/>
        </p:nvSpPr>
        <p:spPr>
          <a:xfrm>
            <a:off x="1371600" y="1426464"/>
            <a:ext cx="6400800" cy="475488"/>
          </a:xfrm>
          <a:prstGeom prst="rect">
            <a:avLst/>
          </a:prstGeom>
          <a:solidFill>
            <a:srgbClr val="0D1B2A"/>
          </a:solidFill>
          <a:ln/>
          <a:effectLst>
            <a:outerShdw blurRad="101600" dist="38100" dir="8100000" algn="bl" rotWithShape="0">
              <a:srgbClr val="000000">
                <a:alpha val="18000"/>
              </a:srgbClr>
            </a:outerShdw>
          </a:effectLst>
        </p:spPr>
        <p:txBody>
          <a:bodyPr/>
          <a:lstStyle/>
          <a:p>
            <a:endParaRPr lang="fr-TN"/>
          </a:p>
        </p:txBody>
      </p:sp>
      <p:sp>
        <p:nvSpPr>
          <p:cNvPr id="11" name="Text 9"/>
          <p:cNvSpPr/>
          <p:nvPr/>
        </p:nvSpPr>
        <p:spPr>
          <a:xfrm>
            <a:off x="1371600" y="1426464"/>
            <a:ext cx="6400800" cy="475488"/>
          </a:xfrm>
          <a:prstGeom prst="rect">
            <a:avLst/>
          </a:prstGeom>
          <a:noFill/>
          <a:ln/>
        </p:spPr>
        <p:txBody>
          <a:bodyPr wrap="square" lIns="0" tIns="0" rIns="0" bIns="0" rtlCol="0" anchor="ctr"/>
          <a:lstStyle/>
          <a:p>
            <a:pPr marL="0" indent="0" algn="ctr">
              <a:buNone/>
            </a:pPr>
            <a:r>
              <a:rPr lang="en-US" sz="1100" b="1" dirty="0">
                <a:solidFill>
                  <a:srgbClr val="FFFFFF"/>
                </a:solidFill>
              </a:rPr>
              <a:t>Embedding Layer (vocab_size=3953, d_model=64)</a:t>
            </a:r>
            <a:endParaRPr lang="en-US" sz="1100" dirty="0"/>
          </a:p>
        </p:txBody>
      </p:sp>
      <p:sp>
        <p:nvSpPr>
          <p:cNvPr id="12" name="Text 10"/>
          <p:cNvSpPr/>
          <p:nvPr/>
        </p:nvSpPr>
        <p:spPr>
          <a:xfrm>
            <a:off x="4206240" y="1901952"/>
            <a:ext cx="731520" cy="128016"/>
          </a:xfrm>
          <a:prstGeom prst="rect">
            <a:avLst/>
          </a:prstGeom>
          <a:noFill/>
          <a:ln/>
        </p:spPr>
        <p:txBody>
          <a:bodyPr wrap="square" lIns="0" tIns="0" rIns="0" bIns="0" rtlCol="0" anchor="ctr"/>
          <a:lstStyle/>
          <a:p>
            <a:pPr marL="0" indent="0" algn="ctr">
              <a:buNone/>
            </a:pPr>
            <a:r>
              <a:rPr lang="en-US" sz="1000" b="1" dirty="0">
                <a:solidFill>
                  <a:srgbClr val="0891B2"/>
                </a:solidFill>
              </a:rPr>
              <a:t>↓</a:t>
            </a:r>
            <a:endParaRPr lang="en-US" sz="1000" dirty="0"/>
          </a:p>
        </p:txBody>
      </p:sp>
      <p:sp>
        <p:nvSpPr>
          <p:cNvPr id="13" name="Shape 11"/>
          <p:cNvSpPr/>
          <p:nvPr/>
        </p:nvSpPr>
        <p:spPr>
          <a:xfrm>
            <a:off x="1371600" y="2029968"/>
            <a:ext cx="6400800" cy="475488"/>
          </a:xfrm>
          <a:prstGeom prst="rect">
            <a:avLst/>
          </a:prstGeom>
          <a:solidFill>
            <a:srgbClr val="0891B2"/>
          </a:solidFill>
          <a:ln/>
          <a:effectLst>
            <a:outerShdw blurRad="101600" dist="38100" dir="8100000" algn="bl" rotWithShape="0">
              <a:srgbClr val="000000">
                <a:alpha val="18000"/>
              </a:srgbClr>
            </a:outerShdw>
          </a:effectLst>
        </p:spPr>
        <p:txBody>
          <a:bodyPr/>
          <a:lstStyle/>
          <a:p>
            <a:endParaRPr lang="fr-TN"/>
          </a:p>
        </p:txBody>
      </p:sp>
      <p:sp>
        <p:nvSpPr>
          <p:cNvPr id="14" name="Text 12"/>
          <p:cNvSpPr/>
          <p:nvPr/>
        </p:nvSpPr>
        <p:spPr>
          <a:xfrm>
            <a:off x="1371600" y="2029968"/>
            <a:ext cx="6400800" cy="475488"/>
          </a:xfrm>
          <a:prstGeom prst="rect">
            <a:avLst/>
          </a:prstGeom>
          <a:noFill/>
          <a:ln/>
        </p:spPr>
        <p:txBody>
          <a:bodyPr wrap="square" lIns="0" tIns="0" rIns="0" bIns="0" rtlCol="0" anchor="ctr"/>
          <a:lstStyle/>
          <a:p>
            <a:pPr marL="0" indent="0" algn="ctr">
              <a:buNone/>
            </a:pPr>
            <a:r>
              <a:rPr lang="en-US" sz="1100" b="1" dirty="0">
                <a:solidFill>
                  <a:srgbClr val="FFFFFF"/>
                </a:solidFill>
              </a:rPr>
              <a:t>Positional Encoding (sinusoidal, max_len=50)</a:t>
            </a:r>
            <a:endParaRPr lang="en-US" sz="1100" dirty="0"/>
          </a:p>
        </p:txBody>
      </p:sp>
      <p:sp>
        <p:nvSpPr>
          <p:cNvPr id="15" name="Text 13"/>
          <p:cNvSpPr/>
          <p:nvPr/>
        </p:nvSpPr>
        <p:spPr>
          <a:xfrm>
            <a:off x="4206240" y="2505456"/>
            <a:ext cx="731520" cy="128016"/>
          </a:xfrm>
          <a:prstGeom prst="rect">
            <a:avLst/>
          </a:prstGeom>
          <a:noFill/>
          <a:ln/>
        </p:spPr>
        <p:txBody>
          <a:bodyPr wrap="square" lIns="0" tIns="0" rIns="0" bIns="0" rtlCol="0" anchor="ctr"/>
          <a:lstStyle/>
          <a:p>
            <a:pPr marL="0" indent="0" algn="ctr">
              <a:buNone/>
            </a:pPr>
            <a:r>
              <a:rPr lang="en-US" sz="1000" b="1" dirty="0">
                <a:solidFill>
                  <a:srgbClr val="0891B2"/>
                </a:solidFill>
              </a:rPr>
              <a:t>↓</a:t>
            </a:r>
            <a:endParaRPr lang="en-US" sz="1000" dirty="0"/>
          </a:p>
        </p:txBody>
      </p:sp>
      <p:sp>
        <p:nvSpPr>
          <p:cNvPr id="16" name="Shape 14"/>
          <p:cNvSpPr/>
          <p:nvPr/>
        </p:nvSpPr>
        <p:spPr>
          <a:xfrm>
            <a:off x="1371600" y="2633472"/>
            <a:ext cx="6400800" cy="475488"/>
          </a:xfrm>
          <a:prstGeom prst="rect">
            <a:avLst/>
          </a:prstGeom>
          <a:solidFill>
            <a:srgbClr val="8B5CF6"/>
          </a:solidFill>
          <a:ln/>
          <a:effectLst>
            <a:outerShdw blurRad="101600" dist="38100" dir="8100000" algn="bl" rotWithShape="0">
              <a:srgbClr val="000000">
                <a:alpha val="18000"/>
              </a:srgbClr>
            </a:outerShdw>
          </a:effectLst>
        </p:spPr>
        <p:txBody>
          <a:bodyPr/>
          <a:lstStyle/>
          <a:p>
            <a:endParaRPr lang="fr-TN"/>
          </a:p>
        </p:txBody>
      </p:sp>
      <p:sp>
        <p:nvSpPr>
          <p:cNvPr id="17" name="Text 15"/>
          <p:cNvSpPr/>
          <p:nvPr/>
        </p:nvSpPr>
        <p:spPr>
          <a:xfrm>
            <a:off x="1371600" y="2633472"/>
            <a:ext cx="6400800" cy="475488"/>
          </a:xfrm>
          <a:prstGeom prst="rect">
            <a:avLst/>
          </a:prstGeom>
          <a:noFill/>
          <a:ln/>
        </p:spPr>
        <p:txBody>
          <a:bodyPr wrap="square" lIns="0" tIns="0" rIns="0" bIns="0" rtlCol="0" anchor="ctr"/>
          <a:lstStyle/>
          <a:p>
            <a:pPr marL="0" indent="0" algn="ctr">
              <a:buNone/>
            </a:pPr>
            <a:r>
              <a:rPr lang="en-US" sz="1100" b="1" dirty="0">
                <a:solidFill>
                  <a:srgbClr val="FFFFFF"/>
                </a:solidFill>
              </a:rPr>
              <a:t>Transformer Encoder Block × 2</a:t>
            </a:r>
            <a:endParaRPr lang="en-US" sz="1100" dirty="0"/>
          </a:p>
          <a:p>
            <a:pPr marL="0" indent="0" algn="ctr">
              <a:buNone/>
            </a:pPr>
            <a:r>
              <a:rPr lang="en-US" sz="1100" b="1" dirty="0">
                <a:solidFill>
                  <a:srgbClr val="FFFFFF"/>
                </a:solidFill>
              </a:rPr>
              <a:t>(4 heads, d_ff=256, dropout=0.1)</a:t>
            </a:r>
            <a:endParaRPr lang="en-US" sz="1100" dirty="0"/>
          </a:p>
        </p:txBody>
      </p:sp>
      <p:sp>
        <p:nvSpPr>
          <p:cNvPr id="18" name="Text 16"/>
          <p:cNvSpPr/>
          <p:nvPr/>
        </p:nvSpPr>
        <p:spPr>
          <a:xfrm>
            <a:off x="4206240" y="3108960"/>
            <a:ext cx="731520" cy="128016"/>
          </a:xfrm>
          <a:prstGeom prst="rect">
            <a:avLst/>
          </a:prstGeom>
          <a:noFill/>
          <a:ln/>
        </p:spPr>
        <p:txBody>
          <a:bodyPr wrap="square" lIns="0" tIns="0" rIns="0" bIns="0" rtlCol="0" anchor="ctr"/>
          <a:lstStyle/>
          <a:p>
            <a:pPr marL="0" indent="0" algn="ctr">
              <a:buNone/>
            </a:pPr>
            <a:r>
              <a:rPr lang="en-US" sz="1000" b="1" dirty="0">
                <a:solidFill>
                  <a:srgbClr val="0891B2"/>
                </a:solidFill>
              </a:rPr>
              <a:t>↓</a:t>
            </a:r>
            <a:endParaRPr lang="en-US" sz="1000" dirty="0"/>
          </a:p>
        </p:txBody>
      </p:sp>
      <p:sp>
        <p:nvSpPr>
          <p:cNvPr id="19" name="Shape 17"/>
          <p:cNvSpPr/>
          <p:nvPr/>
        </p:nvSpPr>
        <p:spPr>
          <a:xfrm>
            <a:off x="1371600" y="3236976"/>
            <a:ext cx="6400800" cy="475488"/>
          </a:xfrm>
          <a:prstGeom prst="rect">
            <a:avLst/>
          </a:prstGeom>
          <a:solidFill>
            <a:srgbClr val="F59E0B"/>
          </a:solidFill>
          <a:ln/>
          <a:effectLst>
            <a:outerShdw blurRad="101600" dist="38100" dir="8100000" algn="bl" rotWithShape="0">
              <a:srgbClr val="000000">
                <a:alpha val="18000"/>
              </a:srgbClr>
            </a:outerShdw>
          </a:effectLst>
        </p:spPr>
        <p:txBody>
          <a:bodyPr/>
          <a:lstStyle/>
          <a:p>
            <a:endParaRPr lang="fr-TN"/>
          </a:p>
        </p:txBody>
      </p:sp>
      <p:sp>
        <p:nvSpPr>
          <p:cNvPr id="20" name="Text 18"/>
          <p:cNvSpPr/>
          <p:nvPr/>
        </p:nvSpPr>
        <p:spPr>
          <a:xfrm>
            <a:off x="1371600" y="3236976"/>
            <a:ext cx="6400800" cy="475488"/>
          </a:xfrm>
          <a:prstGeom prst="rect">
            <a:avLst/>
          </a:prstGeom>
          <a:noFill/>
          <a:ln/>
        </p:spPr>
        <p:txBody>
          <a:bodyPr wrap="square" lIns="0" tIns="0" rIns="0" bIns="0" rtlCol="0" anchor="ctr"/>
          <a:lstStyle/>
          <a:p>
            <a:pPr marL="0" indent="0" algn="ctr">
              <a:buNone/>
            </a:pPr>
            <a:r>
              <a:rPr lang="en-US" sz="1100" b="1" dirty="0">
                <a:solidFill>
                  <a:srgbClr val="000000"/>
                </a:solidFill>
              </a:rPr>
              <a:t>Global Average Pooling (sequence → single vector)</a:t>
            </a:r>
            <a:endParaRPr lang="en-US" sz="1100" dirty="0"/>
          </a:p>
        </p:txBody>
      </p:sp>
      <p:sp>
        <p:nvSpPr>
          <p:cNvPr id="21" name="Text 19"/>
          <p:cNvSpPr/>
          <p:nvPr/>
        </p:nvSpPr>
        <p:spPr>
          <a:xfrm>
            <a:off x="4206240" y="3712464"/>
            <a:ext cx="731520" cy="128016"/>
          </a:xfrm>
          <a:prstGeom prst="rect">
            <a:avLst/>
          </a:prstGeom>
          <a:noFill/>
          <a:ln/>
        </p:spPr>
        <p:txBody>
          <a:bodyPr wrap="square" lIns="0" tIns="0" rIns="0" bIns="0" rtlCol="0" anchor="ctr"/>
          <a:lstStyle/>
          <a:p>
            <a:pPr marL="0" indent="0" algn="ctr">
              <a:buNone/>
            </a:pPr>
            <a:r>
              <a:rPr lang="en-US" sz="1000" b="1" dirty="0">
                <a:solidFill>
                  <a:srgbClr val="0891B2"/>
                </a:solidFill>
              </a:rPr>
              <a:t>↓</a:t>
            </a:r>
            <a:endParaRPr lang="en-US" sz="1000" dirty="0"/>
          </a:p>
        </p:txBody>
      </p:sp>
      <p:sp>
        <p:nvSpPr>
          <p:cNvPr id="22" name="Shape 20"/>
          <p:cNvSpPr/>
          <p:nvPr/>
        </p:nvSpPr>
        <p:spPr>
          <a:xfrm>
            <a:off x="1371600" y="3840480"/>
            <a:ext cx="6400800" cy="475488"/>
          </a:xfrm>
          <a:prstGeom prst="rect">
            <a:avLst/>
          </a:prstGeom>
          <a:solidFill>
            <a:srgbClr val="10B981"/>
          </a:solidFill>
          <a:ln/>
          <a:effectLst>
            <a:outerShdw blurRad="101600" dist="38100" dir="8100000" algn="bl" rotWithShape="0">
              <a:srgbClr val="000000">
                <a:alpha val="18000"/>
              </a:srgbClr>
            </a:outerShdw>
          </a:effectLst>
        </p:spPr>
        <p:txBody>
          <a:bodyPr/>
          <a:lstStyle/>
          <a:p>
            <a:endParaRPr lang="fr-TN"/>
          </a:p>
        </p:txBody>
      </p:sp>
      <p:sp>
        <p:nvSpPr>
          <p:cNvPr id="23" name="Text 21"/>
          <p:cNvSpPr/>
          <p:nvPr/>
        </p:nvSpPr>
        <p:spPr>
          <a:xfrm>
            <a:off x="1371600" y="3840480"/>
            <a:ext cx="6400800" cy="475488"/>
          </a:xfrm>
          <a:prstGeom prst="rect">
            <a:avLst/>
          </a:prstGeom>
          <a:noFill/>
          <a:ln/>
        </p:spPr>
        <p:txBody>
          <a:bodyPr wrap="square" lIns="0" tIns="0" rIns="0" bIns="0" rtlCol="0" anchor="ctr"/>
          <a:lstStyle/>
          <a:p>
            <a:pPr marL="0" indent="0" algn="ctr">
              <a:buNone/>
            </a:pPr>
            <a:r>
              <a:rPr lang="en-US" sz="1100" b="1" dirty="0">
                <a:solidFill>
                  <a:srgbClr val="FFFFFF"/>
                </a:solidFill>
              </a:rPr>
              <a:t>Fully Connected Layer (64 → 2)</a:t>
            </a:r>
            <a:endParaRPr lang="en-US" sz="1100" dirty="0"/>
          </a:p>
        </p:txBody>
      </p:sp>
      <p:sp>
        <p:nvSpPr>
          <p:cNvPr id="24" name="Text 22"/>
          <p:cNvSpPr/>
          <p:nvPr/>
        </p:nvSpPr>
        <p:spPr>
          <a:xfrm>
            <a:off x="4206240" y="4315968"/>
            <a:ext cx="731520" cy="128016"/>
          </a:xfrm>
          <a:prstGeom prst="rect">
            <a:avLst/>
          </a:prstGeom>
          <a:noFill/>
          <a:ln/>
        </p:spPr>
        <p:txBody>
          <a:bodyPr wrap="square" lIns="0" tIns="0" rIns="0" bIns="0" rtlCol="0" anchor="ctr"/>
          <a:lstStyle/>
          <a:p>
            <a:pPr marL="0" indent="0" algn="ctr">
              <a:buNone/>
            </a:pPr>
            <a:r>
              <a:rPr lang="en-US" sz="1000" b="1" dirty="0">
                <a:solidFill>
                  <a:srgbClr val="0891B2"/>
                </a:solidFill>
              </a:rPr>
              <a:t>↓</a:t>
            </a:r>
            <a:endParaRPr lang="en-US" sz="1000" dirty="0"/>
          </a:p>
        </p:txBody>
      </p:sp>
      <p:sp>
        <p:nvSpPr>
          <p:cNvPr id="25" name="Shape 23"/>
          <p:cNvSpPr/>
          <p:nvPr/>
        </p:nvSpPr>
        <p:spPr>
          <a:xfrm>
            <a:off x="1371600" y="4443984"/>
            <a:ext cx="6400800" cy="475488"/>
          </a:xfrm>
          <a:prstGeom prst="rect">
            <a:avLst/>
          </a:prstGeom>
          <a:solidFill>
            <a:srgbClr val="EF4444"/>
          </a:solidFill>
          <a:ln/>
          <a:effectLst>
            <a:outerShdw blurRad="101600" dist="38100" dir="8100000" algn="bl" rotWithShape="0">
              <a:srgbClr val="000000">
                <a:alpha val="18000"/>
              </a:srgbClr>
            </a:outerShdw>
          </a:effectLst>
        </p:spPr>
        <p:txBody>
          <a:bodyPr/>
          <a:lstStyle/>
          <a:p>
            <a:endParaRPr lang="fr-TN"/>
          </a:p>
        </p:txBody>
      </p:sp>
      <p:sp>
        <p:nvSpPr>
          <p:cNvPr id="26" name="Text 24"/>
          <p:cNvSpPr/>
          <p:nvPr/>
        </p:nvSpPr>
        <p:spPr>
          <a:xfrm>
            <a:off x="1371600" y="4443984"/>
            <a:ext cx="6400800" cy="475488"/>
          </a:xfrm>
          <a:prstGeom prst="rect">
            <a:avLst/>
          </a:prstGeom>
          <a:noFill/>
          <a:ln/>
        </p:spPr>
        <p:txBody>
          <a:bodyPr wrap="square" lIns="0" tIns="0" rIns="0" bIns="0" rtlCol="0" anchor="ctr"/>
          <a:lstStyle/>
          <a:p>
            <a:pPr marL="0" indent="0" algn="ctr">
              <a:buNone/>
            </a:pPr>
            <a:r>
              <a:rPr lang="en-US" sz="1100" b="1" dirty="0">
                <a:solidFill>
                  <a:srgbClr val="FFFFFF"/>
                </a:solidFill>
              </a:rPr>
              <a:t>Softmax → Class: High-Value | Low-Value</a:t>
            </a:r>
            <a:endParaRPr lang="en-US" sz="1100" dirty="0"/>
          </a:p>
        </p:txBody>
      </p:sp>
      <p:sp>
        <p:nvSpPr>
          <p:cNvPr id="27" name="Text 25"/>
          <p:cNvSpPr/>
          <p:nvPr/>
        </p:nvSpPr>
        <p:spPr>
          <a:xfrm>
            <a:off x="274320" y="4956048"/>
            <a:ext cx="8595360" cy="182880"/>
          </a:xfrm>
          <a:prstGeom prst="rect">
            <a:avLst/>
          </a:prstGeom>
          <a:noFill/>
          <a:ln/>
        </p:spPr>
        <p:txBody>
          <a:bodyPr wrap="square" rtlCol="0" anchor="ctr"/>
          <a:lstStyle/>
          <a:p>
            <a:pPr marL="0" indent="0" algn="ctr">
              <a:buNone/>
            </a:pPr>
            <a:r>
              <a:rPr lang="en-US" sz="950" i="1" dirty="0">
                <a:solidFill>
                  <a:srgbClr val="64748B"/>
                </a:solidFill>
              </a:rPr>
              <a:t>Total Parameters ≈ 280,000 | Training: Adam optimizer, lr=1e-3, 20 epochs, batch size=32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fr-TN"/>
          </a:p>
        </p:txBody>
      </p:sp>
      <p:sp>
        <p:nvSpPr>
          <p:cNvPr id="3" name="Shape 1"/>
          <p:cNvSpPr/>
          <p:nvPr/>
        </p:nvSpPr>
        <p:spPr>
          <a:xfrm>
            <a:off x="109728" y="0"/>
            <a:ext cx="9034272" cy="658368"/>
          </a:xfrm>
          <a:prstGeom prst="rect">
            <a:avLst/>
          </a:prstGeom>
          <a:solidFill>
            <a:srgbClr val="0D1B2A"/>
          </a:solidFill>
          <a:ln/>
        </p:spPr>
        <p:txBody>
          <a:bodyPr/>
          <a:lstStyle/>
          <a:p>
            <a:endParaRPr lang="fr-TN"/>
          </a:p>
        </p:txBody>
      </p:sp>
      <p:sp>
        <p:nvSpPr>
          <p:cNvPr id="4" name="Text 2"/>
          <p:cNvSpPr/>
          <p:nvPr/>
        </p:nvSpPr>
        <p:spPr>
          <a:xfrm>
            <a:off x="274320" y="64008"/>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07 · Attention Heatmap Visualization</a:t>
            </a:r>
            <a:endParaRPr lang="en-US" sz="2200" dirty="0"/>
          </a:p>
        </p:txBody>
      </p:sp>
      <p:sp>
        <p:nvSpPr>
          <p:cNvPr id="5" name="Shape 3"/>
          <p:cNvSpPr/>
          <p:nvPr/>
        </p:nvSpPr>
        <p:spPr>
          <a:xfrm>
            <a:off x="7498080" y="109728"/>
            <a:ext cx="1463040" cy="384048"/>
          </a:xfrm>
          <a:prstGeom prst="rect">
            <a:avLst/>
          </a:prstGeom>
          <a:solidFill>
            <a:srgbClr val="0891B2"/>
          </a:solidFill>
          <a:ln/>
        </p:spPr>
        <p:txBody>
          <a:bodyPr/>
          <a:lstStyle/>
          <a:p>
            <a:endParaRPr lang="fr-TN"/>
          </a:p>
        </p:txBody>
      </p:sp>
      <p:sp>
        <p:nvSpPr>
          <p:cNvPr id="6" name="Text 4"/>
          <p:cNvSpPr/>
          <p:nvPr/>
        </p:nvSpPr>
        <p:spPr>
          <a:xfrm>
            <a:off x="7498080" y="109728"/>
            <a:ext cx="1463040" cy="384048"/>
          </a:xfrm>
          <a:prstGeom prst="rect">
            <a:avLst/>
          </a:prstGeom>
          <a:noFill/>
          <a:ln/>
        </p:spPr>
        <p:txBody>
          <a:bodyPr wrap="square" lIns="0" tIns="0" rIns="0" bIns="0" rtlCol="0" anchor="ctr"/>
          <a:lstStyle/>
          <a:p>
            <a:pPr marL="0" indent="0" algn="ctr">
              <a:buNone/>
            </a:pPr>
            <a:r>
              <a:rPr lang="en-US" sz="900" dirty="0">
                <a:solidFill>
                  <a:srgbClr val="FFFFFF"/>
                </a:solidFill>
              </a:rPr>
              <a:t>Section 7</a:t>
            </a:r>
            <a:endParaRPr lang="en-US" sz="900" dirty="0"/>
          </a:p>
        </p:txBody>
      </p:sp>
      <p:sp>
        <p:nvSpPr>
          <p:cNvPr id="7" name="Text 5"/>
          <p:cNvSpPr/>
          <p:nvPr/>
        </p:nvSpPr>
        <p:spPr>
          <a:xfrm>
            <a:off x="1371600" y="576072"/>
            <a:ext cx="658368" cy="292608"/>
          </a:xfrm>
          <a:prstGeom prst="rect">
            <a:avLst/>
          </a:prstGeom>
          <a:noFill/>
          <a:ln/>
        </p:spPr>
        <p:txBody>
          <a:bodyPr wrap="square" rtlCol="0" anchor="ctr"/>
          <a:lstStyle/>
          <a:p>
            <a:pPr marL="0" indent="0" algn="ctr">
              <a:buNone/>
            </a:pPr>
            <a:r>
              <a:rPr lang="en-US" sz="800" b="1" dirty="0">
                <a:solidFill>
                  <a:srgbClr val="0D1B2A"/>
                </a:solidFill>
              </a:rPr>
              <a:t>ROSES</a:t>
            </a:r>
            <a:endParaRPr lang="en-US" sz="800" dirty="0"/>
          </a:p>
        </p:txBody>
      </p:sp>
      <p:sp>
        <p:nvSpPr>
          <p:cNvPr id="8" name="Text 6"/>
          <p:cNvSpPr/>
          <p:nvPr/>
        </p:nvSpPr>
        <p:spPr>
          <a:xfrm>
            <a:off x="91440" y="896112"/>
            <a:ext cx="1234440" cy="457200"/>
          </a:xfrm>
          <a:prstGeom prst="rect">
            <a:avLst/>
          </a:prstGeom>
          <a:noFill/>
          <a:ln/>
        </p:spPr>
        <p:txBody>
          <a:bodyPr wrap="square" rtlCol="0" anchor="ctr"/>
          <a:lstStyle/>
          <a:p>
            <a:pPr marL="0" indent="0" algn="r">
              <a:buNone/>
            </a:pPr>
            <a:r>
              <a:rPr lang="en-US" sz="800" dirty="0">
                <a:solidFill>
                  <a:srgbClr val="0D1B2A"/>
                </a:solidFill>
              </a:rPr>
              <a:t>ROSES</a:t>
            </a:r>
            <a:endParaRPr lang="en-US" sz="800" dirty="0"/>
          </a:p>
        </p:txBody>
      </p:sp>
      <p:sp>
        <p:nvSpPr>
          <p:cNvPr id="9" name="Text 7"/>
          <p:cNvSpPr/>
          <p:nvPr/>
        </p:nvSpPr>
        <p:spPr>
          <a:xfrm>
            <a:off x="2029968" y="576072"/>
            <a:ext cx="658368" cy="292608"/>
          </a:xfrm>
          <a:prstGeom prst="rect">
            <a:avLst/>
          </a:prstGeom>
          <a:noFill/>
          <a:ln/>
        </p:spPr>
        <p:txBody>
          <a:bodyPr wrap="square" rtlCol="0" anchor="ctr"/>
          <a:lstStyle/>
          <a:p>
            <a:pPr marL="0" indent="0" algn="ctr">
              <a:buNone/>
            </a:pPr>
            <a:r>
              <a:rPr lang="en-US" sz="800" b="1" dirty="0">
                <a:solidFill>
                  <a:srgbClr val="0D1B2A"/>
                </a:solidFill>
              </a:rPr>
              <a:t>LAMPS</a:t>
            </a:r>
            <a:endParaRPr lang="en-US" sz="800" dirty="0"/>
          </a:p>
        </p:txBody>
      </p:sp>
      <p:sp>
        <p:nvSpPr>
          <p:cNvPr id="10" name="Text 8"/>
          <p:cNvSpPr/>
          <p:nvPr/>
        </p:nvSpPr>
        <p:spPr>
          <a:xfrm>
            <a:off x="91440" y="1353312"/>
            <a:ext cx="1234440" cy="457200"/>
          </a:xfrm>
          <a:prstGeom prst="rect">
            <a:avLst/>
          </a:prstGeom>
          <a:noFill/>
          <a:ln/>
        </p:spPr>
        <p:txBody>
          <a:bodyPr wrap="square" rtlCol="0" anchor="ctr"/>
          <a:lstStyle/>
          <a:p>
            <a:pPr marL="0" indent="0" algn="r">
              <a:buNone/>
            </a:pPr>
            <a:r>
              <a:rPr lang="en-US" sz="800" dirty="0">
                <a:solidFill>
                  <a:srgbClr val="0D1B2A"/>
                </a:solidFill>
              </a:rPr>
              <a:t>LAMPS</a:t>
            </a:r>
            <a:endParaRPr lang="en-US" sz="800" dirty="0"/>
          </a:p>
        </p:txBody>
      </p:sp>
      <p:sp>
        <p:nvSpPr>
          <p:cNvPr id="11" name="Text 9"/>
          <p:cNvSpPr/>
          <p:nvPr/>
        </p:nvSpPr>
        <p:spPr>
          <a:xfrm>
            <a:off x="2688336" y="576072"/>
            <a:ext cx="658368" cy="292608"/>
          </a:xfrm>
          <a:prstGeom prst="rect">
            <a:avLst/>
          </a:prstGeom>
          <a:noFill/>
          <a:ln/>
        </p:spPr>
        <p:txBody>
          <a:bodyPr wrap="square" rtlCol="0" anchor="ctr"/>
          <a:lstStyle/>
          <a:p>
            <a:pPr marL="0" indent="0" algn="ctr">
              <a:buNone/>
            </a:pPr>
            <a:r>
              <a:rPr lang="en-US" sz="800" b="1" dirty="0">
                <a:solidFill>
                  <a:srgbClr val="0D1B2A"/>
                </a:solidFill>
              </a:rPr>
              <a:t>MUFFIN</a:t>
            </a:r>
            <a:endParaRPr lang="en-US" sz="800" dirty="0"/>
          </a:p>
        </p:txBody>
      </p:sp>
      <p:sp>
        <p:nvSpPr>
          <p:cNvPr id="12" name="Text 10"/>
          <p:cNvSpPr/>
          <p:nvPr/>
        </p:nvSpPr>
        <p:spPr>
          <a:xfrm>
            <a:off x="91440" y="1810512"/>
            <a:ext cx="1234440" cy="457200"/>
          </a:xfrm>
          <a:prstGeom prst="rect">
            <a:avLst/>
          </a:prstGeom>
          <a:noFill/>
          <a:ln/>
        </p:spPr>
        <p:txBody>
          <a:bodyPr wrap="square" rtlCol="0" anchor="ctr"/>
          <a:lstStyle/>
          <a:p>
            <a:pPr marL="0" indent="0" algn="r">
              <a:buNone/>
            </a:pPr>
            <a:r>
              <a:rPr lang="en-US" sz="800" dirty="0">
                <a:solidFill>
                  <a:srgbClr val="0D1B2A"/>
                </a:solidFill>
              </a:rPr>
              <a:t>MUFFIN</a:t>
            </a:r>
            <a:endParaRPr lang="en-US" sz="800" dirty="0"/>
          </a:p>
        </p:txBody>
      </p:sp>
      <p:sp>
        <p:nvSpPr>
          <p:cNvPr id="13" name="Text 11"/>
          <p:cNvSpPr/>
          <p:nvPr/>
        </p:nvSpPr>
        <p:spPr>
          <a:xfrm>
            <a:off x="3346704" y="576072"/>
            <a:ext cx="658368" cy="292608"/>
          </a:xfrm>
          <a:prstGeom prst="rect">
            <a:avLst/>
          </a:prstGeom>
          <a:noFill/>
          <a:ln/>
        </p:spPr>
        <p:txBody>
          <a:bodyPr wrap="square" rtlCol="0" anchor="ctr"/>
          <a:lstStyle/>
          <a:p>
            <a:pPr marL="0" indent="0" algn="ctr">
              <a:buNone/>
            </a:pPr>
            <a:r>
              <a:rPr lang="en-US" sz="800" b="1" dirty="0">
                <a:solidFill>
                  <a:srgbClr val="0D1B2A"/>
                </a:solidFill>
              </a:rPr>
              <a:t>GLASS</a:t>
            </a:r>
            <a:endParaRPr lang="en-US" sz="800" dirty="0"/>
          </a:p>
        </p:txBody>
      </p:sp>
      <p:sp>
        <p:nvSpPr>
          <p:cNvPr id="14" name="Text 12"/>
          <p:cNvSpPr/>
          <p:nvPr/>
        </p:nvSpPr>
        <p:spPr>
          <a:xfrm>
            <a:off x="91440" y="2267712"/>
            <a:ext cx="1234440" cy="457200"/>
          </a:xfrm>
          <a:prstGeom prst="rect">
            <a:avLst/>
          </a:prstGeom>
          <a:noFill/>
          <a:ln/>
        </p:spPr>
        <p:txBody>
          <a:bodyPr wrap="square" rtlCol="0" anchor="ctr"/>
          <a:lstStyle/>
          <a:p>
            <a:pPr marL="0" indent="0" algn="r">
              <a:buNone/>
            </a:pPr>
            <a:r>
              <a:rPr lang="en-US" sz="800" dirty="0">
                <a:solidFill>
                  <a:srgbClr val="0D1B2A"/>
                </a:solidFill>
              </a:rPr>
              <a:t>GLASS</a:t>
            </a:r>
            <a:endParaRPr lang="en-US" sz="800" dirty="0"/>
          </a:p>
        </p:txBody>
      </p:sp>
      <p:sp>
        <p:nvSpPr>
          <p:cNvPr id="15" name="Text 13"/>
          <p:cNvSpPr/>
          <p:nvPr/>
        </p:nvSpPr>
        <p:spPr>
          <a:xfrm>
            <a:off x="4005072" y="576072"/>
            <a:ext cx="658368" cy="292608"/>
          </a:xfrm>
          <a:prstGeom prst="rect">
            <a:avLst/>
          </a:prstGeom>
          <a:noFill/>
          <a:ln/>
        </p:spPr>
        <p:txBody>
          <a:bodyPr wrap="square" rtlCol="0" anchor="ctr"/>
          <a:lstStyle/>
          <a:p>
            <a:pPr marL="0" indent="0" algn="ctr">
              <a:buNone/>
            </a:pPr>
            <a:r>
              <a:rPr lang="en-US" sz="800" b="1" dirty="0">
                <a:solidFill>
                  <a:srgbClr val="0D1B2A"/>
                </a:solidFill>
              </a:rPr>
              <a:t>HEART</a:t>
            </a:r>
            <a:endParaRPr lang="en-US" sz="800" dirty="0"/>
          </a:p>
        </p:txBody>
      </p:sp>
      <p:sp>
        <p:nvSpPr>
          <p:cNvPr id="16" name="Text 14"/>
          <p:cNvSpPr/>
          <p:nvPr/>
        </p:nvSpPr>
        <p:spPr>
          <a:xfrm>
            <a:off x="91440" y="2724912"/>
            <a:ext cx="1234440" cy="457200"/>
          </a:xfrm>
          <a:prstGeom prst="rect">
            <a:avLst/>
          </a:prstGeom>
          <a:noFill/>
          <a:ln/>
        </p:spPr>
        <p:txBody>
          <a:bodyPr wrap="square" rtlCol="0" anchor="ctr"/>
          <a:lstStyle/>
          <a:p>
            <a:pPr marL="0" indent="0" algn="r">
              <a:buNone/>
            </a:pPr>
            <a:r>
              <a:rPr lang="en-US" sz="800" dirty="0">
                <a:solidFill>
                  <a:srgbClr val="0D1B2A"/>
                </a:solidFill>
              </a:rPr>
              <a:t>HEART</a:t>
            </a:r>
            <a:endParaRPr lang="en-US" sz="800" dirty="0"/>
          </a:p>
        </p:txBody>
      </p:sp>
      <p:sp>
        <p:nvSpPr>
          <p:cNvPr id="17" name="Text 15"/>
          <p:cNvSpPr/>
          <p:nvPr/>
        </p:nvSpPr>
        <p:spPr>
          <a:xfrm>
            <a:off x="4663440" y="576072"/>
            <a:ext cx="658368" cy="292608"/>
          </a:xfrm>
          <a:prstGeom prst="rect">
            <a:avLst/>
          </a:prstGeom>
          <a:noFill/>
          <a:ln/>
        </p:spPr>
        <p:txBody>
          <a:bodyPr wrap="square" rtlCol="0" anchor="ctr"/>
          <a:lstStyle/>
          <a:p>
            <a:pPr marL="0" indent="0" algn="ctr">
              <a:buNone/>
            </a:pPr>
            <a:r>
              <a:rPr lang="en-US" sz="800" b="1" dirty="0">
                <a:solidFill>
                  <a:srgbClr val="0D1B2A"/>
                </a:solidFill>
              </a:rPr>
              <a:t>CANDLE</a:t>
            </a:r>
            <a:endParaRPr lang="en-US" sz="800" dirty="0"/>
          </a:p>
        </p:txBody>
      </p:sp>
      <p:sp>
        <p:nvSpPr>
          <p:cNvPr id="18" name="Text 16"/>
          <p:cNvSpPr/>
          <p:nvPr/>
        </p:nvSpPr>
        <p:spPr>
          <a:xfrm>
            <a:off x="91440" y="3182112"/>
            <a:ext cx="1234440" cy="457200"/>
          </a:xfrm>
          <a:prstGeom prst="rect">
            <a:avLst/>
          </a:prstGeom>
          <a:noFill/>
          <a:ln/>
        </p:spPr>
        <p:txBody>
          <a:bodyPr wrap="square" rtlCol="0" anchor="ctr"/>
          <a:lstStyle/>
          <a:p>
            <a:pPr marL="0" indent="0" algn="r">
              <a:buNone/>
            </a:pPr>
            <a:r>
              <a:rPr lang="en-US" sz="800" dirty="0">
                <a:solidFill>
                  <a:srgbClr val="0D1B2A"/>
                </a:solidFill>
              </a:rPr>
              <a:t>CANDLE</a:t>
            </a:r>
            <a:endParaRPr lang="en-US" sz="800" dirty="0"/>
          </a:p>
        </p:txBody>
      </p:sp>
      <p:sp>
        <p:nvSpPr>
          <p:cNvPr id="19" name="Text 17"/>
          <p:cNvSpPr/>
          <p:nvPr/>
        </p:nvSpPr>
        <p:spPr>
          <a:xfrm>
            <a:off x="5321808" y="576072"/>
            <a:ext cx="658368" cy="292608"/>
          </a:xfrm>
          <a:prstGeom prst="rect">
            <a:avLst/>
          </a:prstGeom>
          <a:noFill/>
          <a:ln/>
        </p:spPr>
        <p:txBody>
          <a:bodyPr wrap="square" rtlCol="0" anchor="ctr"/>
          <a:lstStyle/>
          <a:p>
            <a:pPr marL="0" indent="0" algn="ctr">
              <a:buNone/>
            </a:pPr>
            <a:r>
              <a:rPr lang="en-US" sz="800" b="1" dirty="0">
                <a:solidFill>
                  <a:srgbClr val="0D1B2A"/>
                </a:solidFill>
              </a:rPr>
              <a:t>FRAME</a:t>
            </a:r>
            <a:endParaRPr lang="en-US" sz="800" dirty="0"/>
          </a:p>
        </p:txBody>
      </p:sp>
      <p:sp>
        <p:nvSpPr>
          <p:cNvPr id="20" name="Text 18"/>
          <p:cNvSpPr/>
          <p:nvPr/>
        </p:nvSpPr>
        <p:spPr>
          <a:xfrm>
            <a:off x="91440" y="3639312"/>
            <a:ext cx="1234440" cy="457200"/>
          </a:xfrm>
          <a:prstGeom prst="rect">
            <a:avLst/>
          </a:prstGeom>
          <a:noFill/>
          <a:ln/>
        </p:spPr>
        <p:txBody>
          <a:bodyPr wrap="square" rtlCol="0" anchor="ctr"/>
          <a:lstStyle/>
          <a:p>
            <a:pPr marL="0" indent="0" algn="r">
              <a:buNone/>
            </a:pPr>
            <a:r>
              <a:rPr lang="en-US" sz="800" dirty="0">
                <a:solidFill>
                  <a:srgbClr val="0D1B2A"/>
                </a:solidFill>
              </a:rPr>
              <a:t>FRAME</a:t>
            </a:r>
            <a:endParaRPr lang="en-US" sz="800" dirty="0"/>
          </a:p>
        </p:txBody>
      </p:sp>
      <p:sp>
        <p:nvSpPr>
          <p:cNvPr id="21" name="Text 19"/>
          <p:cNvSpPr/>
          <p:nvPr/>
        </p:nvSpPr>
        <p:spPr>
          <a:xfrm>
            <a:off x="5980176" y="576072"/>
            <a:ext cx="658368" cy="292608"/>
          </a:xfrm>
          <a:prstGeom prst="rect">
            <a:avLst/>
          </a:prstGeom>
          <a:noFill/>
          <a:ln/>
        </p:spPr>
        <p:txBody>
          <a:bodyPr wrap="square" rtlCol="0" anchor="ctr"/>
          <a:lstStyle/>
          <a:p>
            <a:pPr marL="0" indent="0" algn="ctr">
              <a:buNone/>
            </a:pPr>
            <a:r>
              <a:rPr lang="en-US" sz="800" b="1" dirty="0">
                <a:solidFill>
                  <a:srgbClr val="0D1B2A"/>
                </a:solidFill>
              </a:rPr>
              <a:t>SOCKS</a:t>
            </a:r>
            <a:endParaRPr lang="en-US" sz="800" dirty="0"/>
          </a:p>
        </p:txBody>
      </p:sp>
      <p:sp>
        <p:nvSpPr>
          <p:cNvPr id="22" name="Text 20"/>
          <p:cNvSpPr/>
          <p:nvPr/>
        </p:nvSpPr>
        <p:spPr>
          <a:xfrm>
            <a:off x="91440" y="4096512"/>
            <a:ext cx="1234440" cy="457200"/>
          </a:xfrm>
          <a:prstGeom prst="rect">
            <a:avLst/>
          </a:prstGeom>
          <a:noFill/>
          <a:ln/>
        </p:spPr>
        <p:txBody>
          <a:bodyPr wrap="square" rtlCol="0" anchor="ctr"/>
          <a:lstStyle/>
          <a:p>
            <a:pPr marL="0" indent="0" algn="r">
              <a:buNone/>
            </a:pPr>
            <a:r>
              <a:rPr lang="en-US" sz="800" dirty="0">
                <a:solidFill>
                  <a:srgbClr val="0D1B2A"/>
                </a:solidFill>
              </a:rPr>
              <a:t>SOCKS</a:t>
            </a:r>
            <a:endParaRPr lang="en-US" sz="800" dirty="0"/>
          </a:p>
        </p:txBody>
      </p:sp>
      <p:sp>
        <p:nvSpPr>
          <p:cNvPr id="23" name="Shape 21"/>
          <p:cNvSpPr/>
          <p:nvPr/>
        </p:nvSpPr>
        <p:spPr>
          <a:xfrm>
            <a:off x="1371600" y="896112"/>
            <a:ext cx="658368" cy="457200"/>
          </a:xfrm>
          <a:prstGeom prst="rect">
            <a:avLst/>
          </a:prstGeom>
          <a:solidFill>
            <a:srgbClr val="ECB174"/>
          </a:solidFill>
          <a:ln w="6350">
            <a:solidFill>
              <a:srgbClr val="FFFFFF"/>
            </a:solidFill>
            <a:prstDash val="solid"/>
          </a:ln>
        </p:spPr>
        <p:txBody>
          <a:bodyPr/>
          <a:lstStyle/>
          <a:p>
            <a:endParaRPr lang="fr-TN"/>
          </a:p>
        </p:txBody>
      </p:sp>
      <p:sp>
        <p:nvSpPr>
          <p:cNvPr id="24" name="Text 22"/>
          <p:cNvSpPr/>
          <p:nvPr/>
        </p:nvSpPr>
        <p:spPr>
          <a:xfrm>
            <a:off x="1371600" y="8961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0.42</a:t>
            </a:r>
            <a:endParaRPr lang="en-US" sz="800" dirty="0"/>
          </a:p>
        </p:txBody>
      </p:sp>
      <p:sp>
        <p:nvSpPr>
          <p:cNvPr id="25" name="Shape 23"/>
          <p:cNvSpPr/>
          <p:nvPr/>
        </p:nvSpPr>
        <p:spPr>
          <a:xfrm>
            <a:off x="2029968" y="896112"/>
            <a:ext cx="658368" cy="457200"/>
          </a:xfrm>
          <a:prstGeom prst="rect">
            <a:avLst/>
          </a:prstGeom>
          <a:solidFill>
            <a:srgbClr val="2DFFB8"/>
          </a:solidFill>
          <a:ln w="6350">
            <a:solidFill>
              <a:srgbClr val="FFFFFF"/>
            </a:solidFill>
            <a:prstDash val="solid"/>
          </a:ln>
        </p:spPr>
        <p:txBody>
          <a:bodyPr/>
          <a:lstStyle/>
          <a:p>
            <a:endParaRPr lang="fr-TN"/>
          </a:p>
        </p:txBody>
      </p:sp>
      <p:sp>
        <p:nvSpPr>
          <p:cNvPr id="26" name="Text 24"/>
          <p:cNvSpPr/>
          <p:nvPr/>
        </p:nvSpPr>
        <p:spPr>
          <a:xfrm>
            <a:off x="2029968" y="896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27" name="Shape 25"/>
          <p:cNvSpPr/>
          <p:nvPr/>
        </p:nvSpPr>
        <p:spPr>
          <a:xfrm>
            <a:off x="2688336" y="896112"/>
            <a:ext cx="658368" cy="457200"/>
          </a:xfrm>
          <a:prstGeom prst="rect">
            <a:avLst/>
          </a:prstGeom>
          <a:solidFill>
            <a:srgbClr val="1CFFBE"/>
          </a:solidFill>
          <a:ln w="6350">
            <a:solidFill>
              <a:srgbClr val="FFFFFF"/>
            </a:solidFill>
            <a:prstDash val="solid"/>
          </a:ln>
        </p:spPr>
        <p:txBody>
          <a:bodyPr/>
          <a:lstStyle/>
          <a:p>
            <a:endParaRPr lang="fr-TN"/>
          </a:p>
        </p:txBody>
      </p:sp>
      <p:sp>
        <p:nvSpPr>
          <p:cNvPr id="28" name="Text 26"/>
          <p:cNvSpPr/>
          <p:nvPr/>
        </p:nvSpPr>
        <p:spPr>
          <a:xfrm>
            <a:off x="2688336" y="896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0.05</a:t>
            </a:r>
            <a:endParaRPr lang="en-US" sz="800" dirty="0"/>
          </a:p>
        </p:txBody>
      </p:sp>
      <p:sp>
        <p:nvSpPr>
          <p:cNvPr id="29" name="Shape 27"/>
          <p:cNvSpPr/>
          <p:nvPr/>
        </p:nvSpPr>
        <p:spPr>
          <a:xfrm>
            <a:off x="3346704" y="896112"/>
            <a:ext cx="658368" cy="457200"/>
          </a:xfrm>
          <a:prstGeom prst="rect">
            <a:avLst/>
          </a:prstGeom>
          <a:solidFill>
            <a:srgbClr val="11FFC2"/>
          </a:solidFill>
          <a:ln w="6350">
            <a:solidFill>
              <a:srgbClr val="FFFFFF"/>
            </a:solidFill>
            <a:prstDash val="solid"/>
          </a:ln>
        </p:spPr>
        <p:txBody>
          <a:bodyPr/>
          <a:lstStyle/>
          <a:p>
            <a:endParaRPr lang="fr-TN"/>
          </a:p>
        </p:txBody>
      </p:sp>
      <p:sp>
        <p:nvSpPr>
          <p:cNvPr id="30" name="Text 28"/>
          <p:cNvSpPr/>
          <p:nvPr/>
        </p:nvSpPr>
        <p:spPr>
          <a:xfrm>
            <a:off x="3346704" y="896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0.03</a:t>
            </a:r>
            <a:endParaRPr lang="en-US" sz="800" dirty="0"/>
          </a:p>
        </p:txBody>
      </p:sp>
      <p:sp>
        <p:nvSpPr>
          <p:cNvPr id="31" name="Shape 29"/>
          <p:cNvSpPr/>
          <p:nvPr/>
        </p:nvSpPr>
        <p:spPr>
          <a:xfrm>
            <a:off x="4005072" y="896112"/>
            <a:ext cx="658368" cy="457200"/>
          </a:xfrm>
          <a:prstGeom prst="rect">
            <a:avLst/>
          </a:prstGeom>
          <a:solidFill>
            <a:srgbClr val="70F5A0"/>
          </a:solidFill>
          <a:ln w="6350">
            <a:solidFill>
              <a:srgbClr val="FFFFFF"/>
            </a:solidFill>
            <a:prstDash val="solid"/>
          </a:ln>
        </p:spPr>
        <p:txBody>
          <a:bodyPr/>
          <a:lstStyle/>
          <a:p>
            <a:endParaRPr lang="fr-TN"/>
          </a:p>
        </p:txBody>
      </p:sp>
      <p:sp>
        <p:nvSpPr>
          <p:cNvPr id="32" name="Text 30"/>
          <p:cNvSpPr/>
          <p:nvPr/>
        </p:nvSpPr>
        <p:spPr>
          <a:xfrm>
            <a:off x="4005072" y="896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0.20</a:t>
            </a:r>
            <a:endParaRPr lang="en-US" sz="800" dirty="0"/>
          </a:p>
        </p:txBody>
      </p:sp>
      <p:sp>
        <p:nvSpPr>
          <p:cNvPr id="33" name="Shape 31"/>
          <p:cNvSpPr/>
          <p:nvPr/>
        </p:nvSpPr>
        <p:spPr>
          <a:xfrm>
            <a:off x="4663440" y="896112"/>
            <a:ext cx="658368" cy="457200"/>
          </a:xfrm>
          <a:prstGeom prst="rect">
            <a:avLst/>
          </a:prstGeom>
          <a:solidFill>
            <a:srgbClr val="38FFB4"/>
          </a:solidFill>
          <a:ln w="6350">
            <a:solidFill>
              <a:srgbClr val="FFFFFF"/>
            </a:solidFill>
            <a:prstDash val="solid"/>
          </a:ln>
        </p:spPr>
        <p:txBody>
          <a:bodyPr/>
          <a:lstStyle/>
          <a:p>
            <a:endParaRPr lang="fr-TN"/>
          </a:p>
        </p:txBody>
      </p:sp>
      <p:sp>
        <p:nvSpPr>
          <p:cNvPr id="34" name="Text 32"/>
          <p:cNvSpPr/>
          <p:nvPr/>
        </p:nvSpPr>
        <p:spPr>
          <a:xfrm>
            <a:off x="4663440" y="896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0.10</a:t>
            </a:r>
            <a:endParaRPr lang="en-US" sz="800" dirty="0"/>
          </a:p>
        </p:txBody>
      </p:sp>
      <p:sp>
        <p:nvSpPr>
          <p:cNvPr id="35" name="Shape 33"/>
          <p:cNvSpPr/>
          <p:nvPr/>
        </p:nvSpPr>
        <p:spPr>
          <a:xfrm>
            <a:off x="5321808" y="896112"/>
            <a:ext cx="658368" cy="457200"/>
          </a:xfrm>
          <a:prstGeom prst="rect">
            <a:avLst/>
          </a:prstGeom>
          <a:solidFill>
            <a:srgbClr val="27FFBA"/>
          </a:solidFill>
          <a:ln w="6350">
            <a:solidFill>
              <a:srgbClr val="FFFFFF"/>
            </a:solidFill>
            <a:prstDash val="solid"/>
          </a:ln>
        </p:spPr>
        <p:txBody>
          <a:bodyPr/>
          <a:lstStyle/>
          <a:p>
            <a:endParaRPr lang="fr-TN"/>
          </a:p>
        </p:txBody>
      </p:sp>
      <p:sp>
        <p:nvSpPr>
          <p:cNvPr id="36" name="Text 34"/>
          <p:cNvSpPr/>
          <p:nvPr/>
        </p:nvSpPr>
        <p:spPr>
          <a:xfrm>
            <a:off x="5321808" y="896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37" name="Shape 35"/>
          <p:cNvSpPr/>
          <p:nvPr/>
        </p:nvSpPr>
        <p:spPr>
          <a:xfrm>
            <a:off x="5980176" y="896112"/>
            <a:ext cx="658368" cy="457200"/>
          </a:xfrm>
          <a:prstGeom prst="rect">
            <a:avLst/>
          </a:prstGeom>
          <a:solidFill>
            <a:srgbClr val="1CFFBE"/>
          </a:solidFill>
          <a:ln w="6350">
            <a:solidFill>
              <a:srgbClr val="FFFFFF"/>
            </a:solidFill>
            <a:prstDash val="solid"/>
          </a:ln>
        </p:spPr>
        <p:txBody>
          <a:bodyPr/>
          <a:lstStyle/>
          <a:p>
            <a:endParaRPr lang="fr-TN"/>
          </a:p>
        </p:txBody>
      </p:sp>
      <p:sp>
        <p:nvSpPr>
          <p:cNvPr id="38" name="Text 36"/>
          <p:cNvSpPr/>
          <p:nvPr/>
        </p:nvSpPr>
        <p:spPr>
          <a:xfrm>
            <a:off x="5980176" y="896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0.05</a:t>
            </a:r>
            <a:endParaRPr lang="en-US" sz="800" dirty="0"/>
          </a:p>
        </p:txBody>
      </p:sp>
      <p:sp>
        <p:nvSpPr>
          <p:cNvPr id="39" name="Shape 37"/>
          <p:cNvSpPr/>
          <p:nvPr/>
        </p:nvSpPr>
        <p:spPr>
          <a:xfrm>
            <a:off x="1371600" y="1353312"/>
            <a:ext cx="658368" cy="457200"/>
          </a:xfrm>
          <a:prstGeom prst="rect">
            <a:avLst/>
          </a:prstGeom>
          <a:solidFill>
            <a:srgbClr val="1CFFBE"/>
          </a:solidFill>
          <a:ln w="6350">
            <a:solidFill>
              <a:srgbClr val="FFFFFF"/>
            </a:solidFill>
            <a:prstDash val="solid"/>
          </a:ln>
        </p:spPr>
        <p:txBody>
          <a:bodyPr/>
          <a:lstStyle/>
          <a:p>
            <a:endParaRPr lang="fr-TN"/>
          </a:p>
        </p:txBody>
      </p:sp>
      <p:sp>
        <p:nvSpPr>
          <p:cNvPr id="40" name="Text 38"/>
          <p:cNvSpPr/>
          <p:nvPr/>
        </p:nvSpPr>
        <p:spPr>
          <a:xfrm>
            <a:off x="1371600" y="1353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0.05</a:t>
            </a:r>
            <a:endParaRPr lang="en-US" sz="800" dirty="0"/>
          </a:p>
        </p:txBody>
      </p:sp>
      <p:sp>
        <p:nvSpPr>
          <p:cNvPr id="41" name="Shape 39"/>
          <p:cNvSpPr/>
          <p:nvPr/>
        </p:nvSpPr>
        <p:spPr>
          <a:xfrm>
            <a:off x="2029968" y="1353312"/>
            <a:ext cx="658368" cy="457200"/>
          </a:xfrm>
          <a:prstGeom prst="rect">
            <a:avLst/>
          </a:prstGeom>
          <a:solidFill>
            <a:srgbClr val="D5BE7C"/>
          </a:solidFill>
          <a:ln w="6350">
            <a:solidFill>
              <a:srgbClr val="FFFFFF"/>
            </a:solidFill>
            <a:prstDash val="solid"/>
          </a:ln>
        </p:spPr>
        <p:txBody>
          <a:bodyPr/>
          <a:lstStyle/>
          <a:p>
            <a:endParaRPr lang="fr-TN"/>
          </a:p>
        </p:txBody>
      </p:sp>
      <p:sp>
        <p:nvSpPr>
          <p:cNvPr id="42" name="Text 40"/>
          <p:cNvSpPr/>
          <p:nvPr/>
        </p:nvSpPr>
        <p:spPr>
          <a:xfrm>
            <a:off x="2029968" y="13533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0.38</a:t>
            </a:r>
            <a:endParaRPr lang="en-US" sz="800" dirty="0"/>
          </a:p>
        </p:txBody>
      </p:sp>
      <p:sp>
        <p:nvSpPr>
          <p:cNvPr id="43" name="Shape 41"/>
          <p:cNvSpPr/>
          <p:nvPr/>
        </p:nvSpPr>
        <p:spPr>
          <a:xfrm>
            <a:off x="2688336" y="1353312"/>
            <a:ext cx="658368" cy="457200"/>
          </a:xfrm>
          <a:prstGeom prst="rect">
            <a:avLst/>
          </a:prstGeom>
          <a:solidFill>
            <a:srgbClr val="43FFB0"/>
          </a:solidFill>
          <a:ln w="6350">
            <a:solidFill>
              <a:srgbClr val="FFFFFF"/>
            </a:solidFill>
            <a:prstDash val="solid"/>
          </a:ln>
        </p:spPr>
        <p:txBody>
          <a:bodyPr/>
          <a:lstStyle/>
          <a:p>
            <a:endParaRPr lang="fr-TN"/>
          </a:p>
        </p:txBody>
      </p:sp>
      <p:sp>
        <p:nvSpPr>
          <p:cNvPr id="44" name="Text 42"/>
          <p:cNvSpPr/>
          <p:nvPr/>
        </p:nvSpPr>
        <p:spPr>
          <a:xfrm>
            <a:off x="2688336" y="1353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0.12</a:t>
            </a:r>
            <a:endParaRPr lang="en-US" sz="800" dirty="0"/>
          </a:p>
        </p:txBody>
      </p:sp>
      <p:sp>
        <p:nvSpPr>
          <p:cNvPr id="45" name="Shape 43"/>
          <p:cNvSpPr/>
          <p:nvPr/>
        </p:nvSpPr>
        <p:spPr>
          <a:xfrm>
            <a:off x="3346704" y="1353312"/>
            <a:ext cx="658368" cy="457200"/>
          </a:xfrm>
          <a:prstGeom prst="rect">
            <a:avLst/>
          </a:prstGeom>
          <a:solidFill>
            <a:srgbClr val="22FFBC"/>
          </a:solidFill>
          <a:ln w="6350">
            <a:solidFill>
              <a:srgbClr val="FFFFFF"/>
            </a:solidFill>
            <a:prstDash val="solid"/>
          </a:ln>
        </p:spPr>
        <p:txBody>
          <a:bodyPr/>
          <a:lstStyle/>
          <a:p>
            <a:endParaRPr lang="fr-TN"/>
          </a:p>
        </p:txBody>
      </p:sp>
      <p:sp>
        <p:nvSpPr>
          <p:cNvPr id="46" name="Text 44"/>
          <p:cNvSpPr/>
          <p:nvPr/>
        </p:nvSpPr>
        <p:spPr>
          <a:xfrm>
            <a:off x="3346704" y="1353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47" name="Shape 45"/>
          <p:cNvSpPr/>
          <p:nvPr/>
        </p:nvSpPr>
        <p:spPr>
          <a:xfrm>
            <a:off x="4005072" y="1353312"/>
            <a:ext cx="658368" cy="457200"/>
          </a:xfrm>
          <a:prstGeom prst="rect">
            <a:avLst/>
          </a:prstGeom>
          <a:solidFill>
            <a:srgbClr val="2DFFB8"/>
          </a:solidFill>
          <a:ln w="6350">
            <a:solidFill>
              <a:srgbClr val="FFFFFF"/>
            </a:solidFill>
            <a:prstDash val="solid"/>
          </a:ln>
        </p:spPr>
        <p:txBody>
          <a:bodyPr/>
          <a:lstStyle/>
          <a:p>
            <a:endParaRPr lang="fr-TN"/>
          </a:p>
        </p:txBody>
      </p:sp>
      <p:sp>
        <p:nvSpPr>
          <p:cNvPr id="48" name="Text 46"/>
          <p:cNvSpPr/>
          <p:nvPr/>
        </p:nvSpPr>
        <p:spPr>
          <a:xfrm>
            <a:off x="4005072" y="1353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49" name="Shape 47"/>
          <p:cNvSpPr/>
          <p:nvPr/>
        </p:nvSpPr>
        <p:spPr>
          <a:xfrm>
            <a:off x="4663440" y="1353312"/>
            <a:ext cx="658368" cy="457200"/>
          </a:xfrm>
          <a:prstGeom prst="rect">
            <a:avLst/>
          </a:prstGeom>
          <a:solidFill>
            <a:srgbClr val="54FFAA"/>
          </a:solidFill>
          <a:ln w="6350">
            <a:solidFill>
              <a:srgbClr val="FFFFFF"/>
            </a:solidFill>
            <a:prstDash val="solid"/>
          </a:ln>
        </p:spPr>
        <p:txBody>
          <a:bodyPr/>
          <a:lstStyle/>
          <a:p>
            <a:endParaRPr lang="fr-TN"/>
          </a:p>
        </p:txBody>
      </p:sp>
      <p:sp>
        <p:nvSpPr>
          <p:cNvPr id="50" name="Text 48"/>
          <p:cNvSpPr/>
          <p:nvPr/>
        </p:nvSpPr>
        <p:spPr>
          <a:xfrm>
            <a:off x="4663440" y="1353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0.15</a:t>
            </a:r>
            <a:endParaRPr lang="en-US" sz="800" dirty="0"/>
          </a:p>
        </p:txBody>
      </p:sp>
      <p:sp>
        <p:nvSpPr>
          <p:cNvPr id="51" name="Shape 49"/>
          <p:cNvSpPr/>
          <p:nvPr/>
        </p:nvSpPr>
        <p:spPr>
          <a:xfrm>
            <a:off x="5321808" y="1353312"/>
            <a:ext cx="658368" cy="457200"/>
          </a:xfrm>
          <a:prstGeom prst="rect">
            <a:avLst/>
          </a:prstGeom>
          <a:solidFill>
            <a:srgbClr val="32FFB6"/>
          </a:solidFill>
          <a:ln w="6350">
            <a:solidFill>
              <a:srgbClr val="FFFFFF"/>
            </a:solidFill>
            <a:prstDash val="solid"/>
          </a:ln>
        </p:spPr>
        <p:txBody>
          <a:bodyPr/>
          <a:lstStyle/>
          <a:p>
            <a:endParaRPr lang="fr-TN"/>
          </a:p>
        </p:txBody>
      </p:sp>
      <p:sp>
        <p:nvSpPr>
          <p:cNvPr id="52" name="Text 50"/>
          <p:cNvSpPr/>
          <p:nvPr/>
        </p:nvSpPr>
        <p:spPr>
          <a:xfrm>
            <a:off x="5321808" y="1353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0.09</a:t>
            </a:r>
            <a:endParaRPr lang="en-US" sz="800" dirty="0"/>
          </a:p>
        </p:txBody>
      </p:sp>
      <p:sp>
        <p:nvSpPr>
          <p:cNvPr id="53" name="Shape 51"/>
          <p:cNvSpPr/>
          <p:nvPr/>
        </p:nvSpPr>
        <p:spPr>
          <a:xfrm>
            <a:off x="5980176" y="1353312"/>
            <a:ext cx="658368" cy="457200"/>
          </a:xfrm>
          <a:prstGeom prst="rect">
            <a:avLst/>
          </a:prstGeom>
          <a:solidFill>
            <a:srgbClr val="27FFBA"/>
          </a:solidFill>
          <a:ln w="6350">
            <a:solidFill>
              <a:srgbClr val="FFFFFF"/>
            </a:solidFill>
            <a:prstDash val="solid"/>
          </a:ln>
        </p:spPr>
        <p:txBody>
          <a:bodyPr/>
          <a:lstStyle/>
          <a:p>
            <a:endParaRPr lang="fr-TN"/>
          </a:p>
        </p:txBody>
      </p:sp>
      <p:sp>
        <p:nvSpPr>
          <p:cNvPr id="54" name="Text 52"/>
          <p:cNvSpPr/>
          <p:nvPr/>
        </p:nvSpPr>
        <p:spPr>
          <a:xfrm>
            <a:off x="5980176" y="1353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55" name="Shape 53"/>
          <p:cNvSpPr/>
          <p:nvPr/>
        </p:nvSpPr>
        <p:spPr>
          <a:xfrm>
            <a:off x="1371600" y="1810512"/>
            <a:ext cx="658368" cy="457200"/>
          </a:xfrm>
          <a:prstGeom prst="rect">
            <a:avLst/>
          </a:prstGeom>
          <a:solidFill>
            <a:srgbClr val="11FFC2"/>
          </a:solidFill>
          <a:ln w="6350">
            <a:solidFill>
              <a:srgbClr val="FFFFFF"/>
            </a:solidFill>
            <a:prstDash val="solid"/>
          </a:ln>
        </p:spPr>
        <p:txBody>
          <a:bodyPr/>
          <a:lstStyle/>
          <a:p>
            <a:endParaRPr lang="fr-TN"/>
          </a:p>
        </p:txBody>
      </p:sp>
      <p:sp>
        <p:nvSpPr>
          <p:cNvPr id="56" name="Text 54"/>
          <p:cNvSpPr/>
          <p:nvPr/>
        </p:nvSpPr>
        <p:spPr>
          <a:xfrm>
            <a:off x="1371600" y="1810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0.03</a:t>
            </a:r>
            <a:endParaRPr lang="en-US" sz="800" dirty="0"/>
          </a:p>
        </p:txBody>
      </p:sp>
      <p:sp>
        <p:nvSpPr>
          <p:cNvPr id="57" name="Shape 55"/>
          <p:cNvSpPr/>
          <p:nvPr/>
        </p:nvSpPr>
        <p:spPr>
          <a:xfrm>
            <a:off x="2029968" y="1810512"/>
            <a:ext cx="658368" cy="457200"/>
          </a:xfrm>
          <a:prstGeom prst="rect">
            <a:avLst/>
          </a:prstGeom>
          <a:solidFill>
            <a:srgbClr val="38FFB4"/>
          </a:solidFill>
          <a:ln w="6350">
            <a:solidFill>
              <a:srgbClr val="FFFFFF"/>
            </a:solidFill>
            <a:prstDash val="solid"/>
          </a:ln>
        </p:spPr>
        <p:txBody>
          <a:bodyPr/>
          <a:lstStyle/>
          <a:p>
            <a:endParaRPr lang="fr-TN"/>
          </a:p>
        </p:txBody>
      </p:sp>
      <p:sp>
        <p:nvSpPr>
          <p:cNvPr id="58" name="Text 56"/>
          <p:cNvSpPr/>
          <p:nvPr/>
        </p:nvSpPr>
        <p:spPr>
          <a:xfrm>
            <a:off x="2029968" y="1810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0.10</a:t>
            </a:r>
            <a:endParaRPr lang="en-US" sz="800" dirty="0"/>
          </a:p>
        </p:txBody>
      </p:sp>
      <p:sp>
        <p:nvSpPr>
          <p:cNvPr id="59" name="Shape 57"/>
          <p:cNvSpPr/>
          <p:nvPr/>
        </p:nvSpPr>
        <p:spPr>
          <a:xfrm>
            <a:off x="2688336" y="1810512"/>
            <a:ext cx="658368" cy="457200"/>
          </a:xfrm>
          <a:prstGeom prst="rect">
            <a:avLst/>
          </a:prstGeom>
          <a:solidFill>
            <a:srgbClr val="FCA86E"/>
          </a:solidFill>
          <a:ln w="6350">
            <a:solidFill>
              <a:srgbClr val="FFFFFF"/>
            </a:solidFill>
            <a:prstDash val="solid"/>
          </a:ln>
        </p:spPr>
        <p:txBody>
          <a:bodyPr/>
          <a:lstStyle/>
          <a:p>
            <a:endParaRPr lang="fr-TN"/>
          </a:p>
        </p:txBody>
      </p:sp>
      <p:sp>
        <p:nvSpPr>
          <p:cNvPr id="60" name="Text 58"/>
          <p:cNvSpPr/>
          <p:nvPr/>
        </p:nvSpPr>
        <p:spPr>
          <a:xfrm>
            <a:off x="2688336" y="18105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0.45</a:t>
            </a:r>
            <a:endParaRPr lang="en-US" sz="800" dirty="0"/>
          </a:p>
        </p:txBody>
      </p:sp>
      <p:sp>
        <p:nvSpPr>
          <p:cNvPr id="61" name="Shape 59"/>
          <p:cNvSpPr/>
          <p:nvPr/>
        </p:nvSpPr>
        <p:spPr>
          <a:xfrm>
            <a:off x="3346704" y="1810512"/>
            <a:ext cx="658368" cy="457200"/>
          </a:xfrm>
          <a:prstGeom prst="rect">
            <a:avLst/>
          </a:prstGeom>
          <a:solidFill>
            <a:srgbClr val="32FFB6"/>
          </a:solidFill>
          <a:ln w="6350">
            <a:solidFill>
              <a:srgbClr val="FFFFFF"/>
            </a:solidFill>
            <a:prstDash val="solid"/>
          </a:ln>
        </p:spPr>
        <p:txBody>
          <a:bodyPr/>
          <a:lstStyle/>
          <a:p>
            <a:endParaRPr lang="fr-TN"/>
          </a:p>
        </p:txBody>
      </p:sp>
      <p:sp>
        <p:nvSpPr>
          <p:cNvPr id="62" name="Text 60"/>
          <p:cNvSpPr/>
          <p:nvPr/>
        </p:nvSpPr>
        <p:spPr>
          <a:xfrm>
            <a:off x="3346704" y="1810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0.09</a:t>
            </a:r>
            <a:endParaRPr lang="en-US" sz="800" dirty="0"/>
          </a:p>
        </p:txBody>
      </p:sp>
      <p:sp>
        <p:nvSpPr>
          <p:cNvPr id="63" name="Shape 61"/>
          <p:cNvSpPr/>
          <p:nvPr/>
        </p:nvSpPr>
        <p:spPr>
          <a:xfrm>
            <a:off x="4005072" y="1810512"/>
            <a:ext cx="658368" cy="457200"/>
          </a:xfrm>
          <a:prstGeom prst="rect">
            <a:avLst/>
          </a:prstGeom>
          <a:solidFill>
            <a:srgbClr val="1CFFBE"/>
          </a:solidFill>
          <a:ln w="6350">
            <a:solidFill>
              <a:srgbClr val="FFFFFF"/>
            </a:solidFill>
            <a:prstDash val="solid"/>
          </a:ln>
        </p:spPr>
        <p:txBody>
          <a:bodyPr/>
          <a:lstStyle/>
          <a:p>
            <a:endParaRPr lang="fr-TN"/>
          </a:p>
        </p:txBody>
      </p:sp>
      <p:sp>
        <p:nvSpPr>
          <p:cNvPr id="64" name="Text 62"/>
          <p:cNvSpPr/>
          <p:nvPr/>
        </p:nvSpPr>
        <p:spPr>
          <a:xfrm>
            <a:off x="4005072" y="1810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0.05</a:t>
            </a:r>
            <a:endParaRPr lang="en-US" sz="800" dirty="0"/>
          </a:p>
        </p:txBody>
      </p:sp>
      <p:sp>
        <p:nvSpPr>
          <p:cNvPr id="65" name="Shape 63"/>
          <p:cNvSpPr/>
          <p:nvPr/>
        </p:nvSpPr>
        <p:spPr>
          <a:xfrm>
            <a:off x="4663440" y="1810512"/>
            <a:ext cx="658368" cy="457200"/>
          </a:xfrm>
          <a:prstGeom prst="rect">
            <a:avLst/>
          </a:prstGeom>
          <a:solidFill>
            <a:srgbClr val="43FFB0"/>
          </a:solidFill>
          <a:ln w="6350">
            <a:solidFill>
              <a:srgbClr val="FFFFFF"/>
            </a:solidFill>
            <a:prstDash val="solid"/>
          </a:ln>
        </p:spPr>
        <p:txBody>
          <a:bodyPr/>
          <a:lstStyle/>
          <a:p>
            <a:endParaRPr lang="fr-TN"/>
          </a:p>
        </p:txBody>
      </p:sp>
      <p:sp>
        <p:nvSpPr>
          <p:cNvPr id="66" name="Text 64"/>
          <p:cNvSpPr/>
          <p:nvPr/>
        </p:nvSpPr>
        <p:spPr>
          <a:xfrm>
            <a:off x="4663440" y="1810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0.12</a:t>
            </a:r>
            <a:endParaRPr lang="en-US" sz="800" dirty="0"/>
          </a:p>
        </p:txBody>
      </p:sp>
      <p:sp>
        <p:nvSpPr>
          <p:cNvPr id="67" name="Shape 65"/>
          <p:cNvSpPr/>
          <p:nvPr/>
        </p:nvSpPr>
        <p:spPr>
          <a:xfrm>
            <a:off x="5321808" y="1810512"/>
            <a:ext cx="658368" cy="457200"/>
          </a:xfrm>
          <a:prstGeom prst="rect">
            <a:avLst/>
          </a:prstGeom>
          <a:solidFill>
            <a:srgbClr val="2DFFB8"/>
          </a:solidFill>
          <a:ln w="6350">
            <a:solidFill>
              <a:srgbClr val="FFFFFF"/>
            </a:solidFill>
            <a:prstDash val="solid"/>
          </a:ln>
        </p:spPr>
        <p:txBody>
          <a:bodyPr/>
          <a:lstStyle/>
          <a:p>
            <a:endParaRPr lang="fr-TN"/>
          </a:p>
        </p:txBody>
      </p:sp>
      <p:sp>
        <p:nvSpPr>
          <p:cNvPr id="68" name="Text 66"/>
          <p:cNvSpPr/>
          <p:nvPr/>
        </p:nvSpPr>
        <p:spPr>
          <a:xfrm>
            <a:off x="5321808" y="1810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69" name="Shape 67"/>
          <p:cNvSpPr/>
          <p:nvPr/>
        </p:nvSpPr>
        <p:spPr>
          <a:xfrm>
            <a:off x="5980176" y="1810512"/>
            <a:ext cx="658368" cy="457200"/>
          </a:xfrm>
          <a:prstGeom prst="rect">
            <a:avLst/>
          </a:prstGeom>
          <a:solidFill>
            <a:srgbClr val="2DFFB8"/>
          </a:solidFill>
          <a:ln w="6350">
            <a:solidFill>
              <a:srgbClr val="FFFFFF"/>
            </a:solidFill>
            <a:prstDash val="solid"/>
          </a:ln>
        </p:spPr>
        <p:txBody>
          <a:bodyPr/>
          <a:lstStyle/>
          <a:p>
            <a:endParaRPr lang="fr-TN"/>
          </a:p>
        </p:txBody>
      </p:sp>
      <p:sp>
        <p:nvSpPr>
          <p:cNvPr id="70" name="Text 68"/>
          <p:cNvSpPr/>
          <p:nvPr/>
        </p:nvSpPr>
        <p:spPr>
          <a:xfrm>
            <a:off x="5980176" y="1810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71" name="Shape 69"/>
          <p:cNvSpPr/>
          <p:nvPr/>
        </p:nvSpPr>
        <p:spPr>
          <a:xfrm>
            <a:off x="1371600" y="2267712"/>
            <a:ext cx="658368" cy="457200"/>
          </a:xfrm>
          <a:prstGeom prst="rect">
            <a:avLst/>
          </a:prstGeom>
          <a:solidFill>
            <a:srgbClr val="16FFC0"/>
          </a:solidFill>
          <a:ln w="6350">
            <a:solidFill>
              <a:srgbClr val="FFFFFF"/>
            </a:solidFill>
            <a:prstDash val="solid"/>
          </a:ln>
        </p:spPr>
        <p:txBody>
          <a:bodyPr/>
          <a:lstStyle/>
          <a:p>
            <a:endParaRPr lang="fr-TN"/>
          </a:p>
        </p:txBody>
      </p:sp>
      <p:sp>
        <p:nvSpPr>
          <p:cNvPr id="72" name="Text 70"/>
          <p:cNvSpPr/>
          <p:nvPr/>
        </p:nvSpPr>
        <p:spPr>
          <a:xfrm>
            <a:off x="1371600" y="22677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0.04</a:t>
            </a:r>
            <a:endParaRPr lang="en-US" sz="800" dirty="0"/>
          </a:p>
        </p:txBody>
      </p:sp>
      <p:sp>
        <p:nvSpPr>
          <p:cNvPr id="73" name="Shape 71"/>
          <p:cNvSpPr/>
          <p:nvPr/>
        </p:nvSpPr>
        <p:spPr>
          <a:xfrm>
            <a:off x="2029968" y="2267712"/>
            <a:ext cx="658368" cy="457200"/>
          </a:xfrm>
          <a:prstGeom prst="rect">
            <a:avLst/>
          </a:prstGeom>
          <a:solidFill>
            <a:srgbClr val="22FFBC"/>
          </a:solidFill>
          <a:ln w="6350">
            <a:solidFill>
              <a:srgbClr val="FFFFFF"/>
            </a:solidFill>
            <a:prstDash val="solid"/>
          </a:ln>
        </p:spPr>
        <p:txBody>
          <a:bodyPr/>
          <a:lstStyle/>
          <a:p>
            <a:endParaRPr lang="fr-TN"/>
          </a:p>
        </p:txBody>
      </p:sp>
      <p:sp>
        <p:nvSpPr>
          <p:cNvPr id="74" name="Text 72"/>
          <p:cNvSpPr/>
          <p:nvPr/>
        </p:nvSpPr>
        <p:spPr>
          <a:xfrm>
            <a:off x="2029968" y="22677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75" name="Shape 73"/>
          <p:cNvSpPr/>
          <p:nvPr/>
        </p:nvSpPr>
        <p:spPr>
          <a:xfrm>
            <a:off x="2688336" y="2267712"/>
            <a:ext cx="658368" cy="457200"/>
          </a:xfrm>
          <a:prstGeom prst="rect">
            <a:avLst/>
          </a:prstGeom>
          <a:solidFill>
            <a:srgbClr val="27FFBA"/>
          </a:solidFill>
          <a:ln w="6350">
            <a:solidFill>
              <a:srgbClr val="FFFFFF"/>
            </a:solidFill>
            <a:prstDash val="solid"/>
          </a:ln>
        </p:spPr>
        <p:txBody>
          <a:bodyPr/>
          <a:lstStyle/>
          <a:p>
            <a:endParaRPr lang="fr-TN"/>
          </a:p>
        </p:txBody>
      </p:sp>
      <p:sp>
        <p:nvSpPr>
          <p:cNvPr id="76" name="Text 74"/>
          <p:cNvSpPr/>
          <p:nvPr/>
        </p:nvSpPr>
        <p:spPr>
          <a:xfrm>
            <a:off x="2688336" y="22677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77" name="Shape 75"/>
          <p:cNvSpPr/>
          <p:nvPr/>
        </p:nvSpPr>
        <p:spPr>
          <a:xfrm>
            <a:off x="3346704" y="2267712"/>
            <a:ext cx="658368" cy="457200"/>
          </a:xfrm>
          <a:prstGeom prst="rect">
            <a:avLst/>
          </a:prstGeom>
          <a:solidFill>
            <a:srgbClr val="E6B576"/>
          </a:solidFill>
          <a:ln w="6350">
            <a:solidFill>
              <a:srgbClr val="FFFFFF"/>
            </a:solidFill>
            <a:prstDash val="solid"/>
          </a:ln>
        </p:spPr>
        <p:txBody>
          <a:bodyPr/>
          <a:lstStyle/>
          <a:p>
            <a:endParaRPr lang="fr-TN"/>
          </a:p>
        </p:txBody>
      </p:sp>
      <p:sp>
        <p:nvSpPr>
          <p:cNvPr id="78" name="Text 76"/>
          <p:cNvSpPr/>
          <p:nvPr/>
        </p:nvSpPr>
        <p:spPr>
          <a:xfrm>
            <a:off x="3346704" y="22677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0.41</a:t>
            </a:r>
            <a:endParaRPr lang="en-US" sz="800" dirty="0"/>
          </a:p>
        </p:txBody>
      </p:sp>
      <p:sp>
        <p:nvSpPr>
          <p:cNvPr id="79" name="Shape 77"/>
          <p:cNvSpPr/>
          <p:nvPr/>
        </p:nvSpPr>
        <p:spPr>
          <a:xfrm>
            <a:off x="4005072" y="2267712"/>
            <a:ext cx="658368" cy="457200"/>
          </a:xfrm>
          <a:prstGeom prst="rect">
            <a:avLst/>
          </a:prstGeom>
          <a:solidFill>
            <a:srgbClr val="43FFB0"/>
          </a:solidFill>
          <a:ln w="6350">
            <a:solidFill>
              <a:srgbClr val="FFFFFF"/>
            </a:solidFill>
            <a:prstDash val="solid"/>
          </a:ln>
        </p:spPr>
        <p:txBody>
          <a:bodyPr/>
          <a:lstStyle/>
          <a:p>
            <a:endParaRPr lang="fr-TN"/>
          </a:p>
        </p:txBody>
      </p:sp>
      <p:sp>
        <p:nvSpPr>
          <p:cNvPr id="80" name="Text 78"/>
          <p:cNvSpPr/>
          <p:nvPr/>
        </p:nvSpPr>
        <p:spPr>
          <a:xfrm>
            <a:off x="4005072" y="22677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0.12</a:t>
            </a:r>
            <a:endParaRPr lang="en-US" sz="800" dirty="0"/>
          </a:p>
        </p:txBody>
      </p:sp>
      <p:sp>
        <p:nvSpPr>
          <p:cNvPr id="81" name="Shape 79"/>
          <p:cNvSpPr/>
          <p:nvPr/>
        </p:nvSpPr>
        <p:spPr>
          <a:xfrm>
            <a:off x="4663440" y="2267712"/>
            <a:ext cx="658368" cy="457200"/>
          </a:xfrm>
          <a:prstGeom prst="rect">
            <a:avLst/>
          </a:prstGeom>
          <a:solidFill>
            <a:srgbClr val="32FFB6"/>
          </a:solidFill>
          <a:ln w="6350">
            <a:solidFill>
              <a:srgbClr val="FFFFFF"/>
            </a:solidFill>
            <a:prstDash val="solid"/>
          </a:ln>
        </p:spPr>
        <p:txBody>
          <a:bodyPr/>
          <a:lstStyle/>
          <a:p>
            <a:endParaRPr lang="fr-TN"/>
          </a:p>
        </p:txBody>
      </p:sp>
      <p:sp>
        <p:nvSpPr>
          <p:cNvPr id="82" name="Text 80"/>
          <p:cNvSpPr/>
          <p:nvPr/>
        </p:nvSpPr>
        <p:spPr>
          <a:xfrm>
            <a:off x="4663440" y="22677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0.09</a:t>
            </a:r>
            <a:endParaRPr lang="en-US" sz="800" dirty="0"/>
          </a:p>
        </p:txBody>
      </p:sp>
      <p:sp>
        <p:nvSpPr>
          <p:cNvPr id="83" name="Shape 81"/>
          <p:cNvSpPr/>
          <p:nvPr/>
        </p:nvSpPr>
        <p:spPr>
          <a:xfrm>
            <a:off x="5321808" y="2267712"/>
            <a:ext cx="658368" cy="457200"/>
          </a:xfrm>
          <a:prstGeom prst="rect">
            <a:avLst/>
          </a:prstGeom>
          <a:solidFill>
            <a:srgbClr val="43FFB0"/>
          </a:solidFill>
          <a:ln w="6350">
            <a:solidFill>
              <a:srgbClr val="FFFFFF"/>
            </a:solidFill>
            <a:prstDash val="solid"/>
          </a:ln>
        </p:spPr>
        <p:txBody>
          <a:bodyPr/>
          <a:lstStyle/>
          <a:p>
            <a:endParaRPr lang="fr-TN"/>
          </a:p>
        </p:txBody>
      </p:sp>
      <p:sp>
        <p:nvSpPr>
          <p:cNvPr id="84" name="Text 82"/>
          <p:cNvSpPr/>
          <p:nvPr/>
        </p:nvSpPr>
        <p:spPr>
          <a:xfrm>
            <a:off x="5321808" y="22677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0.12</a:t>
            </a:r>
            <a:endParaRPr lang="en-US" sz="800" dirty="0"/>
          </a:p>
        </p:txBody>
      </p:sp>
      <p:sp>
        <p:nvSpPr>
          <p:cNvPr id="85" name="Shape 83"/>
          <p:cNvSpPr/>
          <p:nvPr/>
        </p:nvSpPr>
        <p:spPr>
          <a:xfrm>
            <a:off x="5980176" y="2267712"/>
            <a:ext cx="658368" cy="457200"/>
          </a:xfrm>
          <a:prstGeom prst="rect">
            <a:avLst/>
          </a:prstGeom>
          <a:solidFill>
            <a:srgbClr val="32FFB6"/>
          </a:solidFill>
          <a:ln w="6350">
            <a:solidFill>
              <a:srgbClr val="FFFFFF"/>
            </a:solidFill>
            <a:prstDash val="solid"/>
          </a:ln>
        </p:spPr>
        <p:txBody>
          <a:bodyPr/>
          <a:lstStyle/>
          <a:p>
            <a:endParaRPr lang="fr-TN"/>
          </a:p>
        </p:txBody>
      </p:sp>
      <p:sp>
        <p:nvSpPr>
          <p:cNvPr id="86" name="Text 84"/>
          <p:cNvSpPr/>
          <p:nvPr/>
        </p:nvSpPr>
        <p:spPr>
          <a:xfrm>
            <a:off x="5980176" y="22677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0.09</a:t>
            </a:r>
            <a:endParaRPr lang="en-US" sz="800" dirty="0"/>
          </a:p>
        </p:txBody>
      </p:sp>
      <p:sp>
        <p:nvSpPr>
          <p:cNvPr id="87" name="Shape 85"/>
          <p:cNvSpPr/>
          <p:nvPr/>
        </p:nvSpPr>
        <p:spPr>
          <a:xfrm>
            <a:off x="1371600" y="2724912"/>
            <a:ext cx="658368" cy="457200"/>
          </a:xfrm>
          <a:prstGeom prst="rect">
            <a:avLst/>
          </a:prstGeom>
          <a:solidFill>
            <a:srgbClr val="65FBA4"/>
          </a:solidFill>
          <a:ln w="6350">
            <a:solidFill>
              <a:srgbClr val="FFFFFF"/>
            </a:solidFill>
            <a:prstDash val="solid"/>
          </a:ln>
        </p:spPr>
        <p:txBody>
          <a:bodyPr/>
          <a:lstStyle/>
          <a:p>
            <a:endParaRPr lang="fr-TN"/>
          </a:p>
        </p:txBody>
      </p:sp>
      <p:sp>
        <p:nvSpPr>
          <p:cNvPr id="88" name="Text 86"/>
          <p:cNvSpPr/>
          <p:nvPr/>
        </p:nvSpPr>
        <p:spPr>
          <a:xfrm>
            <a:off x="1371600" y="27249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0.18</a:t>
            </a:r>
            <a:endParaRPr lang="en-US" sz="800" dirty="0"/>
          </a:p>
        </p:txBody>
      </p:sp>
      <p:sp>
        <p:nvSpPr>
          <p:cNvPr id="89" name="Shape 87"/>
          <p:cNvSpPr/>
          <p:nvPr/>
        </p:nvSpPr>
        <p:spPr>
          <a:xfrm>
            <a:off x="2029968" y="2724912"/>
            <a:ext cx="658368" cy="457200"/>
          </a:xfrm>
          <a:prstGeom prst="rect">
            <a:avLst/>
          </a:prstGeom>
          <a:solidFill>
            <a:srgbClr val="27FFBA"/>
          </a:solidFill>
          <a:ln w="6350">
            <a:solidFill>
              <a:srgbClr val="FFFFFF"/>
            </a:solidFill>
            <a:prstDash val="solid"/>
          </a:ln>
        </p:spPr>
        <p:txBody>
          <a:bodyPr/>
          <a:lstStyle/>
          <a:p>
            <a:endParaRPr lang="fr-TN"/>
          </a:p>
        </p:txBody>
      </p:sp>
      <p:sp>
        <p:nvSpPr>
          <p:cNvPr id="90" name="Text 88"/>
          <p:cNvSpPr/>
          <p:nvPr/>
        </p:nvSpPr>
        <p:spPr>
          <a:xfrm>
            <a:off x="2029968" y="27249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91" name="Shape 89"/>
          <p:cNvSpPr/>
          <p:nvPr/>
        </p:nvSpPr>
        <p:spPr>
          <a:xfrm>
            <a:off x="2688336" y="2724912"/>
            <a:ext cx="658368" cy="457200"/>
          </a:xfrm>
          <a:prstGeom prst="rect">
            <a:avLst/>
          </a:prstGeom>
          <a:solidFill>
            <a:srgbClr val="1CFFBE"/>
          </a:solidFill>
          <a:ln w="6350">
            <a:solidFill>
              <a:srgbClr val="FFFFFF"/>
            </a:solidFill>
            <a:prstDash val="solid"/>
          </a:ln>
        </p:spPr>
        <p:txBody>
          <a:bodyPr/>
          <a:lstStyle/>
          <a:p>
            <a:endParaRPr lang="fr-TN"/>
          </a:p>
        </p:txBody>
      </p:sp>
      <p:sp>
        <p:nvSpPr>
          <p:cNvPr id="92" name="Text 90"/>
          <p:cNvSpPr/>
          <p:nvPr/>
        </p:nvSpPr>
        <p:spPr>
          <a:xfrm>
            <a:off x="2688336" y="27249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0.05</a:t>
            </a:r>
            <a:endParaRPr lang="en-US" sz="800" dirty="0"/>
          </a:p>
        </p:txBody>
      </p:sp>
      <p:sp>
        <p:nvSpPr>
          <p:cNvPr id="93" name="Shape 91"/>
          <p:cNvSpPr/>
          <p:nvPr/>
        </p:nvSpPr>
        <p:spPr>
          <a:xfrm>
            <a:off x="3346704" y="2724912"/>
            <a:ext cx="658368" cy="457200"/>
          </a:xfrm>
          <a:prstGeom prst="rect">
            <a:avLst/>
          </a:prstGeom>
          <a:solidFill>
            <a:srgbClr val="3EFFB2"/>
          </a:solidFill>
          <a:ln w="6350">
            <a:solidFill>
              <a:srgbClr val="FFFFFF"/>
            </a:solidFill>
            <a:prstDash val="solid"/>
          </a:ln>
        </p:spPr>
        <p:txBody>
          <a:bodyPr/>
          <a:lstStyle/>
          <a:p>
            <a:endParaRPr lang="fr-TN"/>
          </a:p>
        </p:txBody>
      </p:sp>
      <p:sp>
        <p:nvSpPr>
          <p:cNvPr id="94" name="Text 92"/>
          <p:cNvSpPr/>
          <p:nvPr/>
        </p:nvSpPr>
        <p:spPr>
          <a:xfrm>
            <a:off x="3346704" y="27249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0.11</a:t>
            </a:r>
            <a:endParaRPr lang="en-US" sz="800" dirty="0"/>
          </a:p>
        </p:txBody>
      </p:sp>
      <p:sp>
        <p:nvSpPr>
          <p:cNvPr id="95" name="Shape 93"/>
          <p:cNvSpPr/>
          <p:nvPr/>
        </p:nvSpPr>
        <p:spPr>
          <a:xfrm>
            <a:off x="4005072" y="2724912"/>
            <a:ext cx="658368" cy="457200"/>
          </a:xfrm>
          <a:prstGeom prst="rect">
            <a:avLst/>
          </a:prstGeom>
          <a:solidFill>
            <a:srgbClr val="D5BE7C"/>
          </a:solidFill>
          <a:ln w="6350">
            <a:solidFill>
              <a:srgbClr val="FFFFFF"/>
            </a:solidFill>
            <a:prstDash val="solid"/>
          </a:ln>
        </p:spPr>
        <p:txBody>
          <a:bodyPr/>
          <a:lstStyle/>
          <a:p>
            <a:endParaRPr lang="fr-TN"/>
          </a:p>
        </p:txBody>
      </p:sp>
      <p:sp>
        <p:nvSpPr>
          <p:cNvPr id="96" name="Text 94"/>
          <p:cNvSpPr/>
          <p:nvPr/>
        </p:nvSpPr>
        <p:spPr>
          <a:xfrm>
            <a:off x="4005072" y="27249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0.38</a:t>
            </a:r>
            <a:endParaRPr lang="en-US" sz="800" dirty="0"/>
          </a:p>
        </p:txBody>
      </p:sp>
      <p:sp>
        <p:nvSpPr>
          <p:cNvPr id="97" name="Shape 95"/>
          <p:cNvSpPr/>
          <p:nvPr/>
        </p:nvSpPr>
        <p:spPr>
          <a:xfrm>
            <a:off x="4663440" y="2724912"/>
            <a:ext cx="658368" cy="457200"/>
          </a:xfrm>
          <a:prstGeom prst="rect">
            <a:avLst/>
          </a:prstGeom>
          <a:solidFill>
            <a:srgbClr val="2DFFB8"/>
          </a:solidFill>
          <a:ln w="6350">
            <a:solidFill>
              <a:srgbClr val="FFFFFF"/>
            </a:solidFill>
            <a:prstDash val="solid"/>
          </a:ln>
        </p:spPr>
        <p:txBody>
          <a:bodyPr/>
          <a:lstStyle/>
          <a:p>
            <a:endParaRPr lang="fr-TN"/>
          </a:p>
        </p:txBody>
      </p:sp>
      <p:sp>
        <p:nvSpPr>
          <p:cNvPr id="98" name="Text 96"/>
          <p:cNvSpPr/>
          <p:nvPr/>
        </p:nvSpPr>
        <p:spPr>
          <a:xfrm>
            <a:off x="4663440" y="27249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99" name="Shape 97"/>
          <p:cNvSpPr/>
          <p:nvPr/>
        </p:nvSpPr>
        <p:spPr>
          <a:xfrm>
            <a:off x="5321808" y="2724912"/>
            <a:ext cx="658368" cy="457200"/>
          </a:xfrm>
          <a:prstGeom prst="rect">
            <a:avLst/>
          </a:prstGeom>
          <a:solidFill>
            <a:srgbClr val="27FFBA"/>
          </a:solidFill>
          <a:ln w="6350">
            <a:solidFill>
              <a:srgbClr val="FFFFFF"/>
            </a:solidFill>
            <a:prstDash val="solid"/>
          </a:ln>
        </p:spPr>
        <p:txBody>
          <a:bodyPr/>
          <a:lstStyle/>
          <a:p>
            <a:endParaRPr lang="fr-TN"/>
          </a:p>
        </p:txBody>
      </p:sp>
      <p:sp>
        <p:nvSpPr>
          <p:cNvPr id="100" name="Text 98"/>
          <p:cNvSpPr/>
          <p:nvPr/>
        </p:nvSpPr>
        <p:spPr>
          <a:xfrm>
            <a:off x="5321808" y="27249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101" name="Shape 99"/>
          <p:cNvSpPr/>
          <p:nvPr/>
        </p:nvSpPr>
        <p:spPr>
          <a:xfrm>
            <a:off x="5980176" y="2724912"/>
            <a:ext cx="658368" cy="457200"/>
          </a:xfrm>
          <a:prstGeom prst="rect">
            <a:avLst/>
          </a:prstGeom>
          <a:solidFill>
            <a:srgbClr val="22FFBC"/>
          </a:solidFill>
          <a:ln w="6350">
            <a:solidFill>
              <a:srgbClr val="FFFFFF"/>
            </a:solidFill>
            <a:prstDash val="solid"/>
          </a:ln>
        </p:spPr>
        <p:txBody>
          <a:bodyPr/>
          <a:lstStyle/>
          <a:p>
            <a:endParaRPr lang="fr-TN"/>
          </a:p>
        </p:txBody>
      </p:sp>
      <p:sp>
        <p:nvSpPr>
          <p:cNvPr id="102" name="Text 100"/>
          <p:cNvSpPr/>
          <p:nvPr/>
        </p:nvSpPr>
        <p:spPr>
          <a:xfrm>
            <a:off x="5980176" y="27249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103" name="Shape 101"/>
          <p:cNvSpPr/>
          <p:nvPr/>
        </p:nvSpPr>
        <p:spPr>
          <a:xfrm>
            <a:off x="1371600" y="3182112"/>
            <a:ext cx="658368" cy="457200"/>
          </a:xfrm>
          <a:prstGeom prst="rect">
            <a:avLst/>
          </a:prstGeom>
          <a:solidFill>
            <a:srgbClr val="32FFB6"/>
          </a:solidFill>
          <a:ln w="6350">
            <a:solidFill>
              <a:srgbClr val="FFFFFF"/>
            </a:solidFill>
            <a:prstDash val="solid"/>
          </a:ln>
        </p:spPr>
        <p:txBody>
          <a:bodyPr/>
          <a:lstStyle/>
          <a:p>
            <a:endParaRPr lang="fr-TN"/>
          </a:p>
        </p:txBody>
      </p:sp>
      <p:sp>
        <p:nvSpPr>
          <p:cNvPr id="104" name="Text 102"/>
          <p:cNvSpPr/>
          <p:nvPr/>
        </p:nvSpPr>
        <p:spPr>
          <a:xfrm>
            <a:off x="1371600" y="3182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0.09</a:t>
            </a:r>
            <a:endParaRPr lang="en-US" sz="800" dirty="0"/>
          </a:p>
        </p:txBody>
      </p:sp>
      <p:sp>
        <p:nvSpPr>
          <p:cNvPr id="105" name="Shape 103"/>
          <p:cNvSpPr/>
          <p:nvPr/>
        </p:nvSpPr>
        <p:spPr>
          <a:xfrm>
            <a:off x="2029968" y="3182112"/>
            <a:ext cx="658368" cy="457200"/>
          </a:xfrm>
          <a:prstGeom prst="rect">
            <a:avLst/>
          </a:prstGeom>
          <a:solidFill>
            <a:srgbClr val="4FFFAC"/>
          </a:solidFill>
          <a:ln w="6350">
            <a:solidFill>
              <a:srgbClr val="FFFFFF"/>
            </a:solidFill>
            <a:prstDash val="solid"/>
          </a:ln>
        </p:spPr>
        <p:txBody>
          <a:bodyPr/>
          <a:lstStyle/>
          <a:p>
            <a:endParaRPr lang="fr-TN"/>
          </a:p>
        </p:txBody>
      </p:sp>
      <p:sp>
        <p:nvSpPr>
          <p:cNvPr id="106" name="Text 104"/>
          <p:cNvSpPr/>
          <p:nvPr/>
        </p:nvSpPr>
        <p:spPr>
          <a:xfrm>
            <a:off x="2029968" y="3182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0.14</a:t>
            </a:r>
            <a:endParaRPr lang="en-US" sz="800" dirty="0"/>
          </a:p>
        </p:txBody>
      </p:sp>
      <p:sp>
        <p:nvSpPr>
          <p:cNvPr id="107" name="Shape 105"/>
          <p:cNvSpPr/>
          <p:nvPr/>
        </p:nvSpPr>
        <p:spPr>
          <a:xfrm>
            <a:off x="2688336" y="3182112"/>
            <a:ext cx="658368" cy="457200"/>
          </a:xfrm>
          <a:prstGeom prst="rect">
            <a:avLst/>
          </a:prstGeom>
          <a:solidFill>
            <a:srgbClr val="3EFFB2"/>
          </a:solidFill>
          <a:ln w="6350">
            <a:solidFill>
              <a:srgbClr val="FFFFFF"/>
            </a:solidFill>
            <a:prstDash val="solid"/>
          </a:ln>
        </p:spPr>
        <p:txBody>
          <a:bodyPr/>
          <a:lstStyle/>
          <a:p>
            <a:endParaRPr lang="fr-TN"/>
          </a:p>
        </p:txBody>
      </p:sp>
      <p:sp>
        <p:nvSpPr>
          <p:cNvPr id="108" name="Text 106"/>
          <p:cNvSpPr/>
          <p:nvPr/>
        </p:nvSpPr>
        <p:spPr>
          <a:xfrm>
            <a:off x="2688336" y="3182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0.11</a:t>
            </a:r>
            <a:endParaRPr lang="en-US" sz="800" dirty="0"/>
          </a:p>
        </p:txBody>
      </p:sp>
      <p:sp>
        <p:nvSpPr>
          <p:cNvPr id="109" name="Shape 107"/>
          <p:cNvSpPr/>
          <p:nvPr/>
        </p:nvSpPr>
        <p:spPr>
          <a:xfrm>
            <a:off x="3346704" y="3182112"/>
            <a:ext cx="658368" cy="457200"/>
          </a:xfrm>
          <a:prstGeom prst="rect">
            <a:avLst/>
          </a:prstGeom>
          <a:solidFill>
            <a:srgbClr val="2DFFB8"/>
          </a:solidFill>
          <a:ln w="6350">
            <a:solidFill>
              <a:srgbClr val="FFFFFF"/>
            </a:solidFill>
            <a:prstDash val="solid"/>
          </a:ln>
        </p:spPr>
        <p:txBody>
          <a:bodyPr/>
          <a:lstStyle/>
          <a:p>
            <a:endParaRPr lang="fr-TN"/>
          </a:p>
        </p:txBody>
      </p:sp>
      <p:sp>
        <p:nvSpPr>
          <p:cNvPr id="110" name="Text 108"/>
          <p:cNvSpPr/>
          <p:nvPr/>
        </p:nvSpPr>
        <p:spPr>
          <a:xfrm>
            <a:off x="3346704" y="3182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111" name="Shape 109"/>
          <p:cNvSpPr/>
          <p:nvPr/>
        </p:nvSpPr>
        <p:spPr>
          <a:xfrm>
            <a:off x="4005072" y="3182112"/>
            <a:ext cx="658368" cy="457200"/>
          </a:xfrm>
          <a:prstGeom prst="rect">
            <a:avLst/>
          </a:prstGeom>
          <a:solidFill>
            <a:srgbClr val="27FFBA"/>
          </a:solidFill>
          <a:ln w="6350">
            <a:solidFill>
              <a:srgbClr val="FFFFFF"/>
            </a:solidFill>
            <a:prstDash val="solid"/>
          </a:ln>
        </p:spPr>
        <p:txBody>
          <a:bodyPr/>
          <a:lstStyle/>
          <a:p>
            <a:endParaRPr lang="fr-TN"/>
          </a:p>
        </p:txBody>
      </p:sp>
      <p:sp>
        <p:nvSpPr>
          <p:cNvPr id="112" name="Text 110"/>
          <p:cNvSpPr/>
          <p:nvPr/>
        </p:nvSpPr>
        <p:spPr>
          <a:xfrm>
            <a:off x="4005072" y="3182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113" name="Shape 111"/>
          <p:cNvSpPr/>
          <p:nvPr/>
        </p:nvSpPr>
        <p:spPr>
          <a:xfrm>
            <a:off x="4663440" y="3182112"/>
            <a:ext cx="658368" cy="457200"/>
          </a:xfrm>
          <a:prstGeom prst="rect">
            <a:avLst/>
          </a:prstGeom>
          <a:solidFill>
            <a:srgbClr val="CAC480"/>
          </a:solidFill>
          <a:ln w="6350">
            <a:solidFill>
              <a:srgbClr val="FFFFFF"/>
            </a:solidFill>
            <a:prstDash val="solid"/>
          </a:ln>
        </p:spPr>
        <p:txBody>
          <a:bodyPr/>
          <a:lstStyle/>
          <a:p>
            <a:endParaRPr lang="fr-TN"/>
          </a:p>
        </p:txBody>
      </p:sp>
      <p:sp>
        <p:nvSpPr>
          <p:cNvPr id="114" name="Text 112"/>
          <p:cNvSpPr/>
          <p:nvPr/>
        </p:nvSpPr>
        <p:spPr>
          <a:xfrm>
            <a:off x="4663440" y="31821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0.36</a:t>
            </a:r>
            <a:endParaRPr lang="en-US" sz="800" dirty="0"/>
          </a:p>
        </p:txBody>
      </p:sp>
      <p:sp>
        <p:nvSpPr>
          <p:cNvPr id="115" name="Shape 113"/>
          <p:cNvSpPr/>
          <p:nvPr/>
        </p:nvSpPr>
        <p:spPr>
          <a:xfrm>
            <a:off x="5321808" y="3182112"/>
            <a:ext cx="658368" cy="457200"/>
          </a:xfrm>
          <a:prstGeom prst="rect">
            <a:avLst/>
          </a:prstGeom>
          <a:solidFill>
            <a:srgbClr val="38FFB4"/>
          </a:solidFill>
          <a:ln w="6350">
            <a:solidFill>
              <a:srgbClr val="FFFFFF"/>
            </a:solidFill>
            <a:prstDash val="solid"/>
          </a:ln>
        </p:spPr>
        <p:txBody>
          <a:bodyPr/>
          <a:lstStyle/>
          <a:p>
            <a:endParaRPr lang="fr-TN"/>
          </a:p>
        </p:txBody>
      </p:sp>
      <p:sp>
        <p:nvSpPr>
          <p:cNvPr id="116" name="Text 114"/>
          <p:cNvSpPr/>
          <p:nvPr/>
        </p:nvSpPr>
        <p:spPr>
          <a:xfrm>
            <a:off x="5321808" y="3182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0.10</a:t>
            </a:r>
            <a:endParaRPr lang="en-US" sz="800" dirty="0"/>
          </a:p>
        </p:txBody>
      </p:sp>
      <p:sp>
        <p:nvSpPr>
          <p:cNvPr id="117" name="Shape 115"/>
          <p:cNvSpPr/>
          <p:nvPr/>
        </p:nvSpPr>
        <p:spPr>
          <a:xfrm>
            <a:off x="5980176" y="3182112"/>
            <a:ext cx="658368" cy="457200"/>
          </a:xfrm>
          <a:prstGeom prst="rect">
            <a:avLst/>
          </a:prstGeom>
          <a:solidFill>
            <a:srgbClr val="1CFFBE"/>
          </a:solidFill>
          <a:ln w="6350">
            <a:solidFill>
              <a:srgbClr val="FFFFFF"/>
            </a:solidFill>
            <a:prstDash val="solid"/>
          </a:ln>
        </p:spPr>
        <p:txBody>
          <a:bodyPr/>
          <a:lstStyle/>
          <a:p>
            <a:endParaRPr lang="fr-TN"/>
          </a:p>
        </p:txBody>
      </p:sp>
      <p:sp>
        <p:nvSpPr>
          <p:cNvPr id="118" name="Text 116"/>
          <p:cNvSpPr/>
          <p:nvPr/>
        </p:nvSpPr>
        <p:spPr>
          <a:xfrm>
            <a:off x="5980176" y="31821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0.05</a:t>
            </a:r>
            <a:endParaRPr lang="en-US" sz="800" dirty="0"/>
          </a:p>
        </p:txBody>
      </p:sp>
      <p:sp>
        <p:nvSpPr>
          <p:cNvPr id="119" name="Shape 117"/>
          <p:cNvSpPr/>
          <p:nvPr/>
        </p:nvSpPr>
        <p:spPr>
          <a:xfrm>
            <a:off x="1371600" y="3639312"/>
            <a:ext cx="658368" cy="457200"/>
          </a:xfrm>
          <a:prstGeom prst="rect">
            <a:avLst/>
          </a:prstGeom>
          <a:solidFill>
            <a:srgbClr val="22FFBC"/>
          </a:solidFill>
          <a:ln w="6350">
            <a:solidFill>
              <a:srgbClr val="FFFFFF"/>
            </a:solidFill>
            <a:prstDash val="solid"/>
          </a:ln>
        </p:spPr>
        <p:txBody>
          <a:bodyPr/>
          <a:lstStyle/>
          <a:p>
            <a:endParaRPr lang="fr-TN"/>
          </a:p>
        </p:txBody>
      </p:sp>
      <p:sp>
        <p:nvSpPr>
          <p:cNvPr id="120" name="Text 118"/>
          <p:cNvSpPr/>
          <p:nvPr/>
        </p:nvSpPr>
        <p:spPr>
          <a:xfrm>
            <a:off x="1371600" y="3639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121" name="Shape 119"/>
          <p:cNvSpPr/>
          <p:nvPr/>
        </p:nvSpPr>
        <p:spPr>
          <a:xfrm>
            <a:off x="2029968" y="3639312"/>
            <a:ext cx="658368" cy="457200"/>
          </a:xfrm>
          <a:prstGeom prst="rect">
            <a:avLst/>
          </a:prstGeom>
          <a:solidFill>
            <a:srgbClr val="2DFFB8"/>
          </a:solidFill>
          <a:ln w="6350">
            <a:solidFill>
              <a:srgbClr val="FFFFFF"/>
            </a:solidFill>
            <a:prstDash val="solid"/>
          </a:ln>
        </p:spPr>
        <p:txBody>
          <a:bodyPr/>
          <a:lstStyle/>
          <a:p>
            <a:endParaRPr lang="fr-TN"/>
          </a:p>
        </p:txBody>
      </p:sp>
      <p:sp>
        <p:nvSpPr>
          <p:cNvPr id="122" name="Text 120"/>
          <p:cNvSpPr/>
          <p:nvPr/>
        </p:nvSpPr>
        <p:spPr>
          <a:xfrm>
            <a:off x="2029968" y="3639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123" name="Shape 121"/>
          <p:cNvSpPr/>
          <p:nvPr/>
        </p:nvSpPr>
        <p:spPr>
          <a:xfrm>
            <a:off x="2688336" y="3639312"/>
            <a:ext cx="658368" cy="457200"/>
          </a:xfrm>
          <a:prstGeom prst="rect">
            <a:avLst/>
          </a:prstGeom>
          <a:solidFill>
            <a:srgbClr val="27FFBA"/>
          </a:solidFill>
          <a:ln w="6350">
            <a:solidFill>
              <a:srgbClr val="FFFFFF"/>
            </a:solidFill>
            <a:prstDash val="solid"/>
          </a:ln>
        </p:spPr>
        <p:txBody>
          <a:bodyPr/>
          <a:lstStyle/>
          <a:p>
            <a:endParaRPr lang="fr-TN"/>
          </a:p>
        </p:txBody>
      </p:sp>
      <p:sp>
        <p:nvSpPr>
          <p:cNvPr id="124" name="Text 122"/>
          <p:cNvSpPr/>
          <p:nvPr/>
        </p:nvSpPr>
        <p:spPr>
          <a:xfrm>
            <a:off x="2688336" y="3639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125" name="Shape 123"/>
          <p:cNvSpPr/>
          <p:nvPr/>
        </p:nvSpPr>
        <p:spPr>
          <a:xfrm>
            <a:off x="3346704" y="3639312"/>
            <a:ext cx="658368" cy="457200"/>
          </a:xfrm>
          <a:prstGeom prst="rect">
            <a:avLst/>
          </a:prstGeom>
          <a:solidFill>
            <a:srgbClr val="38FFB4"/>
          </a:solidFill>
          <a:ln w="6350">
            <a:solidFill>
              <a:srgbClr val="FFFFFF"/>
            </a:solidFill>
            <a:prstDash val="solid"/>
          </a:ln>
        </p:spPr>
        <p:txBody>
          <a:bodyPr/>
          <a:lstStyle/>
          <a:p>
            <a:endParaRPr lang="fr-TN"/>
          </a:p>
        </p:txBody>
      </p:sp>
      <p:sp>
        <p:nvSpPr>
          <p:cNvPr id="126" name="Text 124"/>
          <p:cNvSpPr/>
          <p:nvPr/>
        </p:nvSpPr>
        <p:spPr>
          <a:xfrm>
            <a:off x="3346704" y="3639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0.10</a:t>
            </a:r>
            <a:endParaRPr lang="en-US" sz="800" dirty="0"/>
          </a:p>
        </p:txBody>
      </p:sp>
      <p:sp>
        <p:nvSpPr>
          <p:cNvPr id="127" name="Shape 125"/>
          <p:cNvSpPr/>
          <p:nvPr/>
        </p:nvSpPr>
        <p:spPr>
          <a:xfrm>
            <a:off x="4005072" y="3639312"/>
            <a:ext cx="658368" cy="457200"/>
          </a:xfrm>
          <a:prstGeom prst="rect">
            <a:avLst/>
          </a:prstGeom>
          <a:solidFill>
            <a:srgbClr val="22FFBC"/>
          </a:solidFill>
          <a:ln w="6350">
            <a:solidFill>
              <a:srgbClr val="FFFFFF"/>
            </a:solidFill>
            <a:prstDash val="solid"/>
          </a:ln>
        </p:spPr>
        <p:txBody>
          <a:bodyPr/>
          <a:lstStyle/>
          <a:p>
            <a:endParaRPr lang="fr-TN"/>
          </a:p>
        </p:txBody>
      </p:sp>
      <p:sp>
        <p:nvSpPr>
          <p:cNvPr id="128" name="Text 126"/>
          <p:cNvSpPr/>
          <p:nvPr/>
        </p:nvSpPr>
        <p:spPr>
          <a:xfrm>
            <a:off x="4005072" y="3639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129" name="Shape 127"/>
          <p:cNvSpPr/>
          <p:nvPr/>
        </p:nvSpPr>
        <p:spPr>
          <a:xfrm>
            <a:off x="4663440" y="3639312"/>
            <a:ext cx="658368" cy="457200"/>
          </a:xfrm>
          <a:prstGeom prst="rect">
            <a:avLst/>
          </a:prstGeom>
          <a:solidFill>
            <a:srgbClr val="32FFB6"/>
          </a:solidFill>
          <a:ln w="6350">
            <a:solidFill>
              <a:srgbClr val="FFFFFF"/>
            </a:solidFill>
            <a:prstDash val="solid"/>
          </a:ln>
        </p:spPr>
        <p:txBody>
          <a:bodyPr/>
          <a:lstStyle/>
          <a:p>
            <a:endParaRPr lang="fr-TN"/>
          </a:p>
        </p:txBody>
      </p:sp>
      <p:sp>
        <p:nvSpPr>
          <p:cNvPr id="130" name="Text 128"/>
          <p:cNvSpPr/>
          <p:nvPr/>
        </p:nvSpPr>
        <p:spPr>
          <a:xfrm>
            <a:off x="4663440" y="3639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0.09</a:t>
            </a:r>
            <a:endParaRPr lang="en-US" sz="800" dirty="0"/>
          </a:p>
        </p:txBody>
      </p:sp>
      <p:sp>
        <p:nvSpPr>
          <p:cNvPr id="131" name="Shape 129"/>
          <p:cNvSpPr/>
          <p:nvPr/>
        </p:nvSpPr>
        <p:spPr>
          <a:xfrm>
            <a:off x="5321808" y="3639312"/>
            <a:ext cx="658368" cy="457200"/>
          </a:xfrm>
          <a:prstGeom prst="rect">
            <a:avLst/>
          </a:prstGeom>
          <a:solidFill>
            <a:srgbClr val="FF9F68"/>
          </a:solidFill>
          <a:ln w="6350">
            <a:solidFill>
              <a:srgbClr val="FFFFFF"/>
            </a:solidFill>
            <a:prstDash val="solid"/>
          </a:ln>
        </p:spPr>
        <p:txBody>
          <a:bodyPr/>
          <a:lstStyle/>
          <a:p>
            <a:endParaRPr lang="fr-TN"/>
          </a:p>
        </p:txBody>
      </p:sp>
      <p:sp>
        <p:nvSpPr>
          <p:cNvPr id="132" name="Text 130"/>
          <p:cNvSpPr/>
          <p:nvPr/>
        </p:nvSpPr>
        <p:spPr>
          <a:xfrm>
            <a:off x="5321808" y="36393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0.48</a:t>
            </a:r>
            <a:endParaRPr lang="en-US" sz="800" dirty="0"/>
          </a:p>
        </p:txBody>
      </p:sp>
      <p:sp>
        <p:nvSpPr>
          <p:cNvPr id="133" name="Shape 131"/>
          <p:cNvSpPr/>
          <p:nvPr/>
        </p:nvSpPr>
        <p:spPr>
          <a:xfrm>
            <a:off x="5980176" y="3639312"/>
            <a:ext cx="658368" cy="457200"/>
          </a:xfrm>
          <a:prstGeom prst="rect">
            <a:avLst/>
          </a:prstGeom>
          <a:solidFill>
            <a:srgbClr val="22FFBC"/>
          </a:solidFill>
          <a:ln w="6350">
            <a:solidFill>
              <a:srgbClr val="FFFFFF"/>
            </a:solidFill>
            <a:prstDash val="solid"/>
          </a:ln>
        </p:spPr>
        <p:txBody>
          <a:bodyPr/>
          <a:lstStyle/>
          <a:p>
            <a:endParaRPr lang="fr-TN"/>
          </a:p>
        </p:txBody>
      </p:sp>
      <p:sp>
        <p:nvSpPr>
          <p:cNvPr id="134" name="Text 132"/>
          <p:cNvSpPr/>
          <p:nvPr/>
        </p:nvSpPr>
        <p:spPr>
          <a:xfrm>
            <a:off x="5980176" y="36393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135" name="Shape 133"/>
          <p:cNvSpPr/>
          <p:nvPr/>
        </p:nvSpPr>
        <p:spPr>
          <a:xfrm>
            <a:off x="1371600" y="4096512"/>
            <a:ext cx="658368" cy="457200"/>
          </a:xfrm>
          <a:prstGeom prst="rect">
            <a:avLst/>
          </a:prstGeom>
          <a:solidFill>
            <a:srgbClr val="1CFFBE"/>
          </a:solidFill>
          <a:ln w="6350">
            <a:solidFill>
              <a:srgbClr val="FFFFFF"/>
            </a:solidFill>
            <a:prstDash val="solid"/>
          </a:ln>
        </p:spPr>
        <p:txBody>
          <a:bodyPr/>
          <a:lstStyle/>
          <a:p>
            <a:endParaRPr lang="fr-TN"/>
          </a:p>
        </p:txBody>
      </p:sp>
      <p:sp>
        <p:nvSpPr>
          <p:cNvPr id="136" name="Text 134"/>
          <p:cNvSpPr/>
          <p:nvPr/>
        </p:nvSpPr>
        <p:spPr>
          <a:xfrm>
            <a:off x="1371600" y="4096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0.05</a:t>
            </a:r>
            <a:endParaRPr lang="en-US" sz="800" dirty="0"/>
          </a:p>
        </p:txBody>
      </p:sp>
      <p:sp>
        <p:nvSpPr>
          <p:cNvPr id="137" name="Shape 135"/>
          <p:cNvSpPr/>
          <p:nvPr/>
        </p:nvSpPr>
        <p:spPr>
          <a:xfrm>
            <a:off x="2029968" y="4096512"/>
            <a:ext cx="658368" cy="457200"/>
          </a:xfrm>
          <a:prstGeom prst="rect">
            <a:avLst/>
          </a:prstGeom>
          <a:solidFill>
            <a:srgbClr val="27FFBA"/>
          </a:solidFill>
          <a:ln w="6350">
            <a:solidFill>
              <a:srgbClr val="FFFFFF"/>
            </a:solidFill>
            <a:prstDash val="solid"/>
          </a:ln>
        </p:spPr>
        <p:txBody>
          <a:bodyPr/>
          <a:lstStyle/>
          <a:p>
            <a:endParaRPr lang="fr-TN"/>
          </a:p>
        </p:txBody>
      </p:sp>
      <p:sp>
        <p:nvSpPr>
          <p:cNvPr id="138" name="Text 136"/>
          <p:cNvSpPr/>
          <p:nvPr/>
        </p:nvSpPr>
        <p:spPr>
          <a:xfrm>
            <a:off x="2029968" y="4096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0.07</a:t>
            </a:r>
            <a:endParaRPr lang="en-US" sz="800" dirty="0"/>
          </a:p>
        </p:txBody>
      </p:sp>
      <p:sp>
        <p:nvSpPr>
          <p:cNvPr id="139" name="Shape 137"/>
          <p:cNvSpPr/>
          <p:nvPr/>
        </p:nvSpPr>
        <p:spPr>
          <a:xfrm>
            <a:off x="2688336" y="4096512"/>
            <a:ext cx="658368" cy="457200"/>
          </a:xfrm>
          <a:prstGeom prst="rect">
            <a:avLst/>
          </a:prstGeom>
          <a:solidFill>
            <a:srgbClr val="2DFFB8"/>
          </a:solidFill>
          <a:ln w="6350">
            <a:solidFill>
              <a:srgbClr val="FFFFFF"/>
            </a:solidFill>
            <a:prstDash val="solid"/>
          </a:ln>
        </p:spPr>
        <p:txBody>
          <a:bodyPr/>
          <a:lstStyle/>
          <a:p>
            <a:endParaRPr lang="fr-TN"/>
          </a:p>
        </p:txBody>
      </p:sp>
      <p:sp>
        <p:nvSpPr>
          <p:cNvPr id="140" name="Text 138"/>
          <p:cNvSpPr/>
          <p:nvPr/>
        </p:nvSpPr>
        <p:spPr>
          <a:xfrm>
            <a:off x="2688336" y="4096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141" name="Shape 139"/>
          <p:cNvSpPr/>
          <p:nvPr/>
        </p:nvSpPr>
        <p:spPr>
          <a:xfrm>
            <a:off x="3346704" y="4096512"/>
            <a:ext cx="658368" cy="457200"/>
          </a:xfrm>
          <a:prstGeom prst="rect">
            <a:avLst/>
          </a:prstGeom>
          <a:solidFill>
            <a:srgbClr val="2DFFB8"/>
          </a:solidFill>
          <a:ln w="6350">
            <a:solidFill>
              <a:srgbClr val="FFFFFF"/>
            </a:solidFill>
            <a:prstDash val="solid"/>
          </a:ln>
        </p:spPr>
        <p:txBody>
          <a:bodyPr/>
          <a:lstStyle/>
          <a:p>
            <a:endParaRPr lang="fr-TN"/>
          </a:p>
        </p:txBody>
      </p:sp>
      <p:sp>
        <p:nvSpPr>
          <p:cNvPr id="142" name="Text 140"/>
          <p:cNvSpPr/>
          <p:nvPr/>
        </p:nvSpPr>
        <p:spPr>
          <a:xfrm>
            <a:off x="3346704" y="4096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0.08</a:t>
            </a:r>
            <a:endParaRPr lang="en-US" sz="800" dirty="0"/>
          </a:p>
        </p:txBody>
      </p:sp>
      <p:sp>
        <p:nvSpPr>
          <p:cNvPr id="143" name="Shape 141"/>
          <p:cNvSpPr/>
          <p:nvPr/>
        </p:nvSpPr>
        <p:spPr>
          <a:xfrm>
            <a:off x="4005072" y="4096512"/>
            <a:ext cx="658368" cy="457200"/>
          </a:xfrm>
          <a:prstGeom prst="rect">
            <a:avLst/>
          </a:prstGeom>
          <a:solidFill>
            <a:srgbClr val="22FFBC"/>
          </a:solidFill>
          <a:ln w="6350">
            <a:solidFill>
              <a:srgbClr val="FFFFFF"/>
            </a:solidFill>
            <a:prstDash val="solid"/>
          </a:ln>
        </p:spPr>
        <p:txBody>
          <a:bodyPr/>
          <a:lstStyle/>
          <a:p>
            <a:endParaRPr lang="fr-TN"/>
          </a:p>
        </p:txBody>
      </p:sp>
      <p:sp>
        <p:nvSpPr>
          <p:cNvPr id="144" name="Text 142"/>
          <p:cNvSpPr/>
          <p:nvPr/>
        </p:nvSpPr>
        <p:spPr>
          <a:xfrm>
            <a:off x="4005072" y="4096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145" name="Shape 143"/>
          <p:cNvSpPr/>
          <p:nvPr/>
        </p:nvSpPr>
        <p:spPr>
          <a:xfrm>
            <a:off x="4663440" y="4096512"/>
            <a:ext cx="658368" cy="457200"/>
          </a:xfrm>
          <a:prstGeom prst="rect">
            <a:avLst/>
          </a:prstGeom>
          <a:solidFill>
            <a:srgbClr val="22FFBC"/>
          </a:solidFill>
          <a:ln w="6350">
            <a:solidFill>
              <a:srgbClr val="FFFFFF"/>
            </a:solidFill>
            <a:prstDash val="solid"/>
          </a:ln>
        </p:spPr>
        <p:txBody>
          <a:bodyPr/>
          <a:lstStyle/>
          <a:p>
            <a:endParaRPr lang="fr-TN"/>
          </a:p>
        </p:txBody>
      </p:sp>
      <p:sp>
        <p:nvSpPr>
          <p:cNvPr id="146" name="Text 144"/>
          <p:cNvSpPr/>
          <p:nvPr/>
        </p:nvSpPr>
        <p:spPr>
          <a:xfrm>
            <a:off x="4663440" y="4096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147" name="Shape 145"/>
          <p:cNvSpPr/>
          <p:nvPr/>
        </p:nvSpPr>
        <p:spPr>
          <a:xfrm>
            <a:off x="5321808" y="4096512"/>
            <a:ext cx="658368" cy="457200"/>
          </a:xfrm>
          <a:prstGeom prst="rect">
            <a:avLst/>
          </a:prstGeom>
          <a:solidFill>
            <a:srgbClr val="22FFBC"/>
          </a:solidFill>
          <a:ln w="6350">
            <a:solidFill>
              <a:srgbClr val="FFFFFF"/>
            </a:solidFill>
            <a:prstDash val="solid"/>
          </a:ln>
        </p:spPr>
        <p:txBody>
          <a:bodyPr/>
          <a:lstStyle/>
          <a:p>
            <a:endParaRPr lang="fr-TN"/>
          </a:p>
        </p:txBody>
      </p:sp>
      <p:sp>
        <p:nvSpPr>
          <p:cNvPr id="148" name="Text 146"/>
          <p:cNvSpPr/>
          <p:nvPr/>
        </p:nvSpPr>
        <p:spPr>
          <a:xfrm>
            <a:off x="5321808" y="4096512"/>
            <a:ext cx="658368" cy="457200"/>
          </a:xfrm>
          <a:prstGeom prst="rect">
            <a:avLst/>
          </a:prstGeom>
          <a:noFill/>
          <a:ln/>
        </p:spPr>
        <p:txBody>
          <a:bodyPr wrap="square" lIns="0" tIns="0" rIns="0" bIns="0" rtlCol="0" anchor="ctr"/>
          <a:lstStyle/>
          <a:p>
            <a:pPr marL="0" indent="0" algn="ctr">
              <a:buNone/>
            </a:pPr>
            <a:r>
              <a:rPr lang="en-US" sz="800" dirty="0">
                <a:solidFill>
                  <a:srgbClr val="0D1B2A"/>
                </a:solidFill>
              </a:rPr>
              <a:t>0.06</a:t>
            </a:r>
            <a:endParaRPr lang="en-US" sz="800" dirty="0"/>
          </a:p>
        </p:txBody>
      </p:sp>
      <p:sp>
        <p:nvSpPr>
          <p:cNvPr id="149" name="Shape 147"/>
          <p:cNvSpPr/>
          <p:nvPr/>
        </p:nvSpPr>
        <p:spPr>
          <a:xfrm>
            <a:off x="5980176" y="4096512"/>
            <a:ext cx="658368" cy="457200"/>
          </a:xfrm>
          <a:prstGeom prst="rect">
            <a:avLst/>
          </a:prstGeom>
          <a:solidFill>
            <a:srgbClr val="FF8D5C"/>
          </a:solidFill>
          <a:ln w="6350">
            <a:solidFill>
              <a:srgbClr val="FFFFFF"/>
            </a:solidFill>
            <a:prstDash val="solid"/>
          </a:ln>
        </p:spPr>
        <p:txBody>
          <a:bodyPr/>
          <a:lstStyle/>
          <a:p>
            <a:endParaRPr lang="fr-TN"/>
          </a:p>
        </p:txBody>
      </p:sp>
      <p:sp>
        <p:nvSpPr>
          <p:cNvPr id="150" name="Text 148"/>
          <p:cNvSpPr/>
          <p:nvPr/>
        </p:nvSpPr>
        <p:spPr>
          <a:xfrm>
            <a:off x="5980176" y="4096512"/>
            <a:ext cx="658368" cy="457200"/>
          </a:xfrm>
          <a:prstGeom prst="rect">
            <a:avLst/>
          </a:prstGeom>
          <a:noFill/>
          <a:ln/>
        </p:spPr>
        <p:txBody>
          <a:bodyPr wrap="square" lIns="0" tIns="0" rIns="0" bIns="0" rtlCol="0" anchor="ctr"/>
          <a:lstStyle/>
          <a:p>
            <a:pPr marL="0" indent="0" algn="ctr">
              <a:buNone/>
            </a:pPr>
            <a:r>
              <a:rPr lang="en-US" sz="800" dirty="0">
                <a:solidFill>
                  <a:srgbClr val="FFFFFF"/>
                </a:solidFill>
              </a:rPr>
              <a:t>0.54</a:t>
            </a:r>
            <a:endParaRPr lang="en-US" sz="800" dirty="0"/>
          </a:p>
        </p:txBody>
      </p:sp>
      <p:sp>
        <p:nvSpPr>
          <p:cNvPr id="151" name="Text 149"/>
          <p:cNvSpPr/>
          <p:nvPr/>
        </p:nvSpPr>
        <p:spPr>
          <a:xfrm>
            <a:off x="6858000" y="1554480"/>
            <a:ext cx="2011680" cy="274320"/>
          </a:xfrm>
          <a:prstGeom prst="rect">
            <a:avLst/>
          </a:prstGeom>
          <a:noFill/>
          <a:ln/>
        </p:spPr>
        <p:txBody>
          <a:bodyPr wrap="square" rtlCol="0" anchor="ctr"/>
          <a:lstStyle/>
          <a:p>
            <a:pPr marL="0" indent="0">
              <a:buNone/>
            </a:pPr>
            <a:r>
              <a:rPr lang="en-US" sz="900" dirty="0">
                <a:solidFill>
                  <a:srgbClr val="64748B"/>
                </a:solidFill>
              </a:rPr>
              <a:t>← Low Attention</a:t>
            </a:r>
            <a:endParaRPr lang="en-US" sz="900" dirty="0"/>
          </a:p>
        </p:txBody>
      </p:sp>
      <p:sp>
        <p:nvSpPr>
          <p:cNvPr id="152" name="Text 150"/>
          <p:cNvSpPr/>
          <p:nvPr/>
        </p:nvSpPr>
        <p:spPr>
          <a:xfrm>
            <a:off x="6858000" y="3931920"/>
            <a:ext cx="2011680" cy="274320"/>
          </a:xfrm>
          <a:prstGeom prst="rect">
            <a:avLst/>
          </a:prstGeom>
          <a:noFill/>
          <a:ln/>
        </p:spPr>
        <p:txBody>
          <a:bodyPr wrap="square" rtlCol="0" anchor="ctr"/>
          <a:lstStyle/>
          <a:p>
            <a:pPr marL="0" indent="0">
              <a:buNone/>
            </a:pPr>
            <a:r>
              <a:rPr lang="en-US" sz="900" b="1" dirty="0">
                <a:solidFill>
                  <a:srgbClr val="0891B2"/>
                </a:solidFill>
              </a:rPr>
              <a:t>← High Attention</a:t>
            </a:r>
            <a:endParaRPr lang="en-US" sz="900" dirty="0"/>
          </a:p>
        </p:txBody>
      </p:sp>
      <p:sp>
        <p:nvSpPr>
          <p:cNvPr id="153" name="Shape 151"/>
          <p:cNvSpPr/>
          <p:nvPr/>
        </p:nvSpPr>
        <p:spPr>
          <a:xfrm>
            <a:off x="228600" y="4645152"/>
            <a:ext cx="8686800" cy="3657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TN"/>
          </a:p>
        </p:txBody>
      </p:sp>
      <p:sp>
        <p:nvSpPr>
          <p:cNvPr id="154" name="Text 152"/>
          <p:cNvSpPr/>
          <p:nvPr/>
        </p:nvSpPr>
        <p:spPr>
          <a:xfrm>
            <a:off x="320040" y="4663440"/>
            <a:ext cx="8503920" cy="347472"/>
          </a:xfrm>
          <a:prstGeom prst="rect">
            <a:avLst/>
          </a:prstGeom>
          <a:noFill/>
          <a:ln/>
        </p:spPr>
        <p:txBody>
          <a:bodyPr wrap="square" rtlCol="0" anchor="ctr"/>
          <a:lstStyle/>
          <a:p>
            <a:pPr marL="0" indent="0">
              <a:buNone/>
            </a:pPr>
            <a:r>
              <a:rPr lang="en-US" sz="900" dirty="0">
                <a:solidFill>
                  <a:srgbClr val="0D1B2A"/>
                </a:solidFill>
              </a:rPr>
              <a:t>Observation: Diagonal dominance shows each product attends most to itself; off-diagonal hotspots (ROSES↔HEART, LAMPS↔CANDLE) reveal gift-set co-purchase patterns — semantically meaningful relationships the model learned.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891B2"/>
          </a:solidFill>
          <a:ln/>
        </p:spPr>
        <p:txBody>
          <a:bodyPr/>
          <a:lstStyle/>
          <a:p>
            <a:endParaRPr lang="fr-TN"/>
          </a:p>
        </p:txBody>
      </p:sp>
      <p:sp>
        <p:nvSpPr>
          <p:cNvPr id="3" name="Text 1"/>
          <p:cNvSpPr/>
          <p:nvPr/>
        </p:nvSpPr>
        <p:spPr>
          <a:xfrm>
            <a:off x="640080" y="182880"/>
            <a:ext cx="8229600" cy="502920"/>
          </a:xfrm>
          <a:prstGeom prst="rect">
            <a:avLst/>
          </a:prstGeom>
          <a:noFill/>
          <a:ln/>
        </p:spPr>
        <p:txBody>
          <a:bodyPr wrap="square" rtlCol="0" anchor="ctr"/>
          <a:lstStyle/>
          <a:p>
            <a:pPr marL="0" indent="0">
              <a:buNone/>
            </a:pPr>
            <a:r>
              <a:rPr lang="en-US" sz="2200" b="1" dirty="0">
                <a:solidFill>
                  <a:srgbClr val="22D3EE"/>
                </a:solidFill>
                <a:latin typeface="Calibri" pitchFamily="34" charset="0"/>
                <a:ea typeface="Calibri" pitchFamily="34" charset="-122"/>
                <a:cs typeface="Calibri" pitchFamily="34" charset="-120"/>
              </a:rPr>
              <a:t>08 · Conclusion &amp; Recommendations</a:t>
            </a:r>
            <a:endParaRPr lang="en-US" sz="2200" dirty="0"/>
          </a:p>
        </p:txBody>
      </p:sp>
      <p:sp>
        <p:nvSpPr>
          <p:cNvPr id="4" name="Shape 2"/>
          <p:cNvSpPr/>
          <p:nvPr/>
        </p:nvSpPr>
        <p:spPr>
          <a:xfrm>
            <a:off x="640080" y="749808"/>
            <a:ext cx="8046720" cy="36576"/>
          </a:xfrm>
          <a:prstGeom prst="rect">
            <a:avLst/>
          </a:prstGeom>
          <a:solidFill>
            <a:srgbClr val="0891B2"/>
          </a:solidFill>
          <a:ln/>
        </p:spPr>
        <p:txBody>
          <a:bodyPr/>
          <a:lstStyle/>
          <a:p>
            <a:endParaRPr lang="fr-TN"/>
          </a:p>
        </p:txBody>
      </p:sp>
      <p:sp>
        <p:nvSpPr>
          <p:cNvPr id="5" name="Shape 3"/>
          <p:cNvSpPr/>
          <p:nvPr/>
        </p:nvSpPr>
        <p:spPr>
          <a:xfrm>
            <a:off x="594360" y="868680"/>
            <a:ext cx="7955280" cy="1051560"/>
          </a:xfrm>
          <a:prstGeom prst="rect">
            <a:avLst/>
          </a:prstGeom>
          <a:solidFill>
            <a:srgbClr val="0D2235"/>
          </a:solidFill>
          <a:ln/>
          <a:effectLst>
            <a:outerShdw blurRad="101600" dist="38100" dir="8100000" algn="bl" rotWithShape="0">
              <a:srgbClr val="000000">
                <a:alpha val="18000"/>
              </a:srgbClr>
            </a:outerShdw>
          </a:effectLst>
        </p:spPr>
        <p:txBody>
          <a:bodyPr/>
          <a:lstStyle/>
          <a:p>
            <a:endParaRPr lang="fr-TN"/>
          </a:p>
        </p:txBody>
      </p:sp>
      <p:sp>
        <p:nvSpPr>
          <p:cNvPr id="6" name="Text 4"/>
          <p:cNvSpPr/>
          <p:nvPr/>
        </p:nvSpPr>
        <p:spPr>
          <a:xfrm>
            <a:off x="777240" y="896112"/>
            <a:ext cx="7589520" cy="320040"/>
          </a:xfrm>
          <a:prstGeom prst="rect">
            <a:avLst/>
          </a:prstGeom>
          <a:noFill/>
          <a:ln/>
        </p:spPr>
        <p:txBody>
          <a:bodyPr wrap="square" rtlCol="0" anchor="ctr"/>
          <a:lstStyle/>
          <a:p>
            <a:pPr marL="0" indent="0">
              <a:buNone/>
            </a:pPr>
            <a:r>
              <a:rPr lang="en-US" sz="1200" b="1" dirty="0">
                <a:solidFill>
                  <a:srgbClr val="F59E0B"/>
                </a:solidFill>
              </a:rPr>
              <a:t>Recommendation for Sequential Customer Data:</a:t>
            </a:r>
            <a:endParaRPr lang="en-US" sz="1200" dirty="0"/>
          </a:p>
        </p:txBody>
      </p:sp>
      <p:sp>
        <p:nvSpPr>
          <p:cNvPr id="7" name="Text 5"/>
          <p:cNvSpPr/>
          <p:nvPr/>
        </p:nvSpPr>
        <p:spPr>
          <a:xfrm>
            <a:off x="777240" y="1216152"/>
            <a:ext cx="7589520" cy="621792"/>
          </a:xfrm>
          <a:prstGeom prst="rect">
            <a:avLst/>
          </a:prstGeom>
          <a:noFill/>
          <a:ln/>
        </p:spPr>
        <p:txBody>
          <a:bodyPr wrap="square" rtlCol="0" anchor="ctr"/>
          <a:lstStyle/>
          <a:p>
            <a:pPr marL="0" indent="0">
              <a:buNone/>
            </a:pPr>
            <a:r>
              <a:rPr lang="en-US" sz="1050" dirty="0">
                <a:solidFill>
                  <a:srgbClr val="FFFFFF"/>
                </a:solidFill>
              </a:rPr>
              <a:t>Transformer &gt; LSTM &gt; GRU &gt; RNN — for datasets with &gt;10,000 samples and sequences of 20+ items, the Transformer's global attention provides significantly richer representations and better accuracy.</a:t>
            </a:r>
            <a:endParaRPr lang="en-US" sz="1050" dirty="0"/>
          </a:p>
        </p:txBody>
      </p:sp>
      <p:sp>
        <p:nvSpPr>
          <p:cNvPr id="8" name="Shape 6"/>
          <p:cNvSpPr/>
          <p:nvPr/>
        </p:nvSpPr>
        <p:spPr>
          <a:xfrm>
            <a:off x="594360" y="2084832"/>
            <a:ext cx="2743200" cy="2816352"/>
          </a:xfrm>
          <a:prstGeom prst="rect">
            <a:avLst/>
          </a:prstGeom>
          <a:solidFill>
            <a:srgbClr val="0D2235"/>
          </a:solidFill>
          <a:ln/>
          <a:effectLst>
            <a:outerShdw blurRad="101600" dist="38100" dir="8100000" algn="bl" rotWithShape="0">
              <a:srgbClr val="000000">
                <a:alpha val="18000"/>
              </a:srgbClr>
            </a:outerShdw>
          </a:effectLst>
        </p:spPr>
        <p:txBody>
          <a:bodyPr/>
          <a:lstStyle/>
          <a:p>
            <a:endParaRPr lang="fr-TN"/>
          </a:p>
        </p:txBody>
      </p:sp>
      <p:sp>
        <p:nvSpPr>
          <p:cNvPr id="9" name="Shape 7"/>
          <p:cNvSpPr/>
          <p:nvPr/>
        </p:nvSpPr>
        <p:spPr>
          <a:xfrm>
            <a:off x="594360" y="2084832"/>
            <a:ext cx="2743200" cy="365760"/>
          </a:xfrm>
          <a:prstGeom prst="rect">
            <a:avLst/>
          </a:prstGeom>
          <a:solidFill>
            <a:srgbClr val="EF4444"/>
          </a:solidFill>
          <a:ln/>
        </p:spPr>
        <p:txBody>
          <a:bodyPr/>
          <a:lstStyle/>
          <a:p>
            <a:endParaRPr lang="fr-TN"/>
          </a:p>
        </p:txBody>
      </p:sp>
      <p:sp>
        <p:nvSpPr>
          <p:cNvPr id="10" name="Text 8"/>
          <p:cNvSpPr/>
          <p:nvPr/>
        </p:nvSpPr>
        <p:spPr>
          <a:xfrm>
            <a:off x="685800" y="2084832"/>
            <a:ext cx="2560320" cy="365760"/>
          </a:xfrm>
          <a:prstGeom prst="rect">
            <a:avLst/>
          </a:prstGeom>
          <a:noFill/>
          <a:ln/>
        </p:spPr>
        <p:txBody>
          <a:bodyPr wrap="square" lIns="0" tIns="0" rIns="0" bIns="0" rtlCol="0" anchor="ctr"/>
          <a:lstStyle/>
          <a:p>
            <a:pPr marL="0" indent="0">
              <a:buNone/>
            </a:pPr>
            <a:r>
              <a:rPr lang="en-US" sz="1100" b="1" dirty="0">
                <a:solidFill>
                  <a:srgbClr val="FFFFFF"/>
                </a:solidFill>
              </a:rPr>
              <a:t>Observed Limitations</a:t>
            </a:r>
            <a:endParaRPr lang="en-US" sz="1100" dirty="0"/>
          </a:p>
        </p:txBody>
      </p:sp>
      <p:sp>
        <p:nvSpPr>
          <p:cNvPr id="11" name="Text 9"/>
          <p:cNvSpPr/>
          <p:nvPr/>
        </p:nvSpPr>
        <p:spPr>
          <a:xfrm>
            <a:off x="685800" y="2514600"/>
            <a:ext cx="2560320" cy="2331720"/>
          </a:xfrm>
          <a:prstGeom prst="rect">
            <a:avLst/>
          </a:prstGeom>
          <a:noFill/>
          <a:ln/>
        </p:spPr>
        <p:txBody>
          <a:bodyPr wrap="square" rtlCol="0" anchor="ctr"/>
          <a:lstStyle/>
          <a:p>
            <a:pPr marL="342900" indent="-342900">
              <a:buSzPct val="100000"/>
              <a:buChar char="•"/>
            </a:pPr>
            <a:r>
              <a:rPr lang="en-US" sz="950" dirty="0">
                <a:solidFill>
                  <a:srgbClr val="FFFFFF"/>
                </a:solidFill>
              </a:rPr>
              <a:t>Needs large data — struggled with customers having &lt;5 transactions</a:t>
            </a:r>
            <a:endParaRPr lang="en-US" sz="950" dirty="0"/>
          </a:p>
          <a:p>
            <a:pPr marL="342900" indent="-342900">
              <a:buSzPct val="100000"/>
              <a:buChar char="•"/>
            </a:pPr>
            <a:r>
              <a:rPr lang="en-US" sz="950" dirty="0">
                <a:solidFill>
                  <a:srgbClr val="FFFFFF"/>
                </a:solidFill>
              </a:rPr>
              <a:t>O(n²) memory — batch size had to be reduced for long sequences</a:t>
            </a:r>
            <a:endParaRPr lang="en-US" sz="950" dirty="0"/>
          </a:p>
          <a:p>
            <a:pPr marL="342900" indent="-342900">
              <a:buSzPct val="100000"/>
              <a:buChar char="•"/>
            </a:pPr>
            <a:r>
              <a:rPr lang="en-US" sz="950" dirty="0">
                <a:solidFill>
                  <a:srgbClr val="FFFFFF"/>
                </a:solidFill>
              </a:rPr>
              <a:t>Risk of overfitting without sufficient regularization (dropout, weight decay)</a:t>
            </a:r>
            <a:endParaRPr lang="en-US" sz="950" dirty="0"/>
          </a:p>
          <a:p>
            <a:pPr marL="342900" indent="-342900">
              <a:buSzPct val="100000"/>
              <a:buChar char="•"/>
            </a:pPr>
            <a:r>
              <a:rPr lang="en-US" sz="950" dirty="0">
                <a:solidFill>
                  <a:srgbClr val="FFFFFF"/>
                </a:solidFill>
              </a:rPr>
              <a:t>Longer training time vs LSTM on small sequence subsets</a:t>
            </a:r>
            <a:endParaRPr lang="en-US" sz="950" dirty="0"/>
          </a:p>
        </p:txBody>
      </p:sp>
      <p:sp>
        <p:nvSpPr>
          <p:cNvPr id="12" name="Shape 10"/>
          <p:cNvSpPr/>
          <p:nvPr/>
        </p:nvSpPr>
        <p:spPr>
          <a:xfrm>
            <a:off x="3474720" y="2084832"/>
            <a:ext cx="2743200" cy="2816352"/>
          </a:xfrm>
          <a:prstGeom prst="rect">
            <a:avLst/>
          </a:prstGeom>
          <a:solidFill>
            <a:srgbClr val="0D2235"/>
          </a:solidFill>
          <a:ln/>
          <a:effectLst>
            <a:outerShdw blurRad="101600" dist="38100" dir="8100000" algn="bl" rotWithShape="0">
              <a:srgbClr val="000000">
                <a:alpha val="18000"/>
              </a:srgbClr>
            </a:outerShdw>
          </a:effectLst>
        </p:spPr>
        <p:txBody>
          <a:bodyPr/>
          <a:lstStyle/>
          <a:p>
            <a:endParaRPr lang="fr-TN"/>
          </a:p>
        </p:txBody>
      </p:sp>
      <p:sp>
        <p:nvSpPr>
          <p:cNvPr id="13" name="Shape 11"/>
          <p:cNvSpPr/>
          <p:nvPr/>
        </p:nvSpPr>
        <p:spPr>
          <a:xfrm>
            <a:off x="3474720" y="2084832"/>
            <a:ext cx="2743200" cy="365760"/>
          </a:xfrm>
          <a:prstGeom prst="rect">
            <a:avLst/>
          </a:prstGeom>
          <a:solidFill>
            <a:srgbClr val="0891B2"/>
          </a:solidFill>
          <a:ln/>
        </p:spPr>
        <p:txBody>
          <a:bodyPr/>
          <a:lstStyle/>
          <a:p>
            <a:endParaRPr lang="fr-TN"/>
          </a:p>
        </p:txBody>
      </p:sp>
      <p:sp>
        <p:nvSpPr>
          <p:cNvPr id="14" name="Text 12"/>
          <p:cNvSpPr/>
          <p:nvPr/>
        </p:nvSpPr>
        <p:spPr>
          <a:xfrm>
            <a:off x="3566160" y="2084832"/>
            <a:ext cx="2560320" cy="365760"/>
          </a:xfrm>
          <a:prstGeom prst="rect">
            <a:avLst/>
          </a:prstGeom>
          <a:noFill/>
          <a:ln/>
        </p:spPr>
        <p:txBody>
          <a:bodyPr wrap="square" lIns="0" tIns="0" rIns="0" bIns="0" rtlCol="0" anchor="ctr"/>
          <a:lstStyle/>
          <a:p>
            <a:pPr marL="0" indent="0">
              <a:buNone/>
            </a:pPr>
            <a:r>
              <a:rPr lang="en-US" sz="1100" b="1" dirty="0">
                <a:solidFill>
                  <a:srgbClr val="FFFFFF"/>
                </a:solidFill>
              </a:rPr>
              <a:t>Key Takeaways</a:t>
            </a:r>
            <a:endParaRPr lang="en-US" sz="1100" dirty="0"/>
          </a:p>
        </p:txBody>
      </p:sp>
      <p:sp>
        <p:nvSpPr>
          <p:cNvPr id="15" name="Text 13"/>
          <p:cNvSpPr/>
          <p:nvPr/>
        </p:nvSpPr>
        <p:spPr>
          <a:xfrm>
            <a:off x="3566160" y="2514600"/>
            <a:ext cx="2560320" cy="2331720"/>
          </a:xfrm>
          <a:prstGeom prst="rect">
            <a:avLst/>
          </a:prstGeom>
          <a:noFill/>
          <a:ln/>
        </p:spPr>
        <p:txBody>
          <a:bodyPr wrap="square" rtlCol="0" anchor="ctr"/>
          <a:lstStyle/>
          <a:p>
            <a:pPr marL="342900" indent="-342900">
              <a:buSzPct val="100000"/>
              <a:buChar char="•"/>
            </a:pPr>
            <a:r>
              <a:rPr lang="en-US" sz="950" dirty="0">
                <a:solidFill>
                  <a:srgbClr val="FFFFFF"/>
                </a:solidFill>
              </a:rPr>
              <a:t>Transformers dominate NLP, vision, biology, and now retail</a:t>
            </a:r>
            <a:endParaRPr lang="en-US" sz="950" dirty="0"/>
          </a:p>
          <a:p>
            <a:pPr marL="342900" indent="-342900">
              <a:buSzPct val="100000"/>
              <a:buChar char="•"/>
            </a:pPr>
            <a:r>
              <a:rPr lang="en-US" sz="950" dirty="0">
                <a:solidFill>
                  <a:srgbClr val="FFFFFF"/>
                </a:solidFill>
              </a:rPr>
              <a:t>Self-attention gives interpretable, visualizable weights</a:t>
            </a:r>
            <a:endParaRPr lang="en-US" sz="950" dirty="0"/>
          </a:p>
          <a:p>
            <a:pPr marL="342900" indent="-342900">
              <a:buSzPct val="100000"/>
              <a:buChar char="•"/>
            </a:pPr>
            <a:r>
              <a:rPr lang="en-US" sz="950" dirty="0">
                <a:solidFill>
                  <a:srgbClr val="FFFFFF"/>
                </a:solidFill>
              </a:rPr>
              <a:t>Parallelism drastically reduces wall-clock training time</a:t>
            </a:r>
            <a:endParaRPr lang="en-US" sz="950" dirty="0"/>
          </a:p>
          <a:p>
            <a:pPr marL="342900" indent="-342900">
              <a:buSzPct val="100000"/>
              <a:buChar char="•"/>
            </a:pPr>
            <a:r>
              <a:rPr lang="en-US" sz="950" dirty="0">
                <a:solidFill>
                  <a:srgbClr val="FFFFFF"/>
                </a:solidFill>
              </a:rPr>
              <a:t>Architecture generalizes: same model, different datasets/tasks</a:t>
            </a:r>
            <a:endParaRPr lang="en-US" sz="950" dirty="0"/>
          </a:p>
        </p:txBody>
      </p:sp>
      <p:sp>
        <p:nvSpPr>
          <p:cNvPr id="16" name="Shape 14"/>
          <p:cNvSpPr/>
          <p:nvPr/>
        </p:nvSpPr>
        <p:spPr>
          <a:xfrm>
            <a:off x="6355080" y="2084832"/>
            <a:ext cx="2743200" cy="2816352"/>
          </a:xfrm>
          <a:prstGeom prst="rect">
            <a:avLst/>
          </a:prstGeom>
          <a:solidFill>
            <a:srgbClr val="0D2235"/>
          </a:solidFill>
          <a:ln/>
          <a:effectLst>
            <a:outerShdw blurRad="101600" dist="38100" dir="8100000" algn="bl" rotWithShape="0">
              <a:srgbClr val="000000">
                <a:alpha val="18000"/>
              </a:srgbClr>
            </a:outerShdw>
          </a:effectLst>
        </p:spPr>
        <p:txBody>
          <a:bodyPr/>
          <a:lstStyle/>
          <a:p>
            <a:endParaRPr lang="fr-TN"/>
          </a:p>
        </p:txBody>
      </p:sp>
      <p:sp>
        <p:nvSpPr>
          <p:cNvPr id="17" name="Shape 15"/>
          <p:cNvSpPr/>
          <p:nvPr/>
        </p:nvSpPr>
        <p:spPr>
          <a:xfrm>
            <a:off x="6355080" y="2084832"/>
            <a:ext cx="2743200" cy="365760"/>
          </a:xfrm>
          <a:prstGeom prst="rect">
            <a:avLst/>
          </a:prstGeom>
          <a:solidFill>
            <a:srgbClr val="10B981"/>
          </a:solidFill>
          <a:ln/>
        </p:spPr>
        <p:txBody>
          <a:bodyPr/>
          <a:lstStyle/>
          <a:p>
            <a:endParaRPr lang="fr-TN"/>
          </a:p>
        </p:txBody>
      </p:sp>
      <p:sp>
        <p:nvSpPr>
          <p:cNvPr id="18" name="Text 16"/>
          <p:cNvSpPr/>
          <p:nvPr/>
        </p:nvSpPr>
        <p:spPr>
          <a:xfrm>
            <a:off x="6446520" y="2084832"/>
            <a:ext cx="2560320" cy="365760"/>
          </a:xfrm>
          <a:prstGeom prst="rect">
            <a:avLst/>
          </a:prstGeom>
          <a:noFill/>
          <a:ln/>
        </p:spPr>
        <p:txBody>
          <a:bodyPr wrap="square" lIns="0" tIns="0" rIns="0" bIns="0" rtlCol="0" anchor="ctr"/>
          <a:lstStyle/>
          <a:p>
            <a:pPr marL="0" indent="0">
              <a:buNone/>
            </a:pPr>
            <a:r>
              <a:rPr lang="en-US" sz="1100" b="1" dirty="0">
                <a:solidFill>
                  <a:srgbClr val="FFFFFF"/>
                </a:solidFill>
              </a:rPr>
              <a:t>Future Improvements</a:t>
            </a:r>
            <a:endParaRPr lang="en-US" sz="1100" dirty="0"/>
          </a:p>
        </p:txBody>
      </p:sp>
      <p:sp>
        <p:nvSpPr>
          <p:cNvPr id="19" name="Text 17"/>
          <p:cNvSpPr/>
          <p:nvPr/>
        </p:nvSpPr>
        <p:spPr>
          <a:xfrm>
            <a:off x="6446520" y="2514600"/>
            <a:ext cx="2560320" cy="2331720"/>
          </a:xfrm>
          <a:prstGeom prst="rect">
            <a:avLst/>
          </a:prstGeom>
          <a:noFill/>
          <a:ln/>
        </p:spPr>
        <p:txBody>
          <a:bodyPr wrap="square" rtlCol="0" anchor="ctr"/>
          <a:lstStyle/>
          <a:p>
            <a:pPr marL="342900" indent="-342900">
              <a:buSzPct val="100000"/>
              <a:buChar char="•"/>
            </a:pPr>
            <a:r>
              <a:rPr lang="en-US" sz="950" dirty="0">
                <a:solidFill>
                  <a:srgbClr val="FFFFFF"/>
                </a:solidFill>
              </a:rPr>
              <a:t>Fine-tune pretrained BERT or sentence-transformers on descriptions</a:t>
            </a:r>
            <a:endParaRPr lang="en-US" sz="950" dirty="0"/>
          </a:p>
          <a:p>
            <a:pPr marL="342900" indent="-342900">
              <a:buSzPct val="100000"/>
              <a:buChar char="•"/>
            </a:pPr>
            <a:r>
              <a:rPr lang="en-US" sz="950" dirty="0">
                <a:solidFill>
                  <a:srgbClr val="FFFFFF"/>
                </a:solidFill>
              </a:rPr>
              <a:t>Hybrid CNN-Transformer: CNN for local patterns + Transformer for global</a:t>
            </a:r>
            <a:endParaRPr lang="en-US" sz="950" dirty="0"/>
          </a:p>
          <a:p>
            <a:pPr marL="342900" indent="-342900">
              <a:buSzPct val="100000"/>
              <a:buChar char="•"/>
            </a:pPr>
            <a:r>
              <a:rPr lang="en-US" sz="950" dirty="0">
                <a:solidFill>
                  <a:srgbClr val="FFFFFF"/>
                </a:solidFill>
              </a:rPr>
              <a:t>Sparse attention to reduce O(n²) memory on very long sequences</a:t>
            </a:r>
            <a:endParaRPr lang="en-US" sz="950" dirty="0"/>
          </a:p>
          <a:p>
            <a:pPr marL="342900" indent="-342900">
              <a:buSzPct val="100000"/>
              <a:buChar char="•"/>
            </a:pPr>
            <a:r>
              <a:rPr lang="en-US" sz="950" dirty="0">
                <a:solidFill>
                  <a:srgbClr val="FFFFFF"/>
                </a:solidFill>
              </a:rPr>
              <a:t>Add customer demographics as additional cross-attention features</a:t>
            </a:r>
            <a:endParaRPr lang="en-US" sz="950" dirty="0"/>
          </a:p>
        </p:txBody>
      </p:sp>
      <p:sp>
        <p:nvSpPr>
          <p:cNvPr id="20" name="Text 18"/>
          <p:cNvSpPr/>
          <p:nvPr/>
        </p:nvSpPr>
        <p:spPr>
          <a:xfrm>
            <a:off x="640080" y="4846320"/>
            <a:ext cx="8229600" cy="256032"/>
          </a:xfrm>
          <a:prstGeom prst="rect">
            <a:avLst/>
          </a:prstGeom>
          <a:noFill/>
          <a:ln/>
        </p:spPr>
        <p:txBody>
          <a:bodyPr wrap="square" rtlCol="0" anchor="ctr"/>
          <a:lstStyle/>
          <a:p>
            <a:pPr marL="0" indent="0" algn="ctr">
              <a:buNone/>
            </a:pPr>
            <a:r>
              <a:rPr lang="en-US" sz="1200" i="1" dirty="0">
                <a:solidFill>
                  <a:srgbClr val="22D3EE"/>
                </a:solidFill>
              </a:rPr>
              <a:t>Thank you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2192</Words>
  <Application>Microsoft Office PowerPoint</Application>
  <PresentationFormat>Affichage à l'écran (16:9)</PresentationFormat>
  <Paragraphs>417</Paragraphs>
  <Slides>16</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 – From RNN to Attention</dc:title>
  <dc:subject>PptxGenJS Presentation</dc:subject>
  <dc:creator>PptxGenJS</dc:creator>
  <cp:lastModifiedBy>dridimohamed</cp:lastModifiedBy>
  <cp:revision>4</cp:revision>
  <dcterms:created xsi:type="dcterms:W3CDTF">2026-03-19T02:29:54Z</dcterms:created>
  <dcterms:modified xsi:type="dcterms:W3CDTF">2026-03-19T03:16:27Z</dcterms:modified>
</cp:coreProperties>
</file>